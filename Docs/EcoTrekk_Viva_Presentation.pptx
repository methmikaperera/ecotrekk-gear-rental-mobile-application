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0" r:id="rId17"/>
    <p:sldId id="271" r:id="rId18"/>
    <p:sldId id="272" r:id="rId19"/>
    <p:sldId id="273"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2846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Introduce yourself and the project. EcoTrekk is a camping gear rental platform with three parts: the Android app (the focus of this unit), a Spring Boot REST backend, and a React admin dashboard. About 25 minutes: problem, architecture, app walkthrough by feature, backend and admin, testing, next steps.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Camping gear is expensive and bulky, so many people would rather rent. But rental shops mostly work by phone, paper inventory and cash. That causes double-bookings, wrong stock counts and poor communication. EcoTrekk replaces this with one digital flow: find a hub, reserve by dates, pay, collect.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Two clients talk to one Spring Boot REST API over HTTPS and JSON. The API persists to MySQL. Four external services are used: Firebase for authentication and push messages, Stripe for card payments, Google Maps for the hub map, and Cloudinary for gear images. Real-time updates reach the admin dashboard through a STOMP WebSocket.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Walk through five key screens quickly. Home shows categories, featured gear and wishlist. Hubs shows the Google Map with markers and a nearby-hubs bottom sheet. Gears has search, category and price filters, shake to refresh and double-tap to save to the wishlist. Cart has the date range and quantity steppers. Checkout picks the collection hub, billing details and payment method.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This is the end-to-end customer journey and it touches most of the Android topics: Firebase sign-in, Google Maps, RecyclerView catalog with filters and a double-tap gesture, date-range picker and cart in Room, biometric confirmation plus Stripe, and push notifications with order history.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13 activities, 5 fragments hosted in HomeActivity and switched with a bottom navigation bar, and 9 RecyclerViews with their own adapters. Material 3 theme with light and dark resources. Layouts are mostly Constraint, Linear, Frame and Coordinator. Fragment-to-fragment communication uses the Fragment Result API when a category is tapped on Home.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Two storage mechanisms. SharedPreferences holds small private values: the session, the theme mode and the FCM token. Room holds structured data: cart items, favourites and users. A periodic WorkManager job runs every six hours when the network is connected and refreshes the cart and wishlist from the server into Room. When the connection comes back, the connectivity receiver also triggers a one-time sync straight away. The cart screen observes LiveData, and falls back to the Room copy when the server is unreachable. Sync is server to local; offline changes are not queued yet.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All data goes through Retrofit with the Gson converter: 23 endpoints covering create, read and delete on the cart and wishlist, order history, profile update and payment. Calls use enqueue so they never block the UI thread. Firebase Authentication handles sign-in; sign-up goes through the backend which returns a custom token. FCM delivers push messages. Stripe PaymentSheet handles the card so card data never touches the app or my server.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The Hubs tab embeds a Google Map fragment with a marker per hub, a custom map style, my-location layer and animated camera. A bottom sheet lists nearby hubs with distances worked out from the last known location. The hub detail screen has a map preview, Get Directions through an implicit intent, Call Hub with the call permission and a dialer fallback, and a share chooser.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Shake to refresh: the accelerometer gives x, y and z. I take the magnitude, track the change, apply a low-cut filter, and when the value passes 12 with a two-second debounce I reload the catalog. The listener is registered in onResume and released in onPause. Biometric: BiometricPrompt appears before any order is placed. Permissions: location, notifications on Android 13 and above, and call phone, each requested at runtime and handled when denied.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On the Personal Information screen the pencil button opens a small chooser: take a photo or pick one from the gallery. Taking a photo uses ActivityResultContracts.TakePicture, which opens the phone's own camera app. The app gives it a content URI from a FileProvider that points to a file in the app's private cache folder, so no CAMERA permission is needed and no storage permission either. The captured photo then goes through the same uCrop step as gallery photos, one to one, limited to 1024 pixels so the upload stays small, and is uploaded as multipart to the backend. The server accepts up to 5 MB, but the phone sends a few hundred kilobytes. The capture file is deleted after cropping, and its path is saved so it survives the activity being restarted while the camera app is open. This covers taking pictures; I did not implement video or an in-app camera preview.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Two recent additions. First, a BroadcastReceiver listens for connectivity changes. It is registered once in the Application class, and activity lifecycle callbacks add a small pill to whichever screen is open, so no activity needed changes. It shows No internet connection while offline and Back online for a moment when the connection returns, and then triggers a one-time sync. CONNECTIVITY_ACTION is deprecated since Android 9 but is still delivered to receivers registered in code; the modern alternative is NetworkCallback. Second, a GestureDetector on each gear card: a single tap opens the details after a short delay, a double tap adds the gear to the wishlist. It is add-only, shows a heart badge with a pop animation, and is blocked when offline because the app has no offline write queue yet.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When an admin approves an order, the backend sends a push through Firebase Admin. FCM delivers it to the app's messaging service, which builds a NotificationCompat notification on a high-importance channel with a PendingIntent. Tapping it opens Splash, which forwards a target-screen extra to Home, which opens Order History. For multitasking, Retrofit enqueue runs network calls off the main thread, an ExecutorService handles Room reads with runOnUiThread, and WorkManager runs the periodic sync.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The backend is Spring Boot 4 on Java 17 with 18 JPA entities and 18 controllers. Firebase Admin verifies the ID token at login. The domain covers gear, categories and hub inventory, plus cart, wishlist and invoices with payment status. Services are transactional. A STOMP WebSocket publishes events on /topic so the admin dashboard updates without a refresh. Cloudinary handles signed image uploads.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Operators manage the business from a React and TypeScript dashboard built with MUI and Vite. It has users, admins, rental hubs, inventory, orders, profile and a reports page with charts: orders trend, revenue trend, orders by hub and top rented gear. It also receives live updates over the WebSocket.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Inventory lifecycle was tested end to end: an order with enough stock reduces stock, an order with too little stock returns an error and leaves stock unchanged, and rejected or returned orders restore stock. Shake-to-refresh and biometric checkout were tested on a physical phone. For real-time updates I completed a checkout on the phone while watching the dashboard and the stock row changed in about one to two seconds.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Be upfront. The app syncs server to local only, so an offline write queue is the first improvement; for now the wishlist double-tap is blocked while offline instead of being queued. I would also add in-app route polylines with the Directions API, spending charts, an in-app CameraX preview with video (today the camera uses the system camera app and takes pictures only) and long-press or swipe gestures in the cart. The report's roadmap covers predictive inventory with AI, multi-tenant hubs and a cross-platform client. Attaching the Firebase ID token with an OkHttp interceptor and automated tests are the main hardening items.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Close by thanking the examiner and offering to demo. Have the app on a physical phone with the backend and ngrok tunnel running. Suggested demo extras: toggle airplane mode to show the offline banner, and double-tap a gear to save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4415"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chemeClr val="accent6"/>
                </a:solidFill>
              </a:rPr>
              <a:t>EcoTrekk  |  Handheld Device Programming II  |  Project Viva</a:t>
            </a:r>
            <a:endParaRPr lang="en-US" sz="1000" dirty="0"/>
          </a:p>
        </p:txBody>
      </p:sp>
      <p:sp>
        <p:nvSpPr>
          <p:cNvPr id="25" name="Slide Number Placeholder 0"/>
          <p:cNvSpPr>
            <a:spLocks noGrp="1"/>
          </p:cNvSpPr>
          <p:nvPr>
            <p:ph type="sldNum" sz="quarter" idx="4294967295"/>
          </p:nvPr>
        </p:nvSpPr>
        <p:spPr>
          <a:xfrm>
            <a:off x="10911535" y="6419088"/>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EcoTrekk logo"/>
          <p:cNvPicPr>
            <a:picLocks noChangeAspect="1"/>
          </p:cNvPicPr>
          <p:nvPr/>
        </p:nvPicPr>
        <p:blipFill>
          <a:blip r:embed="rId3"/>
          <a:stretch>
            <a:fillRect/>
          </a:stretch>
        </p:blipFill>
        <p:spPr>
          <a:xfrm>
            <a:off x="731520" y="1143000"/>
            <a:ext cx="4937760" cy="1057504"/>
          </a:xfrm>
          <a:prstGeom prst="rect">
            <a:avLst/>
          </a:prstGeom>
        </p:spPr>
      </p:pic>
      <p:sp>
        <p:nvSpPr>
          <p:cNvPr id="3" name="Text 0"/>
          <p:cNvSpPr txBox="1"/>
          <p:nvPr/>
        </p:nvSpPr>
        <p:spPr>
          <a:xfrm>
            <a:off x="731520" y="2606040"/>
            <a:ext cx="6309360" cy="137160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Camping Gear Rental Mobile Application</a:t>
            </a:r>
            <a:endParaRPr lang="en-US" sz="3800" dirty="0"/>
          </a:p>
        </p:txBody>
      </p:sp>
      <p:sp>
        <p:nvSpPr>
          <p:cNvPr id="4" name="Text 1"/>
          <p:cNvSpPr txBox="1"/>
          <p:nvPr/>
        </p:nvSpPr>
        <p:spPr>
          <a:xfrm>
            <a:off x="731520" y="3886200"/>
            <a:ext cx="6035040" cy="731520"/>
          </a:xfrm>
          <a:prstGeom prst="rect">
            <a:avLst/>
          </a:prstGeom>
          <a:noFill/>
          <a:ln/>
        </p:spPr>
        <p:txBody>
          <a:bodyPr wrap="square" lIns="0" tIns="0" rIns="0" bIns="0" rtlCol="0" anchor="t"/>
          <a:lstStyle/>
          <a:p>
            <a:pPr marL="0" indent="0">
              <a:buNone/>
            </a:pPr>
            <a:r>
              <a:rPr lang="en-US" sz="1800" dirty="0">
                <a:solidFill>
                  <a:schemeClr val="accent3"/>
                </a:solidFill>
              </a:rPr>
              <a:t>An M-commerce platform</a:t>
            </a:r>
          </a:p>
          <a:p>
            <a:pPr marL="0" indent="0">
              <a:buNone/>
            </a:pPr>
            <a:r>
              <a:rPr lang="en-US" sz="1800" dirty="0">
                <a:solidFill>
                  <a:schemeClr val="accent3"/>
                </a:solidFill>
              </a:rPr>
              <a:t>(Android app, Spring Boot API and React admin dashboard)</a:t>
            </a:r>
            <a:endParaRPr lang="en-US" sz="1800" dirty="0"/>
          </a:p>
        </p:txBody>
      </p:sp>
      <p:sp>
        <p:nvSpPr>
          <p:cNvPr id="5" name="Text 2"/>
          <p:cNvSpPr txBox="1"/>
          <p:nvPr/>
        </p:nvSpPr>
        <p:spPr>
          <a:xfrm>
            <a:off x="731520" y="5029200"/>
            <a:ext cx="6309360" cy="1005840"/>
          </a:xfrm>
          <a:prstGeom prst="rect">
            <a:avLst/>
          </a:prstGeom>
          <a:noFill/>
          <a:ln/>
        </p:spPr>
        <p:txBody>
          <a:bodyPr wrap="square" lIns="0" tIns="0" rIns="0" bIns="0" rtlCol="0" anchor="t"/>
          <a:lstStyle/>
          <a:p>
            <a:pPr marL="0" indent="0">
              <a:spcAft>
                <a:spcPts val="400"/>
              </a:spcAft>
              <a:buNone/>
            </a:pPr>
            <a:r>
              <a:rPr lang="en-US" sz="1600" b="1" dirty="0">
                <a:solidFill>
                  <a:schemeClr val="bg1"/>
                </a:solidFill>
              </a:rPr>
              <a:t>Methmika Perera  |  200421803135</a:t>
            </a:r>
            <a:endParaRPr lang="en-US" sz="1600" dirty="0"/>
          </a:p>
          <a:p>
            <a:pPr marL="0" indent="0">
              <a:spcAft>
                <a:spcPts val="400"/>
              </a:spcAft>
              <a:buNone/>
            </a:pPr>
            <a:r>
              <a:rPr lang="en-US" sz="1400" dirty="0">
                <a:solidFill>
                  <a:schemeClr val="bg1"/>
                </a:solidFill>
              </a:rPr>
              <a:t>Handheld Device Programming II</a:t>
            </a:r>
            <a:endParaRPr lang="en-US" sz="1600" dirty="0"/>
          </a:p>
          <a:p>
            <a:pPr marL="0" indent="0">
              <a:spcAft>
                <a:spcPts val="400"/>
              </a:spcAft>
              <a:buNone/>
            </a:pPr>
            <a:r>
              <a:rPr lang="en-US" sz="1400" dirty="0">
                <a:solidFill>
                  <a:schemeClr val="bg1"/>
                </a:solidFill>
              </a:rPr>
              <a:t>BSc (Hons) in Software Engineering</a:t>
            </a:r>
            <a:endParaRPr lang="en-US" sz="1600" dirty="0"/>
          </a:p>
        </p:txBody>
      </p:sp>
      <p:pic>
        <p:nvPicPr>
          <p:cNvPr id="7" name="Phone hubs" descr="Hubs map screen of the EcoTrekk app"/>
          <p:cNvPicPr>
            <a:picLocks noChangeAspect="1"/>
          </p:cNvPicPr>
          <p:nvPr/>
        </p:nvPicPr>
        <p:blipFill>
          <a:blip r:embed="rId4"/>
          <a:stretch>
            <a:fillRect/>
          </a:stretch>
        </p:blipFill>
        <p:spPr>
          <a:xfrm>
            <a:off x="9646920" y="1463040"/>
            <a:ext cx="2237420" cy="4846320"/>
          </a:xfrm>
          <a:prstGeom prst="rect">
            <a:avLst/>
          </a:prstGeom>
        </p:spPr>
      </p:pic>
      <p:pic>
        <p:nvPicPr>
          <p:cNvPr id="6" name="Phone home" descr="Home screen of the EcoTrekk app"/>
          <p:cNvPicPr>
            <a:picLocks noChangeAspect="1"/>
          </p:cNvPicPr>
          <p:nvPr/>
        </p:nvPicPr>
        <p:blipFill>
          <a:blip r:embed="rId5"/>
          <a:stretch>
            <a:fillRect/>
          </a:stretch>
        </p:blipFill>
        <p:spPr>
          <a:xfrm>
            <a:off x="7589520" y="777240"/>
            <a:ext cx="2237420" cy="4846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6862" y="376781"/>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Problem &amp; Solution</a:t>
            </a:r>
            <a:endParaRPr lang="en-US" sz="3400" dirty="0"/>
          </a:p>
        </p:txBody>
      </p:sp>
      <p:sp>
        <p:nvSpPr>
          <p:cNvPr id="4" name="Text 1"/>
          <p:cNvSpPr txBox="1"/>
          <p:nvPr/>
        </p:nvSpPr>
        <p:spPr>
          <a:xfrm>
            <a:off x="548640" y="1417320"/>
            <a:ext cx="5120640" cy="274320"/>
          </a:xfrm>
          <a:prstGeom prst="rect">
            <a:avLst/>
          </a:prstGeom>
          <a:noFill/>
          <a:ln/>
        </p:spPr>
        <p:txBody>
          <a:bodyPr wrap="square" lIns="0" tIns="0" rIns="0" bIns="0" rtlCol="0" anchor="t"/>
          <a:lstStyle/>
          <a:p>
            <a:pPr marL="0" indent="0">
              <a:buNone/>
            </a:pPr>
            <a:r>
              <a:rPr lang="en-US" sz="1400" b="1" kern="0" spc="300" dirty="0">
                <a:solidFill>
                  <a:schemeClr val="accent6"/>
                </a:solidFill>
              </a:rPr>
              <a:t>THE PROBLEM</a:t>
            </a:r>
            <a:endParaRPr lang="en-US" sz="1400" dirty="0"/>
          </a:p>
        </p:txBody>
      </p:sp>
      <p:sp>
        <p:nvSpPr>
          <p:cNvPr id="5" name="Problem icon 1 circle"/>
          <p:cNvSpPr/>
          <p:nvPr/>
        </p:nvSpPr>
        <p:spPr>
          <a:xfrm>
            <a:off x="548640" y="1828800"/>
            <a:ext cx="640080" cy="640080"/>
          </a:xfrm>
          <a:prstGeom prst="ellipse">
            <a:avLst/>
          </a:prstGeom>
          <a:solidFill>
            <a:srgbClr val="E3A33B"/>
          </a:solidFill>
          <a:ln/>
        </p:spPr>
        <p:txBody>
          <a:bodyPr/>
          <a:lstStyle/>
          <a:p>
            <a:endParaRPr lang="en-CA"/>
          </a:p>
        </p:txBody>
      </p:sp>
      <p:pic>
        <p:nvPicPr>
          <p:cNvPr id="6" name="Problem icon 1" descr="Problem icon 1"/>
          <p:cNvPicPr>
            <a:picLocks noChangeAspect="1"/>
          </p:cNvPicPr>
          <p:nvPr/>
        </p:nvPicPr>
        <p:blipFill>
          <a:blip r:embed="rId3"/>
          <a:stretch>
            <a:fillRect/>
          </a:stretch>
        </p:blipFill>
        <p:spPr>
          <a:xfrm>
            <a:off x="708660" y="1988820"/>
            <a:ext cx="320040" cy="320040"/>
          </a:xfrm>
          <a:prstGeom prst="rect">
            <a:avLst/>
          </a:prstGeom>
        </p:spPr>
      </p:pic>
      <p:sp>
        <p:nvSpPr>
          <p:cNvPr id="7" name="Text 3"/>
          <p:cNvSpPr txBox="1"/>
          <p:nvPr/>
        </p:nvSpPr>
        <p:spPr>
          <a:xfrm>
            <a:off x="1417320" y="1828800"/>
            <a:ext cx="4297680" cy="640080"/>
          </a:xfrm>
          <a:prstGeom prst="rect">
            <a:avLst/>
          </a:prstGeom>
          <a:noFill/>
          <a:ln/>
        </p:spPr>
        <p:txBody>
          <a:bodyPr wrap="square" lIns="0" tIns="0" rIns="0" bIns="0" rtlCol="0" anchor="ctr"/>
          <a:lstStyle/>
          <a:p>
            <a:pPr marL="0" indent="0">
              <a:buNone/>
            </a:pPr>
            <a:r>
              <a:rPr lang="en-US" sz="1800" dirty="0">
                <a:solidFill>
                  <a:schemeClr val="tx1"/>
                </a:solidFill>
              </a:rPr>
              <a:t>Quality gear is costly to buy and hard to store</a:t>
            </a:r>
            <a:endParaRPr lang="en-US" sz="1800" dirty="0"/>
          </a:p>
        </p:txBody>
      </p:sp>
      <p:sp>
        <p:nvSpPr>
          <p:cNvPr id="8" name="Problem icon 2 circle"/>
          <p:cNvSpPr/>
          <p:nvPr/>
        </p:nvSpPr>
        <p:spPr>
          <a:xfrm>
            <a:off x="548640" y="2852928"/>
            <a:ext cx="640080" cy="640080"/>
          </a:xfrm>
          <a:prstGeom prst="ellipse">
            <a:avLst/>
          </a:prstGeom>
          <a:solidFill>
            <a:srgbClr val="E3A33B"/>
          </a:solidFill>
          <a:ln/>
        </p:spPr>
        <p:txBody>
          <a:bodyPr/>
          <a:lstStyle/>
          <a:p>
            <a:endParaRPr lang="en-CA"/>
          </a:p>
        </p:txBody>
      </p:sp>
      <p:pic>
        <p:nvPicPr>
          <p:cNvPr id="9" name="Problem icon 2" descr="Problem icon 2"/>
          <p:cNvPicPr>
            <a:picLocks noChangeAspect="1"/>
          </p:cNvPicPr>
          <p:nvPr/>
        </p:nvPicPr>
        <p:blipFill>
          <a:blip r:embed="rId4"/>
          <a:stretch>
            <a:fillRect/>
          </a:stretch>
        </p:blipFill>
        <p:spPr>
          <a:xfrm>
            <a:off x="708660" y="3012948"/>
            <a:ext cx="320040" cy="320040"/>
          </a:xfrm>
          <a:prstGeom prst="rect">
            <a:avLst/>
          </a:prstGeom>
        </p:spPr>
      </p:pic>
      <p:sp>
        <p:nvSpPr>
          <p:cNvPr id="10" name="Text 5"/>
          <p:cNvSpPr txBox="1"/>
          <p:nvPr/>
        </p:nvSpPr>
        <p:spPr>
          <a:xfrm>
            <a:off x="1417320" y="2852928"/>
            <a:ext cx="4297680" cy="640080"/>
          </a:xfrm>
          <a:prstGeom prst="rect">
            <a:avLst/>
          </a:prstGeom>
          <a:noFill/>
          <a:ln/>
        </p:spPr>
        <p:txBody>
          <a:bodyPr wrap="square" lIns="0" tIns="0" rIns="0" bIns="0" rtlCol="0" anchor="ctr"/>
          <a:lstStyle/>
          <a:p>
            <a:pPr marL="0" indent="0">
              <a:buNone/>
            </a:pPr>
            <a:r>
              <a:rPr lang="en-US" sz="1800" dirty="0">
                <a:solidFill>
                  <a:schemeClr val="tx1"/>
                </a:solidFill>
              </a:rPr>
              <a:t>Bookings by phone, paper inventory, cash only</a:t>
            </a:r>
            <a:endParaRPr lang="en-US" sz="1800" dirty="0"/>
          </a:p>
        </p:txBody>
      </p:sp>
      <p:sp>
        <p:nvSpPr>
          <p:cNvPr id="11" name="Problem icon 3 circle"/>
          <p:cNvSpPr/>
          <p:nvPr/>
        </p:nvSpPr>
        <p:spPr>
          <a:xfrm>
            <a:off x="548640" y="3877056"/>
            <a:ext cx="640080" cy="640080"/>
          </a:xfrm>
          <a:prstGeom prst="ellipse">
            <a:avLst/>
          </a:prstGeom>
          <a:solidFill>
            <a:srgbClr val="E3A33B"/>
          </a:solidFill>
          <a:ln/>
        </p:spPr>
        <p:txBody>
          <a:bodyPr/>
          <a:lstStyle/>
          <a:p>
            <a:endParaRPr lang="en-CA"/>
          </a:p>
        </p:txBody>
      </p:sp>
      <p:pic>
        <p:nvPicPr>
          <p:cNvPr id="12" name="Problem icon 3" descr="Problem icon 3"/>
          <p:cNvPicPr>
            <a:picLocks noChangeAspect="1"/>
          </p:cNvPicPr>
          <p:nvPr/>
        </p:nvPicPr>
        <p:blipFill>
          <a:blip r:embed="rId5"/>
          <a:stretch>
            <a:fillRect/>
          </a:stretch>
        </p:blipFill>
        <p:spPr>
          <a:xfrm>
            <a:off x="708660" y="4037076"/>
            <a:ext cx="320040" cy="320040"/>
          </a:xfrm>
          <a:prstGeom prst="rect">
            <a:avLst/>
          </a:prstGeom>
        </p:spPr>
      </p:pic>
      <p:sp>
        <p:nvSpPr>
          <p:cNvPr id="13" name="Text 7"/>
          <p:cNvSpPr txBox="1"/>
          <p:nvPr/>
        </p:nvSpPr>
        <p:spPr>
          <a:xfrm>
            <a:off x="1417320" y="3877056"/>
            <a:ext cx="4297680" cy="640080"/>
          </a:xfrm>
          <a:prstGeom prst="rect">
            <a:avLst/>
          </a:prstGeom>
          <a:noFill/>
          <a:ln/>
        </p:spPr>
        <p:txBody>
          <a:bodyPr wrap="square" lIns="0" tIns="0" rIns="0" bIns="0" rtlCol="0" anchor="ctr"/>
          <a:lstStyle/>
          <a:p>
            <a:pPr marL="0" indent="0">
              <a:buNone/>
            </a:pPr>
            <a:r>
              <a:rPr lang="en-US" sz="1800" dirty="0">
                <a:solidFill>
                  <a:schemeClr val="tx1"/>
                </a:solidFill>
              </a:rPr>
              <a:t>Double-bookings and poor customer communication</a:t>
            </a:r>
            <a:endParaRPr lang="en-US" sz="1800" dirty="0"/>
          </a:p>
        </p:txBody>
      </p:sp>
      <p:sp>
        <p:nvSpPr>
          <p:cNvPr id="14" name="Solution panel"/>
          <p:cNvSpPr/>
          <p:nvPr/>
        </p:nvSpPr>
        <p:spPr>
          <a:xfrm>
            <a:off x="6172200" y="1417320"/>
            <a:ext cx="5468112" cy="3474720"/>
          </a:xfrm>
          <a:prstGeom prst="roundRect">
            <a:avLst>
              <a:gd name="adj" fmla="val 3158"/>
            </a:avLst>
          </a:prstGeom>
          <a:solidFill>
            <a:schemeClr val="bg2"/>
          </a:solidFill>
          <a:ln/>
        </p:spPr>
        <p:txBody>
          <a:bodyPr/>
          <a:lstStyle/>
          <a:p>
            <a:endParaRPr lang="en-CA"/>
          </a:p>
        </p:txBody>
      </p:sp>
      <p:sp>
        <p:nvSpPr>
          <p:cNvPr id="15" name="Text 9"/>
          <p:cNvSpPr txBox="1"/>
          <p:nvPr/>
        </p:nvSpPr>
        <p:spPr>
          <a:xfrm>
            <a:off x="6446520" y="1645920"/>
            <a:ext cx="4937760" cy="274320"/>
          </a:xfrm>
          <a:prstGeom prst="rect">
            <a:avLst/>
          </a:prstGeom>
          <a:noFill/>
          <a:ln/>
        </p:spPr>
        <p:txBody>
          <a:bodyPr wrap="square" lIns="0" tIns="0" rIns="0" bIns="0" rtlCol="0" anchor="t"/>
          <a:lstStyle/>
          <a:p>
            <a:pPr marL="0" indent="0">
              <a:buNone/>
            </a:pPr>
            <a:r>
              <a:rPr lang="en-US" sz="1400" b="1" kern="0" spc="300" dirty="0">
                <a:solidFill>
                  <a:schemeClr val="accent1"/>
                </a:solidFill>
              </a:rPr>
              <a:t>THE ECOTREKK SOLUTION</a:t>
            </a:r>
            <a:endParaRPr lang="en-US" sz="1400" dirty="0"/>
          </a:p>
        </p:txBody>
      </p:sp>
      <p:sp>
        <p:nvSpPr>
          <p:cNvPr id="16" name="Solution icon 1 circle"/>
          <p:cNvSpPr/>
          <p:nvPr/>
        </p:nvSpPr>
        <p:spPr>
          <a:xfrm>
            <a:off x="6446520" y="2148840"/>
            <a:ext cx="640080" cy="640080"/>
          </a:xfrm>
          <a:prstGeom prst="ellipse">
            <a:avLst/>
          </a:prstGeom>
          <a:solidFill>
            <a:srgbClr val="416834"/>
          </a:solidFill>
          <a:ln/>
        </p:spPr>
        <p:txBody>
          <a:bodyPr/>
          <a:lstStyle/>
          <a:p>
            <a:endParaRPr lang="en-CA"/>
          </a:p>
        </p:txBody>
      </p:sp>
      <p:pic>
        <p:nvPicPr>
          <p:cNvPr id="17" name="Solution icon 1" descr="Solution icon 1"/>
          <p:cNvPicPr>
            <a:picLocks noChangeAspect="1"/>
          </p:cNvPicPr>
          <p:nvPr/>
        </p:nvPicPr>
        <p:blipFill>
          <a:blip r:embed="rId6"/>
          <a:stretch>
            <a:fillRect/>
          </a:stretch>
        </p:blipFill>
        <p:spPr>
          <a:xfrm>
            <a:off x="6606540" y="2308860"/>
            <a:ext cx="320040" cy="320040"/>
          </a:xfrm>
          <a:prstGeom prst="rect">
            <a:avLst/>
          </a:prstGeom>
        </p:spPr>
      </p:pic>
      <p:sp>
        <p:nvSpPr>
          <p:cNvPr id="18" name="Text 11"/>
          <p:cNvSpPr txBox="1"/>
          <p:nvPr/>
        </p:nvSpPr>
        <p:spPr>
          <a:xfrm>
            <a:off x="7315200" y="2148840"/>
            <a:ext cx="4114800" cy="640080"/>
          </a:xfrm>
          <a:prstGeom prst="rect">
            <a:avLst/>
          </a:prstGeom>
          <a:noFill/>
          <a:ln/>
        </p:spPr>
        <p:txBody>
          <a:bodyPr wrap="square" lIns="0" tIns="0" rIns="0" bIns="0" rtlCol="0" anchor="ctr"/>
          <a:lstStyle/>
          <a:p>
            <a:pPr marL="0" indent="0">
              <a:buNone/>
            </a:pPr>
            <a:r>
              <a:rPr lang="en-US" sz="1800" dirty="0">
                <a:solidFill>
                  <a:schemeClr val="tx1"/>
                </a:solidFill>
              </a:rPr>
              <a:t>Find nearby rental hubs on a map</a:t>
            </a:r>
            <a:endParaRPr lang="en-US" sz="1800" dirty="0"/>
          </a:p>
        </p:txBody>
      </p:sp>
      <p:sp>
        <p:nvSpPr>
          <p:cNvPr id="19" name="Solution icon 2 circle"/>
          <p:cNvSpPr/>
          <p:nvPr/>
        </p:nvSpPr>
        <p:spPr>
          <a:xfrm>
            <a:off x="6446520" y="3017520"/>
            <a:ext cx="640080" cy="640080"/>
          </a:xfrm>
          <a:prstGeom prst="ellipse">
            <a:avLst/>
          </a:prstGeom>
          <a:solidFill>
            <a:srgbClr val="416834"/>
          </a:solidFill>
          <a:ln/>
        </p:spPr>
        <p:txBody>
          <a:bodyPr/>
          <a:lstStyle/>
          <a:p>
            <a:endParaRPr lang="en-CA"/>
          </a:p>
        </p:txBody>
      </p:sp>
      <p:pic>
        <p:nvPicPr>
          <p:cNvPr id="20" name="Solution icon 2" descr="Solution icon 2"/>
          <p:cNvPicPr>
            <a:picLocks noChangeAspect="1"/>
          </p:cNvPicPr>
          <p:nvPr/>
        </p:nvPicPr>
        <p:blipFill>
          <a:blip r:embed="rId7"/>
          <a:stretch>
            <a:fillRect/>
          </a:stretch>
        </p:blipFill>
        <p:spPr>
          <a:xfrm>
            <a:off x="6606540" y="3177540"/>
            <a:ext cx="320040" cy="320040"/>
          </a:xfrm>
          <a:prstGeom prst="rect">
            <a:avLst/>
          </a:prstGeom>
        </p:spPr>
      </p:pic>
      <p:sp>
        <p:nvSpPr>
          <p:cNvPr id="21" name="Text 13"/>
          <p:cNvSpPr txBox="1"/>
          <p:nvPr/>
        </p:nvSpPr>
        <p:spPr>
          <a:xfrm>
            <a:off x="7315200" y="3017520"/>
            <a:ext cx="4114800" cy="640080"/>
          </a:xfrm>
          <a:prstGeom prst="rect">
            <a:avLst/>
          </a:prstGeom>
          <a:noFill/>
          <a:ln/>
        </p:spPr>
        <p:txBody>
          <a:bodyPr wrap="square" lIns="0" tIns="0" rIns="0" bIns="0" rtlCol="0" anchor="ctr"/>
          <a:lstStyle/>
          <a:p>
            <a:pPr marL="0" indent="0">
              <a:buNone/>
            </a:pPr>
            <a:r>
              <a:rPr lang="en-US" sz="1800" dirty="0">
                <a:solidFill>
                  <a:schemeClr val="tx1"/>
                </a:solidFill>
              </a:rPr>
              <a:t>Reserve gear for a date range</a:t>
            </a:r>
            <a:endParaRPr lang="en-US" sz="1800" dirty="0"/>
          </a:p>
        </p:txBody>
      </p:sp>
      <p:sp>
        <p:nvSpPr>
          <p:cNvPr id="22" name="Solution icon 3 circle"/>
          <p:cNvSpPr/>
          <p:nvPr/>
        </p:nvSpPr>
        <p:spPr>
          <a:xfrm>
            <a:off x="6446520" y="3886200"/>
            <a:ext cx="640080" cy="640080"/>
          </a:xfrm>
          <a:prstGeom prst="ellipse">
            <a:avLst/>
          </a:prstGeom>
          <a:solidFill>
            <a:srgbClr val="416834"/>
          </a:solidFill>
          <a:ln/>
        </p:spPr>
        <p:txBody>
          <a:bodyPr/>
          <a:lstStyle/>
          <a:p>
            <a:endParaRPr lang="en-CA"/>
          </a:p>
        </p:txBody>
      </p:sp>
      <p:pic>
        <p:nvPicPr>
          <p:cNvPr id="23" name="Solution icon 3" descr="Solution icon 3"/>
          <p:cNvPicPr>
            <a:picLocks noChangeAspect="1"/>
          </p:cNvPicPr>
          <p:nvPr/>
        </p:nvPicPr>
        <p:blipFill>
          <a:blip r:embed="rId8"/>
          <a:stretch>
            <a:fillRect/>
          </a:stretch>
        </p:blipFill>
        <p:spPr>
          <a:xfrm>
            <a:off x="6606540" y="4046220"/>
            <a:ext cx="320040" cy="320040"/>
          </a:xfrm>
          <a:prstGeom prst="rect">
            <a:avLst/>
          </a:prstGeom>
        </p:spPr>
      </p:pic>
      <p:sp>
        <p:nvSpPr>
          <p:cNvPr id="24" name="Text 15"/>
          <p:cNvSpPr txBox="1"/>
          <p:nvPr/>
        </p:nvSpPr>
        <p:spPr>
          <a:xfrm>
            <a:off x="7315200" y="3886200"/>
            <a:ext cx="4114800" cy="640080"/>
          </a:xfrm>
          <a:prstGeom prst="rect">
            <a:avLst/>
          </a:prstGeom>
          <a:noFill/>
          <a:ln/>
        </p:spPr>
        <p:txBody>
          <a:bodyPr wrap="square" lIns="0" tIns="0" rIns="0" bIns="0" rtlCol="0" anchor="ctr"/>
          <a:lstStyle/>
          <a:p>
            <a:pPr marL="0" indent="0">
              <a:buNone/>
            </a:pPr>
            <a:r>
              <a:rPr lang="en-US" sz="1800" dirty="0">
                <a:solidFill>
                  <a:schemeClr val="tx1"/>
                </a:solidFill>
              </a:rPr>
              <a:t>Pay by card (Stripe) or cash at the hub</a:t>
            </a:r>
            <a:endParaRPr lang="en-US" sz="1800" dirty="0"/>
          </a:p>
        </p:txBody>
      </p:sp>
      <p:sp>
        <p:nvSpPr>
          <p:cNvPr id="25" name="System strip"/>
          <p:cNvSpPr/>
          <p:nvPr/>
        </p:nvSpPr>
        <p:spPr>
          <a:xfrm>
            <a:off x="548640" y="5166360"/>
            <a:ext cx="11094415" cy="914400"/>
          </a:xfrm>
          <a:prstGeom prst="roundRect">
            <a:avLst>
              <a:gd name="adj" fmla="val 12000"/>
            </a:avLst>
          </a:prstGeom>
          <a:solidFill>
            <a:schemeClr val="tx2"/>
          </a:solidFill>
          <a:ln/>
        </p:spPr>
        <p:txBody>
          <a:bodyPr/>
          <a:lstStyle/>
          <a:p>
            <a:endParaRPr lang="en-CA"/>
          </a:p>
        </p:txBody>
      </p:sp>
      <p:sp>
        <p:nvSpPr>
          <p:cNvPr id="26" name="Text 17"/>
          <p:cNvSpPr txBox="1"/>
          <p:nvPr/>
        </p:nvSpPr>
        <p:spPr>
          <a:xfrm>
            <a:off x="744579" y="5277393"/>
            <a:ext cx="3383280" cy="685800"/>
          </a:xfrm>
          <a:prstGeom prst="rect">
            <a:avLst/>
          </a:prstGeom>
          <a:noFill/>
          <a:ln/>
        </p:spPr>
        <p:txBody>
          <a:bodyPr wrap="square" lIns="0" tIns="0" rIns="0" bIns="0" rtlCol="0" anchor="ctr"/>
          <a:lstStyle/>
          <a:p>
            <a:pPr marL="0" indent="0" algn="ctr">
              <a:buNone/>
            </a:pPr>
            <a:r>
              <a:rPr lang="en-US" sz="1800" b="1" dirty="0">
                <a:solidFill>
                  <a:schemeClr val="bg1"/>
                </a:solidFill>
              </a:rPr>
              <a:t>Android App</a:t>
            </a:r>
            <a:endParaRPr lang="en-US" sz="1800" dirty="0"/>
          </a:p>
          <a:p>
            <a:pPr marL="0" indent="0" algn="ctr">
              <a:buNone/>
            </a:pPr>
            <a:r>
              <a:rPr lang="en-US" sz="1400" dirty="0">
                <a:solidFill>
                  <a:schemeClr val="accent3"/>
                </a:solidFill>
              </a:rPr>
              <a:t>for customers</a:t>
            </a:r>
            <a:endParaRPr lang="en-US" sz="1800" dirty="0"/>
          </a:p>
        </p:txBody>
      </p:sp>
      <p:sp>
        <p:nvSpPr>
          <p:cNvPr id="27" name="Text 18"/>
          <p:cNvSpPr txBox="1"/>
          <p:nvPr/>
        </p:nvSpPr>
        <p:spPr>
          <a:xfrm>
            <a:off x="4480560" y="5268684"/>
            <a:ext cx="3383280" cy="685800"/>
          </a:xfrm>
          <a:prstGeom prst="rect">
            <a:avLst/>
          </a:prstGeom>
          <a:noFill/>
          <a:ln/>
        </p:spPr>
        <p:txBody>
          <a:bodyPr wrap="square" lIns="0" tIns="0" rIns="0" bIns="0" rtlCol="0" anchor="ctr"/>
          <a:lstStyle/>
          <a:p>
            <a:pPr marL="0" indent="0" algn="ctr">
              <a:buNone/>
            </a:pPr>
            <a:r>
              <a:rPr lang="en-US" sz="1800" b="1" dirty="0">
                <a:solidFill>
                  <a:schemeClr val="bg1"/>
                </a:solidFill>
              </a:rPr>
              <a:t>Spring Boot API</a:t>
            </a:r>
            <a:endParaRPr lang="en-US" sz="1800" dirty="0"/>
          </a:p>
          <a:p>
            <a:pPr marL="0" indent="0" algn="ctr">
              <a:buNone/>
            </a:pPr>
            <a:r>
              <a:rPr lang="en-US" sz="1400" dirty="0">
                <a:solidFill>
                  <a:schemeClr val="accent3"/>
                </a:solidFill>
              </a:rPr>
              <a:t>business logic and data</a:t>
            </a:r>
            <a:endParaRPr lang="en-US" sz="1800" dirty="0"/>
          </a:p>
        </p:txBody>
      </p:sp>
      <p:sp>
        <p:nvSpPr>
          <p:cNvPr id="28" name="Text 19"/>
          <p:cNvSpPr txBox="1"/>
          <p:nvPr/>
        </p:nvSpPr>
        <p:spPr>
          <a:xfrm>
            <a:off x="8138160" y="5268684"/>
            <a:ext cx="3383280" cy="685800"/>
          </a:xfrm>
          <a:prstGeom prst="rect">
            <a:avLst/>
          </a:prstGeom>
          <a:noFill/>
          <a:ln/>
        </p:spPr>
        <p:txBody>
          <a:bodyPr wrap="square" lIns="0" tIns="0" rIns="0" bIns="0" rtlCol="0" anchor="ctr"/>
          <a:lstStyle/>
          <a:p>
            <a:pPr marL="0" indent="0" algn="ctr">
              <a:buNone/>
            </a:pPr>
            <a:r>
              <a:rPr lang="en-US" sz="1800" b="1" dirty="0">
                <a:solidFill>
                  <a:schemeClr val="bg1"/>
                </a:solidFill>
              </a:rPr>
              <a:t>React Admin</a:t>
            </a:r>
            <a:endParaRPr lang="en-US" sz="1800" dirty="0"/>
          </a:p>
          <a:p>
            <a:pPr marL="0" indent="0" algn="ctr">
              <a:buNone/>
            </a:pPr>
            <a:r>
              <a:rPr lang="en-US" sz="1400" dirty="0">
                <a:solidFill>
                  <a:schemeClr val="accent3"/>
                </a:solidFill>
              </a:rPr>
              <a:t>for operators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Android card"/>
          <p:cNvSpPr/>
          <p:nvPr/>
        </p:nvSpPr>
        <p:spPr>
          <a:xfrm>
            <a:off x="548640" y="1685105"/>
            <a:ext cx="2743200" cy="1554480"/>
          </a:xfrm>
          <a:prstGeom prst="roundRect">
            <a:avLst>
              <a:gd name="adj" fmla="val 7059"/>
            </a:avLst>
          </a:prstGeom>
          <a:solidFill>
            <a:schemeClr val="bg2"/>
          </a:solidFill>
          <a:ln/>
        </p:spPr>
        <p:txBody>
          <a:bodyPr/>
          <a:lstStyle/>
          <a:p>
            <a:endParaRPr lang="en-CA"/>
          </a:p>
        </p:txBody>
      </p:sp>
      <p:sp>
        <p:nvSpPr>
          <p:cNvPr id="5" name="Text 2"/>
          <p:cNvSpPr txBox="1"/>
          <p:nvPr/>
        </p:nvSpPr>
        <p:spPr>
          <a:xfrm>
            <a:off x="777240" y="1867985"/>
            <a:ext cx="2377440" cy="1234440"/>
          </a:xfrm>
          <a:prstGeom prst="rect">
            <a:avLst/>
          </a:prstGeom>
          <a:noFill/>
          <a:ln/>
        </p:spPr>
        <p:txBody>
          <a:bodyPr wrap="square" lIns="0" tIns="0" rIns="0" bIns="0" rtlCol="0" anchor="t"/>
          <a:lstStyle/>
          <a:p>
            <a:pPr marL="0" indent="0">
              <a:buNone/>
            </a:pPr>
            <a:r>
              <a:rPr lang="en-US" sz="2000" b="1" dirty="0">
                <a:solidFill>
                  <a:schemeClr val="tx1"/>
                </a:solidFill>
              </a:rPr>
              <a:t>Android app</a:t>
            </a:r>
            <a:endParaRPr lang="en-US" sz="2000" dirty="0"/>
          </a:p>
          <a:p>
            <a:pPr marL="0" indent="0">
              <a:buNone/>
            </a:pPr>
            <a:r>
              <a:rPr lang="en-US" sz="1400" dirty="0">
                <a:solidFill>
                  <a:schemeClr val="tx1"/>
                </a:solidFill>
              </a:rPr>
              <a:t>Java, Material 3, Retrofit, Room, WorkManager</a:t>
            </a:r>
            <a:endParaRPr lang="en-US" sz="2000" dirty="0"/>
          </a:p>
        </p:txBody>
      </p:sp>
      <p:sp>
        <p:nvSpPr>
          <p:cNvPr id="6" name="Admin card"/>
          <p:cNvSpPr/>
          <p:nvPr/>
        </p:nvSpPr>
        <p:spPr>
          <a:xfrm>
            <a:off x="548640" y="3788225"/>
            <a:ext cx="2743200" cy="1554480"/>
          </a:xfrm>
          <a:prstGeom prst="roundRect">
            <a:avLst>
              <a:gd name="adj" fmla="val 7059"/>
            </a:avLst>
          </a:prstGeom>
          <a:solidFill>
            <a:schemeClr val="bg2"/>
          </a:solidFill>
          <a:ln/>
        </p:spPr>
        <p:txBody>
          <a:bodyPr/>
          <a:lstStyle/>
          <a:p>
            <a:endParaRPr lang="en-CA"/>
          </a:p>
        </p:txBody>
      </p:sp>
      <p:sp>
        <p:nvSpPr>
          <p:cNvPr id="7" name="Text 4"/>
          <p:cNvSpPr txBox="1"/>
          <p:nvPr/>
        </p:nvSpPr>
        <p:spPr>
          <a:xfrm>
            <a:off x="777240" y="3971105"/>
            <a:ext cx="2377440" cy="1234440"/>
          </a:xfrm>
          <a:prstGeom prst="rect">
            <a:avLst/>
          </a:prstGeom>
          <a:noFill/>
          <a:ln/>
        </p:spPr>
        <p:txBody>
          <a:bodyPr wrap="square" lIns="0" tIns="0" rIns="0" bIns="0" rtlCol="0" anchor="t"/>
          <a:lstStyle/>
          <a:p>
            <a:pPr marL="0" indent="0">
              <a:buNone/>
            </a:pPr>
            <a:r>
              <a:rPr lang="en-US" sz="2000" b="1" dirty="0">
                <a:solidFill>
                  <a:schemeClr val="tx1"/>
                </a:solidFill>
              </a:rPr>
              <a:t>React admin</a:t>
            </a:r>
            <a:endParaRPr lang="en-US" sz="2000" dirty="0"/>
          </a:p>
          <a:p>
            <a:pPr marL="0" indent="0">
              <a:buNone/>
            </a:pPr>
            <a:r>
              <a:rPr lang="en-US" sz="1400" dirty="0">
                <a:solidFill>
                  <a:schemeClr val="tx1"/>
                </a:solidFill>
              </a:rPr>
              <a:t>TypeScript, MUI, Recharts, Axios</a:t>
            </a:r>
            <a:endParaRPr lang="en-US" sz="2000" dirty="0"/>
          </a:p>
        </p:txBody>
      </p:sp>
      <p:sp>
        <p:nvSpPr>
          <p:cNvPr id="8" name="API card"/>
          <p:cNvSpPr/>
          <p:nvPr/>
        </p:nvSpPr>
        <p:spPr>
          <a:xfrm>
            <a:off x="4480560" y="1685105"/>
            <a:ext cx="3291840" cy="3657600"/>
          </a:xfrm>
          <a:prstGeom prst="roundRect">
            <a:avLst>
              <a:gd name="adj" fmla="val 3333"/>
            </a:avLst>
          </a:prstGeom>
          <a:solidFill>
            <a:schemeClr val="tx2"/>
          </a:solidFill>
          <a:ln/>
        </p:spPr>
        <p:txBody>
          <a:bodyPr/>
          <a:lstStyle/>
          <a:p>
            <a:endParaRPr lang="en-CA"/>
          </a:p>
        </p:txBody>
      </p:sp>
      <p:sp>
        <p:nvSpPr>
          <p:cNvPr id="9" name="Text 6"/>
          <p:cNvSpPr txBox="1"/>
          <p:nvPr/>
        </p:nvSpPr>
        <p:spPr>
          <a:xfrm>
            <a:off x="4709160" y="1867985"/>
            <a:ext cx="2834640" cy="365760"/>
          </a:xfrm>
          <a:prstGeom prst="rect">
            <a:avLst/>
          </a:prstGeom>
          <a:noFill/>
          <a:ln/>
        </p:spPr>
        <p:txBody>
          <a:bodyPr wrap="square" lIns="0" tIns="0" rIns="0" bIns="0" rtlCol="0" anchor="t"/>
          <a:lstStyle/>
          <a:p>
            <a:pPr marL="0" indent="0">
              <a:buNone/>
            </a:pPr>
            <a:r>
              <a:rPr lang="en-US" sz="2000" b="1" dirty="0">
                <a:solidFill>
                  <a:schemeClr val="bg1"/>
                </a:solidFill>
              </a:rPr>
              <a:t>Spring Boot REST API</a:t>
            </a:r>
            <a:endParaRPr lang="en-US" sz="2000" dirty="0"/>
          </a:p>
        </p:txBody>
      </p:sp>
      <p:sp>
        <p:nvSpPr>
          <p:cNvPr id="10" name="Text 7"/>
          <p:cNvSpPr txBox="1"/>
          <p:nvPr/>
        </p:nvSpPr>
        <p:spPr>
          <a:xfrm>
            <a:off x="4709160" y="2416625"/>
            <a:ext cx="2880360" cy="26517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bg1"/>
                </a:solidFill>
              </a:rPr>
              <a:t>Java 17</a:t>
            </a:r>
            <a:endParaRPr lang="en-US" sz="1500" dirty="0"/>
          </a:p>
          <a:p>
            <a:pPr marL="177800" indent="-177800">
              <a:spcAft>
                <a:spcPts val="600"/>
              </a:spcAft>
              <a:buSzPct val="100000"/>
              <a:buChar char="•"/>
            </a:pPr>
            <a:r>
              <a:rPr lang="en-US" sz="1500" dirty="0">
                <a:solidFill>
                  <a:schemeClr val="bg1"/>
                </a:solidFill>
              </a:rPr>
              <a:t>Service layer with transactions</a:t>
            </a:r>
            <a:endParaRPr lang="en-US" sz="1500" dirty="0"/>
          </a:p>
          <a:p>
            <a:pPr marL="177800" indent="-177800">
              <a:spcAft>
                <a:spcPts val="600"/>
              </a:spcAft>
              <a:buSzPct val="100000"/>
              <a:buChar char="•"/>
            </a:pPr>
            <a:r>
              <a:rPr lang="en-US" sz="1500" dirty="0">
                <a:solidFill>
                  <a:schemeClr val="bg1"/>
                </a:solidFill>
              </a:rPr>
              <a:t>Firebase Admin token check</a:t>
            </a:r>
            <a:endParaRPr lang="en-US" sz="1500" dirty="0"/>
          </a:p>
          <a:p>
            <a:pPr marL="177800" indent="-177800">
              <a:spcAft>
                <a:spcPts val="600"/>
              </a:spcAft>
              <a:buSzPct val="100000"/>
              <a:buChar char="•"/>
            </a:pPr>
            <a:r>
              <a:rPr lang="en-US" sz="1500" dirty="0">
                <a:solidFill>
                  <a:schemeClr val="bg1"/>
                </a:solidFill>
              </a:rPr>
              <a:t>Stripe payment intents</a:t>
            </a:r>
            <a:endParaRPr lang="en-US" sz="1500" dirty="0"/>
          </a:p>
          <a:p>
            <a:pPr marL="177800" indent="-177800">
              <a:spcAft>
                <a:spcPts val="600"/>
              </a:spcAft>
              <a:buSzPct val="100000"/>
              <a:buChar char="•"/>
            </a:pPr>
            <a:r>
              <a:rPr lang="en-US" sz="1500" dirty="0">
                <a:solidFill>
                  <a:schemeClr val="bg1"/>
                </a:solidFill>
              </a:rPr>
              <a:t>STOMP WebSocket events</a:t>
            </a:r>
            <a:endParaRPr lang="en-US" sz="1500" dirty="0"/>
          </a:p>
          <a:p>
            <a:pPr marL="177800" indent="-177800">
              <a:spcAft>
                <a:spcPts val="600"/>
              </a:spcAft>
              <a:buSzPct val="100000"/>
              <a:buChar char="•"/>
            </a:pPr>
            <a:r>
              <a:rPr lang="en-US" sz="1500" dirty="0">
                <a:solidFill>
                  <a:schemeClr val="bg1"/>
                </a:solidFill>
              </a:rPr>
              <a:t>Cloudinary signed uploads</a:t>
            </a:r>
            <a:endParaRPr lang="en-US" sz="1500" dirty="0"/>
          </a:p>
        </p:txBody>
      </p:sp>
      <p:sp>
        <p:nvSpPr>
          <p:cNvPr id="11" name="Arrow"/>
          <p:cNvSpPr/>
          <p:nvPr/>
        </p:nvSpPr>
        <p:spPr>
          <a:xfrm>
            <a:off x="3291840" y="2462345"/>
            <a:ext cx="1188720" cy="0"/>
          </a:xfrm>
          <a:prstGeom prst="line">
            <a:avLst/>
          </a:prstGeom>
          <a:noFill/>
          <a:ln w="25400">
            <a:solidFill>
              <a:srgbClr val="416834"/>
            </a:solidFill>
            <a:prstDash val="solid"/>
            <a:tailEnd type="triangle"/>
          </a:ln>
        </p:spPr>
        <p:txBody>
          <a:bodyPr/>
          <a:lstStyle/>
          <a:p>
            <a:endParaRPr lang="en-CA"/>
          </a:p>
        </p:txBody>
      </p:sp>
      <p:sp>
        <p:nvSpPr>
          <p:cNvPr id="12" name="Arrow"/>
          <p:cNvSpPr/>
          <p:nvPr/>
        </p:nvSpPr>
        <p:spPr>
          <a:xfrm>
            <a:off x="3291840" y="4565465"/>
            <a:ext cx="1188720" cy="0"/>
          </a:xfrm>
          <a:prstGeom prst="line">
            <a:avLst/>
          </a:prstGeom>
          <a:noFill/>
          <a:ln w="25400">
            <a:solidFill>
              <a:srgbClr val="416834"/>
            </a:solidFill>
            <a:prstDash val="solid"/>
            <a:tailEnd type="triangle"/>
          </a:ln>
        </p:spPr>
        <p:txBody>
          <a:bodyPr/>
          <a:lstStyle/>
          <a:p>
            <a:endParaRPr lang="en-CA"/>
          </a:p>
        </p:txBody>
      </p:sp>
      <p:sp>
        <p:nvSpPr>
          <p:cNvPr id="13" name="Text 10"/>
          <p:cNvSpPr txBox="1"/>
          <p:nvPr/>
        </p:nvSpPr>
        <p:spPr>
          <a:xfrm>
            <a:off x="3310128" y="2142305"/>
            <a:ext cx="1188720" cy="274320"/>
          </a:xfrm>
          <a:prstGeom prst="rect">
            <a:avLst/>
          </a:prstGeom>
          <a:noFill/>
          <a:ln/>
        </p:spPr>
        <p:txBody>
          <a:bodyPr wrap="square" lIns="0" tIns="0" rIns="0" bIns="0" rtlCol="0" anchor="t"/>
          <a:lstStyle/>
          <a:p>
            <a:pPr marL="0" indent="0" algn="ctr">
              <a:buNone/>
            </a:pPr>
            <a:r>
              <a:rPr lang="en-US" sz="1100" dirty="0">
                <a:solidFill>
                  <a:schemeClr val="accent6"/>
                </a:solidFill>
              </a:rPr>
              <a:t>HTTPS + JSON</a:t>
            </a:r>
            <a:endParaRPr lang="en-US" sz="1100" dirty="0"/>
          </a:p>
        </p:txBody>
      </p:sp>
      <p:sp>
        <p:nvSpPr>
          <p:cNvPr id="14" name="Text 11"/>
          <p:cNvSpPr txBox="1"/>
          <p:nvPr/>
        </p:nvSpPr>
        <p:spPr>
          <a:xfrm>
            <a:off x="3246120" y="4245425"/>
            <a:ext cx="1280160" cy="274320"/>
          </a:xfrm>
          <a:prstGeom prst="rect">
            <a:avLst/>
          </a:prstGeom>
          <a:noFill/>
          <a:ln/>
        </p:spPr>
        <p:txBody>
          <a:bodyPr wrap="square" lIns="0" tIns="0" rIns="0" bIns="0" rtlCol="0" anchor="t"/>
          <a:lstStyle/>
          <a:p>
            <a:pPr marL="0" indent="0" algn="ctr">
              <a:buNone/>
            </a:pPr>
            <a:r>
              <a:rPr lang="en-US" sz="1100" dirty="0">
                <a:solidFill>
                  <a:schemeClr val="accent6"/>
                </a:solidFill>
              </a:rPr>
              <a:t>HTTPS + WebSocket</a:t>
            </a:r>
            <a:endParaRPr lang="en-US" sz="1100" dirty="0"/>
          </a:p>
        </p:txBody>
      </p:sp>
      <p:sp>
        <p:nvSpPr>
          <p:cNvPr id="15" name="Database card"/>
          <p:cNvSpPr/>
          <p:nvPr/>
        </p:nvSpPr>
        <p:spPr>
          <a:xfrm>
            <a:off x="8961120" y="1685105"/>
            <a:ext cx="2679192" cy="1554480"/>
          </a:xfrm>
          <a:prstGeom prst="roundRect">
            <a:avLst>
              <a:gd name="adj" fmla="val 7059"/>
            </a:avLst>
          </a:prstGeom>
          <a:solidFill>
            <a:schemeClr val="bg2"/>
          </a:solidFill>
          <a:ln/>
        </p:spPr>
        <p:txBody>
          <a:bodyPr/>
          <a:lstStyle/>
          <a:p>
            <a:endParaRPr lang="en-CA"/>
          </a:p>
        </p:txBody>
      </p:sp>
      <p:sp>
        <p:nvSpPr>
          <p:cNvPr id="16" name="Text 13"/>
          <p:cNvSpPr txBox="1"/>
          <p:nvPr/>
        </p:nvSpPr>
        <p:spPr>
          <a:xfrm>
            <a:off x="9189720" y="1867985"/>
            <a:ext cx="2286000" cy="1234440"/>
          </a:xfrm>
          <a:prstGeom prst="rect">
            <a:avLst/>
          </a:prstGeom>
          <a:noFill/>
          <a:ln/>
        </p:spPr>
        <p:txBody>
          <a:bodyPr wrap="square" lIns="0" tIns="0" rIns="0" bIns="0" rtlCol="0" anchor="t"/>
          <a:lstStyle/>
          <a:p>
            <a:pPr marL="0" indent="0">
              <a:buNone/>
            </a:pPr>
            <a:r>
              <a:rPr lang="en-US" sz="2000" b="1" dirty="0">
                <a:solidFill>
                  <a:schemeClr val="tx1"/>
                </a:solidFill>
              </a:rPr>
              <a:t>MySQL</a:t>
            </a:r>
            <a:endParaRPr lang="en-US" sz="2000" dirty="0"/>
          </a:p>
          <a:p>
            <a:pPr marL="0" indent="0">
              <a:buNone/>
            </a:pPr>
            <a:r>
              <a:rPr lang="en-US" sz="1400" dirty="0">
                <a:solidFill>
                  <a:schemeClr val="tx1"/>
                </a:solidFill>
              </a:rPr>
              <a:t>18 JPA entities</a:t>
            </a:r>
            <a:endParaRPr lang="en-US" sz="2000" dirty="0"/>
          </a:p>
        </p:txBody>
      </p:sp>
      <p:sp>
        <p:nvSpPr>
          <p:cNvPr id="17" name="Arrow"/>
          <p:cNvSpPr/>
          <p:nvPr/>
        </p:nvSpPr>
        <p:spPr>
          <a:xfrm>
            <a:off x="7772400" y="2462345"/>
            <a:ext cx="1188720" cy="0"/>
          </a:xfrm>
          <a:prstGeom prst="line">
            <a:avLst/>
          </a:prstGeom>
          <a:noFill/>
          <a:ln w="25400">
            <a:solidFill>
              <a:srgbClr val="416834"/>
            </a:solidFill>
            <a:prstDash val="solid"/>
            <a:tailEnd type="triangle"/>
          </a:ln>
        </p:spPr>
        <p:txBody>
          <a:bodyPr/>
          <a:lstStyle/>
          <a:p>
            <a:endParaRPr lang="en-CA"/>
          </a:p>
        </p:txBody>
      </p:sp>
      <p:sp>
        <p:nvSpPr>
          <p:cNvPr id="18" name="Services card"/>
          <p:cNvSpPr/>
          <p:nvPr/>
        </p:nvSpPr>
        <p:spPr>
          <a:xfrm>
            <a:off x="8961120" y="3788225"/>
            <a:ext cx="2679192" cy="1554480"/>
          </a:xfrm>
          <a:prstGeom prst="roundRect">
            <a:avLst>
              <a:gd name="adj" fmla="val 7059"/>
            </a:avLst>
          </a:prstGeom>
          <a:solidFill>
            <a:schemeClr val="bg2"/>
          </a:solidFill>
          <a:ln/>
        </p:spPr>
        <p:txBody>
          <a:bodyPr/>
          <a:lstStyle/>
          <a:p>
            <a:endParaRPr lang="en-CA"/>
          </a:p>
        </p:txBody>
      </p:sp>
      <p:sp>
        <p:nvSpPr>
          <p:cNvPr id="19" name="Text 16"/>
          <p:cNvSpPr txBox="1"/>
          <p:nvPr/>
        </p:nvSpPr>
        <p:spPr>
          <a:xfrm>
            <a:off x="9189720" y="3925385"/>
            <a:ext cx="2286000" cy="274320"/>
          </a:xfrm>
          <a:prstGeom prst="rect">
            <a:avLst/>
          </a:prstGeom>
          <a:noFill/>
          <a:ln/>
        </p:spPr>
        <p:txBody>
          <a:bodyPr wrap="square" lIns="0" tIns="0" rIns="0" bIns="0" rtlCol="0" anchor="t"/>
          <a:lstStyle/>
          <a:p>
            <a:pPr marL="0" indent="0">
              <a:buNone/>
            </a:pPr>
            <a:r>
              <a:rPr lang="en-US" sz="1400" b="1" dirty="0">
                <a:solidFill>
                  <a:schemeClr val="accent1"/>
                </a:solidFill>
              </a:rPr>
              <a:t>External services</a:t>
            </a:r>
            <a:endParaRPr lang="en-US" sz="1400" dirty="0"/>
          </a:p>
        </p:txBody>
      </p:sp>
      <p:sp>
        <p:nvSpPr>
          <p:cNvPr id="20" name="Text 17"/>
          <p:cNvSpPr txBox="1"/>
          <p:nvPr/>
        </p:nvSpPr>
        <p:spPr>
          <a:xfrm>
            <a:off x="9189720" y="4245425"/>
            <a:ext cx="2286000" cy="1005840"/>
          </a:xfrm>
          <a:prstGeom prst="rect">
            <a:avLst/>
          </a:prstGeom>
          <a:noFill/>
          <a:ln/>
        </p:spPr>
        <p:txBody>
          <a:bodyPr wrap="square" lIns="0" tIns="0" rIns="0" bIns="0" rtlCol="0" anchor="t"/>
          <a:lstStyle/>
          <a:p>
            <a:pPr marL="0" indent="0">
              <a:spcAft>
                <a:spcPts val="200"/>
              </a:spcAft>
              <a:buNone/>
            </a:pPr>
            <a:r>
              <a:rPr lang="en-US" sz="1400" dirty="0">
                <a:solidFill>
                  <a:schemeClr val="tx1"/>
                </a:solidFill>
              </a:rPr>
              <a:t>Firebase (Auth, FCM)</a:t>
            </a:r>
            <a:endParaRPr lang="en-US" sz="1400" dirty="0"/>
          </a:p>
          <a:p>
            <a:pPr marL="0" indent="0">
              <a:spcAft>
                <a:spcPts val="200"/>
              </a:spcAft>
              <a:buNone/>
            </a:pPr>
            <a:r>
              <a:rPr lang="en-US" sz="1400" dirty="0">
                <a:solidFill>
                  <a:schemeClr val="tx1"/>
                </a:solidFill>
              </a:rPr>
              <a:t>Stripe</a:t>
            </a:r>
            <a:endParaRPr lang="en-US" sz="1400" dirty="0"/>
          </a:p>
          <a:p>
            <a:pPr marL="0" indent="0">
              <a:spcAft>
                <a:spcPts val="200"/>
              </a:spcAft>
              <a:buNone/>
            </a:pPr>
            <a:r>
              <a:rPr lang="en-US" sz="1400" dirty="0">
                <a:solidFill>
                  <a:schemeClr val="tx1"/>
                </a:solidFill>
              </a:rPr>
              <a:t>Google Maps</a:t>
            </a:r>
            <a:endParaRPr lang="en-US" sz="1400" dirty="0"/>
          </a:p>
          <a:p>
            <a:pPr marL="0" indent="0">
              <a:spcAft>
                <a:spcPts val="200"/>
              </a:spcAft>
              <a:buNone/>
            </a:pPr>
            <a:r>
              <a:rPr lang="en-US" sz="1400" dirty="0">
                <a:solidFill>
                  <a:schemeClr val="tx1"/>
                </a:solidFill>
              </a:rPr>
              <a:t>Cloudinary</a:t>
            </a:r>
            <a:endParaRPr lang="en-US" sz="1400" dirty="0"/>
          </a:p>
        </p:txBody>
      </p:sp>
      <p:sp>
        <p:nvSpPr>
          <p:cNvPr id="21" name="Arrow"/>
          <p:cNvSpPr/>
          <p:nvPr/>
        </p:nvSpPr>
        <p:spPr>
          <a:xfrm>
            <a:off x="7772400" y="4565465"/>
            <a:ext cx="1188720" cy="0"/>
          </a:xfrm>
          <a:prstGeom prst="line">
            <a:avLst/>
          </a:prstGeom>
          <a:noFill/>
          <a:ln w="25400">
            <a:solidFill>
              <a:srgbClr val="416834"/>
            </a:solidFill>
            <a:prstDash val="solid"/>
            <a:tailEnd type="triangle"/>
          </a:ln>
        </p:spPr>
        <p:txBody>
          <a:bodyPr/>
          <a:lstStyle/>
          <a:p>
            <a:endParaRPr lang="en-C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8640"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Customer App</a:t>
            </a:r>
            <a:endParaRPr lang="en-US" sz="3400" dirty="0"/>
          </a:p>
        </p:txBody>
      </p:sp>
      <p:pic>
        <p:nvPicPr>
          <p:cNvPr id="4" name="Home screen" descr="Home screen"/>
          <p:cNvPicPr>
            <a:picLocks noChangeAspect="1"/>
          </p:cNvPicPr>
          <p:nvPr/>
        </p:nvPicPr>
        <p:blipFill>
          <a:blip r:embed="rId3"/>
          <a:stretch>
            <a:fillRect/>
          </a:stretch>
        </p:blipFill>
        <p:spPr>
          <a:xfrm>
            <a:off x="548640" y="1371600"/>
            <a:ext cx="1836373" cy="3977640"/>
          </a:xfrm>
          <a:prstGeom prst="rect">
            <a:avLst/>
          </a:prstGeom>
        </p:spPr>
      </p:pic>
      <p:sp>
        <p:nvSpPr>
          <p:cNvPr id="5" name="Text 1"/>
          <p:cNvSpPr txBox="1"/>
          <p:nvPr/>
        </p:nvSpPr>
        <p:spPr>
          <a:xfrm>
            <a:off x="548640" y="5486400"/>
            <a:ext cx="1836373" cy="777240"/>
          </a:xfrm>
          <a:prstGeom prst="rect">
            <a:avLst/>
          </a:prstGeom>
          <a:noFill/>
          <a:ln/>
        </p:spPr>
        <p:txBody>
          <a:bodyPr wrap="square" lIns="0" tIns="0" rIns="0" bIns="0" rtlCol="0" anchor="t"/>
          <a:lstStyle/>
          <a:p>
            <a:pPr marL="0" indent="0" algn="ctr">
              <a:buNone/>
            </a:pPr>
            <a:r>
              <a:rPr lang="en-US" sz="1600" b="1" dirty="0">
                <a:solidFill>
                  <a:schemeClr val="tx1"/>
                </a:solidFill>
              </a:rPr>
              <a:t>Home</a:t>
            </a:r>
            <a:endParaRPr lang="en-US" sz="1600" dirty="0"/>
          </a:p>
          <a:p>
            <a:pPr marL="0" indent="0" algn="ctr">
              <a:buNone/>
            </a:pPr>
            <a:r>
              <a:rPr lang="en-US" sz="1300" dirty="0">
                <a:solidFill>
                  <a:schemeClr val="accent6"/>
                </a:solidFill>
              </a:rPr>
              <a:t>Categories, featured gear, wishlist</a:t>
            </a:r>
            <a:endParaRPr lang="en-US" sz="1600" dirty="0"/>
          </a:p>
        </p:txBody>
      </p:sp>
      <p:pic>
        <p:nvPicPr>
          <p:cNvPr id="6" name="Hubs screen" descr="Hubs screen"/>
          <p:cNvPicPr>
            <a:picLocks noChangeAspect="1"/>
          </p:cNvPicPr>
          <p:nvPr/>
        </p:nvPicPr>
        <p:blipFill>
          <a:blip r:embed="rId4"/>
          <a:stretch>
            <a:fillRect/>
          </a:stretch>
        </p:blipFill>
        <p:spPr>
          <a:xfrm>
            <a:off x="2863151" y="1371600"/>
            <a:ext cx="1836373" cy="3977640"/>
          </a:xfrm>
          <a:prstGeom prst="rect">
            <a:avLst/>
          </a:prstGeom>
        </p:spPr>
      </p:pic>
      <p:sp>
        <p:nvSpPr>
          <p:cNvPr id="7" name="Text 2"/>
          <p:cNvSpPr txBox="1"/>
          <p:nvPr/>
        </p:nvSpPr>
        <p:spPr>
          <a:xfrm>
            <a:off x="2863151" y="5486400"/>
            <a:ext cx="1836373" cy="777240"/>
          </a:xfrm>
          <a:prstGeom prst="rect">
            <a:avLst/>
          </a:prstGeom>
          <a:noFill/>
          <a:ln/>
        </p:spPr>
        <p:txBody>
          <a:bodyPr wrap="square" lIns="0" tIns="0" rIns="0" bIns="0" rtlCol="0" anchor="t"/>
          <a:lstStyle/>
          <a:p>
            <a:pPr marL="0" indent="0" algn="ctr">
              <a:buNone/>
            </a:pPr>
            <a:r>
              <a:rPr lang="en-US" sz="1600" b="1" dirty="0">
                <a:solidFill>
                  <a:schemeClr val="tx1"/>
                </a:solidFill>
              </a:rPr>
              <a:t>Hubs</a:t>
            </a:r>
            <a:endParaRPr lang="en-US" sz="1600" dirty="0"/>
          </a:p>
          <a:p>
            <a:pPr marL="0" indent="0" algn="ctr">
              <a:buNone/>
            </a:pPr>
            <a:r>
              <a:rPr lang="en-US" sz="1300" dirty="0">
                <a:solidFill>
                  <a:schemeClr val="accent6"/>
                </a:solidFill>
              </a:rPr>
              <a:t>Map markers and nearby sheet</a:t>
            </a:r>
            <a:endParaRPr lang="en-US" sz="1600" dirty="0"/>
          </a:p>
        </p:txBody>
      </p:sp>
      <p:pic>
        <p:nvPicPr>
          <p:cNvPr id="8" name="Gears screen" descr="Gears screen"/>
          <p:cNvPicPr>
            <a:picLocks noChangeAspect="1"/>
          </p:cNvPicPr>
          <p:nvPr/>
        </p:nvPicPr>
        <p:blipFill>
          <a:blip r:embed="rId5"/>
          <a:stretch>
            <a:fillRect/>
          </a:stretch>
        </p:blipFill>
        <p:spPr>
          <a:xfrm>
            <a:off x="5177661" y="1371600"/>
            <a:ext cx="1836373" cy="3977640"/>
          </a:xfrm>
          <a:prstGeom prst="rect">
            <a:avLst/>
          </a:prstGeom>
        </p:spPr>
      </p:pic>
      <p:sp>
        <p:nvSpPr>
          <p:cNvPr id="9" name="Text 3"/>
          <p:cNvSpPr txBox="1"/>
          <p:nvPr/>
        </p:nvSpPr>
        <p:spPr>
          <a:xfrm>
            <a:off x="5177661" y="5486400"/>
            <a:ext cx="1836373" cy="777240"/>
          </a:xfrm>
          <a:prstGeom prst="rect">
            <a:avLst/>
          </a:prstGeom>
          <a:noFill/>
          <a:ln/>
        </p:spPr>
        <p:txBody>
          <a:bodyPr wrap="square" lIns="0" tIns="0" rIns="0" bIns="0" rtlCol="0" anchor="t"/>
          <a:lstStyle/>
          <a:p>
            <a:pPr marL="0" indent="0" algn="ctr">
              <a:buNone/>
            </a:pPr>
            <a:r>
              <a:rPr lang="en-US" sz="1600" b="1" dirty="0">
                <a:solidFill>
                  <a:schemeClr val="tx1"/>
                </a:solidFill>
              </a:rPr>
              <a:t>Gears</a:t>
            </a:r>
            <a:endParaRPr lang="en-US" sz="1600" dirty="0"/>
          </a:p>
          <a:p>
            <a:pPr marL="0" indent="0" algn="ctr">
              <a:buNone/>
            </a:pPr>
            <a:r>
              <a:rPr lang="en-US" sz="1300" dirty="0">
                <a:solidFill>
                  <a:schemeClr val="accent6"/>
                </a:solidFill>
              </a:rPr>
              <a:t>Filters, shake to refresh, double-tap to save</a:t>
            </a:r>
            <a:endParaRPr lang="en-US" sz="1600" dirty="0"/>
          </a:p>
        </p:txBody>
      </p:sp>
      <p:pic>
        <p:nvPicPr>
          <p:cNvPr id="10" name="Cart screen" descr="Cart screen"/>
          <p:cNvPicPr>
            <a:picLocks noChangeAspect="1"/>
          </p:cNvPicPr>
          <p:nvPr/>
        </p:nvPicPr>
        <p:blipFill>
          <a:blip r:embed="rId6"/>
          <a:stretch>
            <a:fillRect/>
          </a:stretch>
        </p:blipFill>
        <p:spPr>
          <a:xfrm>
            <a:off x="7492172" y="1371600"/>
            <a:ext cx="1836373" cy="3977640"/>
          </a:xfrm>
          <a:prstGeom prst="rect">
            <a:avLst/>
          </a:prstGeom>
        </p:spPr>
      </p:pic>
      <p:sp>
        <p:nvSpPr>
          <p:cNvPr id="11" name="Text 4"/>
          <p:cNvSpPr txBox="1"/>
          <p:nvPr/>
        </p:nvSpPr>
        <p:spPr>
          <a:xfrm>
            <a:off x="7492172" y="5486400"/>
            <a:ext cx="1836373" cy="777240"/>
          </a:xfrm>
          <a:prstGeom prst="rect">
            <a:avLst/>
          </a:prstGeom>
          <a:noFill/>
          <a:ln/>
        </p:spPr>
        <p:txBody>
          <a:bodyPr wrap="square" lIns="0" tIns="0" rIns="0" bIns="0" rtlCol="0" anchor="t"/>
          <a:lstStyle/>
          <a:p>
            <a:pPr marL="0" indent="0" algn="ctr">
              <a:buNone/>
            </a:pPr>
            <a:r>
              <a:rPr lang="en-US" sz="1600" b="1" dirty="0">
                <a:solidFill>
                  <a:schemeClr val="tx1"/>
                </a:solidFill>
              </a:rPr>
              <a:t>Cart</a:t>
            </a:r>
            <a:endParaRPr lang="en-US" sz="1600" dirty="0"/>
          </a:p>
          <a:p>
            <a:pPr marL="0" indent="0" algn="ctr">
              <a:buNone/>
            </a:pPr>
            <a:r>
              <a:rPr lang="en-US" sz="1300" dirty="0">
                <a:solidFill>
                  <a:schemeClr val="accent6"/>
                </a:solidFill>
              </a:rPr>
              <a:t>Date range and quantities</a:t>
            </a:r>
            <a:endParaRPr lang="en-US" sz="1600" dirty="0"/>
          </a:p>
        </p:txBody>
      </p:sp>
      <p:pic>
        <p:nvPicPr>
          <p:cNvPr id="12" name="Checkout screen" descr="Checkout screen"/>
          <p:cNvPicPr>
            <a:picLocks noChangeAspect="1"/>
          </p:cNvPicPr>
          <p:nvPr/>
        </p:nvPicPr>
        <p:blipFill>
          <a:blip r:embed="rId7"/>
          <a:stretch>
            <a:fillRect/>
          </a:stretch>
        </p:blipFill>
        <p:spPr>
          <a:xfrm>
            <a:off x="9806682" y="1371600"/>
            <a:ext cx="1836373" cy="3977640"/>
          </a:xfrm>
          <a:prstGeom prst="rect">
            <a:avLst/>
          </a:prstGeom>
        </p:spPr>
      </p:pic>
      <p:sp>
        <p:nvSpPr>
          <p:cNvPr id="13" name="Text 5"/>
          <p:cNvSpPr txBox="1"/>
          <p:nvPr/>
        </p:nvSpPr>
        <p:spPr>
          <a:xfrm>
            <a:off x="9806682" y="5486400"/>
            <a:ext cx="1836373" cy="777240"/>
          </a:xfrm>
          <a:prstGeom prst="rect">
            <a:avLst/>
          </a:prstGeom>
          <a:noFill/>
          <a:ln/>
        </p:spPr>
        <p:txBody>
          <a:bodyPr wrap="square" lIns="0" tIns="0" rIns="0" bIns="0" rtlCol="0" anchor="t"/>
          <a:lstStyle/>
          <a:p>
            <a:pPr marL="0" indent="0" algn="ctr">
              <a:buNone/>
            </a:pPr>
            <a:r>
              <a:rPr lang="en-US" sz="1600" b="1" dirty="0">
                <a:solidFill>
                  <a:schemeClr val="tx1"/>
                </a:solidFill>
              </a:rPr>
              <a:t>Checkout</a:t>
            </a:r>
            <a:endParaRPr lang="en-US" sz="1600" dirty="0"/>
          </a:p>
          <a:p>
            <a:pPr marL="0" indent="0" algn="ctr">
              <a:buNone/>
            </a:pPr>
            <a:r>
              <a:rPr lang="en-US" sz="1300" dirty="0">
                <a:solidFill>
                  <a:schemeClr val="accent6"/>
                </a:solidFill>
              </a:rPr>
              <a:t>Hub, billing and payment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8640"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Process Flow</a:t>
            </a:r>
            <a:endParaRPr lang="en-US" sz="3400" dirty="0"/>
          </a:p>
        </p:txBody>
      </p:sp>
      <p:sp>
        <p:nvSpPr>
          <p:cNvPr id="4" name="Step card 1"/>
          <p:cNvSpPr/>
          <p:nvPr/>
        </p:nvSpPr>
        <p:spPr>
          <a:xfrm>
            <a:off x="548640" y="1417320"/>
            <a:ext cx="3566160" cy="2148840"/>
          </a:xfrm>
          <a:prstGeom prst="roundRect">
            <a:avLst>
              <a:gd name="adj" fmla="val 5106"/>
            </a:avLst>
          </a:prstGeom>
          <a:solidFill>
            <a:schemeClr val="bg2"/>
          </a:solidFill>
          <a:ln/>
        </p:spPr>
        <p:txBody>
          <a:bodyPr/>
          <a:lstStyle/>
          <a:p>
            <a:endParaRPr lang="en-CA"/>
          </a:p>
        </p:txBody>
      </p:sp>
      <p:sp>
        <p:nvSpPr>
          <p:cNvPr id="5" name="Step icon 1 circle"/>
          <p:cNvSpPr/>
          <p:nvPr/>
        </p:nvSpPr>
        <p:spPr>
          <a:xfrm>
            <a:off x="822960" y="1691640"/>
            <a:ext cx="685800" cy="685800"/>
          </a:xfrm>
          <a:prstGeom prst="ellipse">
            <a:avLst/>
          </a:prstGeom>
          <a:solidFill>
            <a:srgbClr val="416834"/>
          </a:solidFill>
          <a:ln/>
        </p:spPr>
        <p:txBody>
          <a:bodyPr/>
          <a:lstStyle/>
          <a:p>
            <a:endParaRPr lang="en-CA"/>
          </a:p>
        </p:txBody>
      </p:sp>
      <p:pic>
        <p:nvPicPr>
          <p:cNvPr id="6" name="Step icon 1" descr="Step icon 1"/>
          <p:cNvPicPr>
            <a:picLocks noChangeAspect="1"/>
          </p:cNvPicPr>
          <p:nvPr/>
        </p:nvPicPr>
        <p:blipFill>
          <a:blip r:embed="rId3"/>
          <a:stretch>
            <a:fillRect/>
          </a:stretch>
        </p:blipFill>
        <p:spPr>
          <a:xfrm>
            <a:off x="994410" y="1863090"/>
            <a:ext cx="342900" cy="342900"/>
          </a:xfrm>
          <a:prstGeom prst="rect">
            <a:avLst/>
          </a:prstGeom>
        </p:spPr>
      </p:pic>
      <p:sp>
        <p:nvSpPr>
          <p:cNvPr id="7" name="Text 3"/>
          <p:cNvSpPr txBox="1"/>
          <p:nvPr/>
        </p:nvSpPr>
        <p:spPr>
          <a:xfrm>
            <a:off x="3017520" y="1691640"/>
            <a:ext cx="822960" cy="685800"/>
          </a:xfrm>
          <a:prstGeom prst="rect">
            <a:avLst/>
          </a:prstGeom>
          <a:noFill/>
          <a:ln/>
        </p:spPr>
        <p:txBody>
          <a:bodyPr wrap="square" lIns="0" tIns="0" rIns="0" bIns="0" rtlCol="0" anchor="ctr"/>
          <a:lstStyle/>
          <a:p>
            <a:pPr marL="0" indent="0" algn="r">
              <a:buNone/>
            </a:pPr>
            <a:r>
              <a:rPr lang="en-US" sz="3000" b="1" dirty="0">
                <a:solidFill>
                  <a:schemeClr val="accent2"/>
                </a:solidFill>
                <a:latin typeface="Cambria" pitchFamily="34" charset="0"/>
                <a:ea typeface="Cambria" pitchFamily="34" charset="-122"/>
                <a:cs typeface="Cambria" pitchFamily="34" charset="-120"/>
              </a:rPr>
              <a:t>01</a:t>
            </a:r>
            <a:endParaRPr lang="en-US" sz="3000" dirty="0"/>
          </a:p>
        </p:txBody>
      </p:sp>
      <p:sp>
        <p:nvSpPr>
          <p:cNvPr id="8" name="Text 4"/>
          <p:cNvSpPr txBox="1"/>
          <p:nvPr/>
        </p:nvSpPr>
        <p:spPr>
          <a:xfrm>
            <a:off x="822960" y="2514600"/>
            <a:ext cx="3017520" cy="365760"/>
          </a:xfrm>
          <a:prstGeom prst="rect">
            <a:avLst/>
          </a:prstGeom>
          <a:noFill/>
          <a:ln/>
        </p:spPr>
        <p:txBody>
          <a:bodyPr wrap="square" lIns="0" tIns="0" rIns="0" bIns="0" rtlCol="0" anchor="t"/>
          <a:lstStyle/>
          <a:p>
            <a:pPr marL="0" indent="0">
              <a:buNone/>
            </a:pPr>
            <a:r>
              <a:rPr lang="en-US" sz="2000" b="1" dirty="0">
                <a:solidFill>
                  <a:schemeClr val="tx2"/>
                </a:solidFill>
              </a:rPr>
              <a:t>Sign in</a:t>
            </a:r>
            <a:endParaRPr lang="en-US" sz="2000" dirty="0"/>
          </a:p>
        </p:txBody>
      </p:sp>
      <p:sp>
        <p:nvSpPr>
          <p:cNvPr id="9" name="Text 5"/>
          <p:cNvSpPr txBox="1"/>
          <p:nvPr/>
        </p:nvSpPr>
        <p:spPr>
          <a:xfrm>
            <a:off x="822960" y="2898648"/>
            <a:ext cx="3017520" cy="594360"/>
          </a:xfrm>
          <a:prstGeom prst="rect">
            <a:avLst/>
          </a:prstGeom>
          <a:noFill/>
          <a:ln/>
        </p:spPr>
        <p:txBody>
          <a:bodyPr wrap="square" lIns="0" tIns="0" rIns="0" bIns="0" rtlCol="0" anchor="t"/>
          <a:lstStyle/>
          <a:p>
            <a:pPr marL="0" indent="0">
              <a:buNone/>
            </a:pPr>
            <a:r>
              <a:rPr lang="en-US" sz="1400" dirty="0">
                <a:solidFill>
                  <a:schemeClr val="tx1"/>
                </a:solidFill>
              </a:rPr>
              <a:t>Firebase email login or sign-up, session kept in SharedPreferences</a:t>
            </a:r>
            <a:endParaRPr lang="en-US" sz="1400" dirty="0"/>
          </a:p>
        </p:txBody>
      </p:sp>
      <p:sp>
        <p:nvSpPr>
          <p:cNvPr id="10" name="Step card 2"/>
          <p:cNvSpPr/>
          <p:nvPr/>
        </p:nvSpPr>
        <p:spPr>
          <a:xfrm>
            <a:off x="4312768" y="1417320"/>
            <a:ext cx="3566160" cy="2148840"/>
          </a:xfrm>
          <a:prstGeom prst="roundRect">
            <a:avLst>
              <a:gd name="adj" fmla="val 5106"/>
            </a:avLst>
          </a:prstGeom>
          <a:solidFill>
            <a:schemeClr val="bg2"/>
          </a:solidFill>
          <a:ln/>
        </p:spPr>
        <p:txBody>
          <a:bodyPr/>
          <a:lstStyle/>
          <a:p>
            <a:endParaRPr lang="en-CA"/>
          </a:p>
        </p:txBody>
      </p:sp>
      <p:sp>
        <p:nvSpPr>
          <p:cNvPr id="11" name="Step icon 2 circle"/>
          <p:cNvSpPr/>
          <p:nvPr/>
        </p:nvSpPr>
        <p:spPr>
          <a:xfrm>
            <a:off x="4587088" y="1691640"/>
            <a:ext cx="685800" cy="685800"/>
          </a:xfrm>
          <a:prstGeom prst="ellipse">
            <a:avLst/>
          </a:prstGeom>
          <a:solidFill>
            <a:srgbClr val="416834"/>
          </a:solidFill>
          <a:ln/>
        </p:spPr>
        <p:txBody>
          <a:bodyPr/>
          <a:lstStyle/>
          <a:p>
            <a:endParaRPr lang="en-CA"/>
          </a:p>
        </p:txBody>
      </p:sp>
      <p:pic>
        <p:nvPicPr>
          <p:cNvPr id="12" name="Step icon 2" descr="Step icon 2"/>
          <p:cNvPicPr>
            <a:picLocks noChangeAspect="1"/>
          </p:cNvPicPr>
          <p:nvPr/>
        </p:nvPicPr>
        <p:blipFill>
          <a:blip r:embed="rId4"/>
          <a:stretch>
            <a:fillRect/>
          </a:stretch>
        </p:blipFill>
        <p:spPr>
          <a:xfrm>
            <a:off x="4758538" y="1863090"/>
            <a:ext cx="342900" cy="342900"/>
          </a:xfrm>
          <a:prstGeom prst="rect">
            <a:avLst/>
          </a:prstGeom>
        </p:spPr>
      </p:pic>
      <p:sp>
        <p:nvSpPr>
          <p:cNvPr id="13" name="Text 8"/>
          <p:cNvSpPr txBox="1"/>
          <p:nvPr/>
        </p:nvSpPr>
        <p:spPr>
          <a:xfrm>
            <a:off x="6781648" y="1691640"/>
            <a:ext cx="822960" cy="685800"/>
          </a:xfrm>
          <a:prstGeom prst="rect">
            <a:avLst/>
          </a:prstGeom>
          <a:noFill/>
          <a:ln/>
        </p:spPr>
        <p:txBody>
          <a:bodyPr wrap="square" lIns="0" tIns="0" rIns="0" bIns="0" rtlCol="0" anchor="ctr"/>
          <a:lstStyle/>
          <a:p>
            <a:pPr marL="0" indent="0" algn="r">
              <a:buNone/>
            </a:pPr>
            <a:r>
              <a:rPr lang="en-US" sz="3000" b="1" dirty="0">
                <a:solidFill>
                  <a:schemeClr val="accent2"/>
                </a:solidFill>
                <a:latin typeface="Cambria" pitchFamily="34" charset="0"/>
                <a:ea typeface="Cambria" pitchFamily="34" charset="-122"/>
                <a:cs typeface="Cambria" pitchFamily="34" charset="-120"/>
              </a:rPr>
              <a:t>02</a:t>
            </a:r>
            <a:endParaRPr lang="en-US" sz="3000" dirty="0"/>
          </a:p>
        </p:txBody>
      </p:sp>
      <p:sp>
        <p:nvSpPr>
          <p:cNvPr id="14" name="Text 9"/>
          <p:cNvSpPr txBox="1"/>
          <p:nvPr/>
        </p:nvSpPr>
        <p:spPr>
          <a:xfrm>
            <a:off x="4587088" y="2514600"/>
            <a:ext cx="3017520" cy="365760"/>
          </a:xfrm>
          <a:prstGeom prst="rect">
            <a:avLst/>
          </a:prstGeom>
          <a:noFill/>
          <a:ln/>
        </p:spPr>
        <p:txBody>
          <a:bodyPr wrap="square" lIns="0" tIns="0" rIns="0" bIns="0" rtlCol="0" anchor="t"/>
          <a:lstStyle/>
          <a:p>
            <a:pPr marL="0" indent="0">
              <a:buNone/>
            </a:pPr>
            <a:r>
              <a:rPr lang="en-US" sz="2000" b="1" dirty="0">
                <a:solidFill>
                  <a:schemeClr val="tx2"/>
                </a:solidFill>
              </a:rPr>
              <a:t>Find a hub</a:t>
            </a:r>
            <a:endParaRPr lang="en-US" sz="2000" dirty="0"/>
          </a:p>
        </p:txBody>
      </p:sp>
      <p:sp>
        <p:nvSpPr>
          <p:cNvPr id="15" name="Text 10"/>
          <p:cNvSpPr txBox="1"/>
          <p:nvPr/>
        </p:nvSpPr>
        <p:spPr>
          <a:xfrm>
            <a:off x="4587088" y="2898648"/>
            <a:ext cx="3017520" cy="594360"/>
          </a:xfrm>
          <a:prstGeom prst="rect">
            <a:avLst/>
          </a:prstGeom>
          <a:noFill/>
          <a:ln/>
        </p:spPr>
        <p:txBody>
          <a:bodyPr wrap="square" lIns="0" tIns="0" rIns="0" bIns="0" rtlCol="0" anchor="t"/>
          <a:lstStyle/>
          <a:p>
            <a:pPr marL="0" indent="0">
              <a:buNone/>
            </a:pPr>
            <a:r>
              <a:rPr lang="en-US" sz="1400" dirty="0">
                <a:solidFill>
                  <a:schemeClr val="tx1"/>
                </a:solidFill>
              </a:rPr>
              <a:t>Google Map with markers, distances and a nearby-hubs sheet</a:t>
            </a:r>
            <a:endParaRPr lang="en-US" sz="1400" dirty="0"/>
          </a:p>
        </p:txBody>
      </p:sp>
      <p:sp>
        <p:nvSpPr>
          <p:cNvPr id="16" name="Step card 3"/>
          <p:cNvSpPr/>
          <p:nvPr/>
        </p:nvSpPr>
        <p:spPr>
          <a:xfrm>
            <a:off x="8076895" y="1417320"/>
            <a:ext cx="3566160" cy="2148840"/>
          </a:xfrm>
          <a:prstGeom prst="roundRect">
            <a:avLst>
              <a:gd name="adj" fmla="val 5106"/>
            </a:avLst>
          </a:prstGeom>
          <a:solidFill>
            <a:schemeClr val="bg2"/>
          </a:solidFill>
          <a:ln/>
        </p:spPr>
        <p:txBody>
          <a:bodyPr/>
          <a:lstStyle/>
          <a:p>
            <a:endParaRPr lang="en-CA"/>
          </a:p>
        </p:txBody>
      </p:sp>
      <p:sp>
        <p:nvSpPr>
          <p:cNvPr id="17" name="Step icon 3 circle"/>
          <p:cNvSpPr/>
          <p:nvPr/>
        </p:nvSpPr>
        <p:spPr>
          <a:xfrm>
            <a:off x="8351215" y="1691640"/>
            <a:ext cx="685800" cy="685800"/>
          </a:xfrm>
          <a:prstGeom prst="ellipse">
            <a:avLst/>
          </a:prstGeom>
          <a:solidFill>
            <a:srgbClr val="416834"/>
          </a:solidFill>
          <a:ln/>
        </p:spPr>
        <p:txBody>
          <a:bodyPr/>
          <a:lstStyle/>
          <a:p>
            <a:endParaRPr lang="en-CA"/>
          </a:p>
        </p:txBody>
      </p:sp>
      <p:pic>
        <p:nvPicPr>
          <p:cNvPr id="18" name="Step icon 3" descr="Step icon 3"/>
          <p:cNvPicPr>
            <a:picLocks noChangeAspect="1"/>
          </p:cNvPicPr>
          <p:nvPr/>
        </p:nvPicPr>
        <p:blipFill>
          <a:blip r:embed="rId5"/>
          <a:stretch>
            <a:fillRect/>
          </a:stretch>
        </p:blipFill>
        <p:spPr>
          <a:xfrm>
            <a:off x="8522665" y="1863090"/>
            <a:ext cx="342900" cy="342900"/>
          </a:xfrm>
          <a:prstGeom prst="rect">
            <a:avLst/>
          </a:prstGeom>
        </p:spPr>
      </p:pic>
      <p:sp>
        <p:nvSpPr>
          <p:cNvPr id="19" name="Text 13"/>
          <p:cNvSpPr txBox="1"/>
          <p:nvPr/>
        </p:nvSpPr>
        <p:spPr>
          <a:xfrm>
            <a:off x="10545775" y="1691640"/>
            <a:ext cx="822960" cy="685800"/>
          </a:xfrm>
          <a:prstGeom prst="rect">
            <a:avLst/>
          </a:prstGeom>
          <a:noFill/>
          <a:ln/>
        </p:spPr>
        <p:txBody>
          <a:bodyPr wrap="square" lIns="0" tIns="0" rIns="0" bIns="0" rtlCol="0" anchor="ctr"/>
          <a:lstStyle/>
          <a:p>
            <a:pPr marL="0" indent="0" algn="r">
              <a:buNone/>
            </a:pPr>
            <a:r>
              <a:rPr lang="en-US" sz="3000" b="1" dirty="0">
                <a:solidFill>
                  <a:schemeClr val="accent2"/>
                </a:solidFill>
                <a:latin typeface="Cambria" pitchFamily="34" charset="0"/>
                <a:ea typeface="Cambria" pitchFamily="34" charset="-122"/>
                <a:cs typeface="Cambria" pitchFamily="34" charset="-120"/>
              </a:rPr>
              <a:t>03</a:t>
            </a:r>
            <a:endParaRPr lang="en-US" sz="3000" dirty="0"/>
          </a:p>
        </p:txBody>
      </p:sp>
      <p:sp>
        <p:nvSpPr>
          <p:cNvPr id="20" name="Text 14"/>
          <p:cNvSpPr txBox="1"/>
          <p:nvPr/>
        </p:nvSpPr>
        <p:spPr>
          <a:xfrm>
            <a:off x="8351215" y="2514600"/>
            <a:ext cx="3017520" cy="365760"/>
          </a:xfrm>
          <a:prstGeom prst="rect">
            <a:avLst/>
          </a:prstGeom>
          <a:noFill/>
          <a:ln/>
        </p:spPr>
        <p:txBody>
          <a:bodyPr wrap="square" lIns="0" tIns="0" rIns="0" bIns="0" rtlCol="0" anchor="t"/>
          <a:lstStyle/>
          <a:p>
            <a:pPr marL="0" indent="0">
              <a:buNone/>
            </a:pPr>
            <a:r>
              <a:rPr lang="en-US" sz="2000" b="1" dirty="0">
                <a:solidFill>
                  <a:schemeClr val="tx2"/>
                </a:solidFill>
              </a:rPr>
              <a:t>Browse gear</a:t>
            </a:r>
            <a:endParaRPr lang="en-US" sz="2000" dirty="0"/>
          </a:p>
        </p:txBody>
      </p:sp>
      <p:sp>
        <p:nvSpPr>
          <p:cNvPr id="21" name="Text 15"/>
          <p:cNvSpPr txBox="1"/>
          <p:nvPr/>
        </p:nvSpPr>
        <p:spPr>
          <a:xfrm>
            <a:off x="8351215" y="2898648"/>
            <a:ext cx="3017520" cy="594360"/>
          </a:xfrm>
          <a:prstGeom prst="rect">
            <a:avLst/>
          </a:prstGeom>
          <a:noFill/>
          <a:ln/>
        </p:spPr>
        <p:txBody>
          <a:bodyPr wrap="square" lIns="0" tIns="0" rIns="0" bIns="0" rtlCol="0" anchor="t"/>
          <a:lstStyle/>
          <a:p>
            <a:pPr marL="0" indent="0">
              <a:buNone/>
            </a:pPr>
            <a:r>
              <a:rPr lang="en-US" sz="1400" dirty="0">
                <a:solidFill>
                  <a:schemeClr val="tx1"/>
                </a:solidFill>
              </a:rPr>
              <a:t>Chips, price slider, shake to refresh, double-tap to save</a:t>
            </a:r>
            <a:endParaRPr lang="en-US" sz="1400" dirty="0"/>
          </a:p>
        </p:txBody>
      </p:sp>
      <p:sp>
        <p:nvSpPr>
          <p:cNvPr id="22" name="Step card 4"/>
          <p:cNvSpPr/>
          <p:nvPr/>
        </p:nvSpPr>
        <p:spPr>
          <a:xfrm>
            <a:off x="548640" y="3794760"/>
            <a:ext cx="3566160" cy="2148840"/>
          </a:xfrm>
          <a:prstGeom prst="roundRect">
            <a:avLst>
              <a:gd name="adj" fmla="val 5106"/>
            </a:avLst>
          </a:prstGeom>
          <a:solidFill>
            <a:schemeClr val="bg2"/>
          </a:solidFill>
          <a:ln/>
        </p:spPr>
        <p:txBody>
          <a:bodyPr/>
          <a:lstStyle/>
          <a:p>
            <a:endParaRPr lang="en-CA"/>
          </a:p>
        </p:txBody>
      </p:sp>
      <p:sp>
        <p:nvSpPr>
          <p:cNvPr id="23" name="Step icon 4 circle"/>
          <p:cNvSpPr/>
          <p:nvPr/>
        </p:nvSpPr>
        <p:spPr>
          <a:xfrm>
            <a:off x="822960" y="4069080"/>
            <a:ext cx="685800" cy="685800"/>
          </a:xfrm>
          <a:prstGeom prst="ellipse">
            <a:avLst/>
          </a:prstGeom>
          <a:solidFill>
            <a:srgbClr val="416834"/>
          </a:solidFill>
          <a:ln/>
        </p:spPr>
        <p:txBody>
          <a:bodyPr/>
          <a:lstStyle/>
          <a:p>
            <a:endParaRPr lang="en-CA"/>
          </a:p>
        </p:txBody>
      </p:sp>
      <p:pic>
        <p:nvPicPr>
          <p:cNvPr id="24" name="Step icon 4" descr="Step icon 4"/>
          <p:cNvPicPr>
            <a:picLocks noChangeAspect="1"/>
          </p:cNvPicPr>
          <p:nvPr/>
        </p:nvPicPr>
        <p:blipFill>
          <a:blip r:embed="rId6"/>
          <a:stretch>
            <a:fillRect/>
          </a:stretch>
        </p:blipFill>
        <p:spPr>
          <a:xfrm>
            <a:off x="994410" y="4240530"/>
            <a:ext cx="342900" cy="342900"/>
          </a:xfrm>
          <a:prstGeom prst="rect">
            <a:avLst/>
          </a:prstGeom>
        </p:spPr>
      </p:pic>
      <p:sp>
        <p:nvSpPr>
          <p:cNvPr id="25" name="Text 18"/>
          <p:cNvSpPr txBox="1"/>
          <p:nvPr/>
        </p:nvSpPr>
        <p:spPr>
          <a:xfrm>
            <a:off x="3017520" y="4069080"/>
            <a:ext cx="822960" cy="685800"/>
          </a:xfrm>
          <a:prstGeom prst="rect">
            <a:avLst/>
          </a:prstGeom>
          <a:noFill/>
          <a:ln/>
        </p:spPr>
        <p:txBody>
          <a:bodyPr wrap="square" lIns="0" tIns="0" rIns="0" bIns="0" rtlCol="0" anchor="ctr"/>
          <a:lstStyle/>
          <a:p>
            <a:pPr marL="0" indent="0" algn="r">
              <a:buNone/>
            </a:pPr>
            <a:r>
              <a:rPr lang="en-US" sz="3000" b="1" dirty="0">
                <a:solidFill>
                  <a:schemeClr val="accent2"/>
                </a:solidFill>
                <a:latin typeface="Cambria" pitchFamily="34" charset="0"/>
                <a:ea typeface="Cambria" pitchFamily="34" charset="-122"/>
                <a:cs typeface="Cambria" pitchFamily="34" charset="-120"/>
              </a:rPr>
              <a:t>04</a:t>
            </a:r>
            <a:endParaRPr lang="en-US" sz="3000" dirty="0"/>
          </a:p>
        </p:txBody>
      </p:sp>
      <p:sp>
        <p:nvSpPr>
          <p:cNvPr id="26" name="Text 19"/>
          <p:cNvSpPr txBox="1"/>
          <p:nvPr/>
        </p:nvSpPr>
        <p:spPr>
          <a:xfrm>
            <a:off x="822960" y="4892040"/>
            <a:ext cx="3017520" cy="365760"/>
          </a:xfrm>
          <a:prstGeom prst="rect">
            <a:avLst/>
          </a:prstGeom>
          <a:noFill/>
          <a:ln/>
        </p:spPr>
        <p:txBody>
          <a:bodyPr wrap="square" lIns="0" tIns="0" rIns="0" bIns="0" rtlCol="0" anchor="t"/>
          <a:lstStyle/>
          <a:p>
            <a:pPr marL="0" indent="0">
              <a:buNone/>
            </a:pPr>
            <a:r>
              <a:rPr lang="en-US" sz="2000" b="1" dirty="0">
                <a:solidFill>
                  <a:schemeClr val="tx2"/>
                </a:solidFill>
              </a:rPr>
              <a:t>Cart and dates</a:t>
            </a:r>
            <a:endParaRPr lang="en-US" sz="2000" dirty="0"/>
          </a:p>
        </p:txBody>
      </p:sp>
      <p:sp>
        <p:nvSpPr>
          <p:cNvPr id="27" name="Text 20"/>
          <p:cNvSpPr txBox="1"/>
          <p:nvPr/>
        </p:nvSpPr>
        <p:spPr>
          <a:xfrm>
            <a:off x="822960" y="5276088"/>
            <a:ext cx="3017520" cy="594360"/>
          </a:xfrm>
          <a:prstGeom prst="rect">
            <a:avLst/>
          </a:prstGeom>
          <a:noFill/>
          <a:ln/>
        </p:spPr>
        <p:txBody>
          <a:bodyPr wrap="square" lIns="0" tIns="0" rIns="0" bIns="0" rtlCol="0" anchor="t"/>
          <a:lstStyle/>
          <a:p>
            <a:pPr marL="0" indent="0">
              <a:buNone/>
            </a:pPr>
            <a:r>
              <a:rPr lang="en-US" sz="1400" dirty="0">
                <a:solidFill>
                  <a:schemeClr val="tx1"/>
                </a:solidFill>
              </a:rPr>
              <a:t>Date-range picker, quantity stepper, totals with deposit</a:t>
            </a:r>
            <a:endParaRPr lang="en-US" sz="1400" dirty="0"/>
          </a:p>
        </p:txBody>
      </p:sp>
      <p:sp>
        <p:nvSpPr>
          <p:cNvPr id="28" name="Step card 5"/>
          <p:cNvSpPr/>
          <p:nvPr/>
        </p:nvSpPr>
        <p:spPr>
          <a:xfrm>
            <a:off x="4312768" y="3794760"/>
            <a:ext cx="3566160" cy="2148840"/>
          </a:xfrm>
          <a:prstGeom prst="roundRect">
            <a:avLst>
              <a:gd name="adj" fmla="val 5106"/>
            </a:avLst>
          </a:prstGeom>
          <a:solidFill>
            <a:schemeClr val="bg2"/>
          </a:solidFill>
          <a:ln/>
        </p:spPr>
        <p:txBody>
          <a:bodyPr/>
          <a:lstStyle/>
          <a:p>
            <a:endParaRPr lang="en-CA"/>
          </a:p>
        </p:txBody>
      </p:sp>
      <p:sp>
        <p:nvSpPr>
          <p:cNvPr id="29" name="Step icon 5 circle"/>
          <p:cNvSpPr/>
          <p:nvPr/>
        </p:nvSpPr>
        <p:spPr>
          <a:xfrm>
            <a:off x="4587088" y="4069080"/>
            <a:ext cx="685800" cy="685800"/>
          </a:xfrm>
          <a:prstGeom prst="ellipse">
            <a:avLst/>
          </a:prstGeom>
          <a:solidFill>
            <a:srgbClr val="416834"/>
          </a:solidFill>
          <a:ln/>
        </p:spPr>
        <p:txBody>
          <a:bodyPr/>
          <a:lstStyle/>
          <a:p>
            <a:endParaRPr lang="en-CA"/>
          </a:p>
        </p:txBody>
      </p:sp>
      <p:pic>
        <p:nvPicPr>
          <p:cNvPr id="30" name="Step icon 5" descr="Step icon 5"/>
          <p:cNvPicPr>
            <a:picLocks noChangeAspect="1"/>
          </p:cNvPicPr>
          <p:nvPr/>
        </p:nvPicPr>
        <p:blipFill>
          <a:blip r:embed="rId7"/>
          <a:stretch>
            <a:fillRect/>
          </a:stretch>
        </p:blipFill>
        <p:spPr>
          <a:xfrm>
            <a:off x="4758538" y="4240530"/>
            <a:ext cx="342900" cy="342900"/>
          </a:xfrm>
          <a:prstGeom prst="rect">
            <a:avLst/>
          </a:prstGeom>
        </p:spPr>
      </p:pic>
      <p:sp>
        <p:nvSpPr>
          <p:cNvPr id="31" name="Text 23"/>
          <p:cNvSpPr txBox="1"/>
          <p:nvPr/>
        </p:nvSpPr>
        <p:spPr>
          <a:xfrm>
            <a:off x="6781648" y="4069080"/>
            <a:ext cx="822960" cy="685800"/>
          </a:xfrm>
          <a:prstGeom prst="rect">
            <a:avLst/>
          </a:prstGeom>
          <a:noFill/>
          <a:ln/>
        </p:spPr>
        <p:txBody>
          <a:bodyPr wrap="square" lIns="0" tIns="0" rIns="0" bIns="0" rtlCol="0" anchor="ctr"/>
          <a:lstStyle/>
          <a:p>
            <a:pPr marL="0" indent="0" algn="r">
              <a:buNone/>
            </a:pPr>
            <a:r>
              <a:rPr lang="en-US" sz="3000" b="1" dirty="0">
                <a:solidFill>
                  <a:schemeClr val="accent2"/>
                </a:solidFill>
                <a:latin typeface="Cambria" pitchFamily="34" charset="0"/>
                <a:ea typeface="Cambria" pitchFamily="34" charset="-122"/>
                <a:cs typeface="Cambria" pitchFamily="34" charset="-120"/>
              </a:rPr>
              <a:t>05</a:t>
            </a:r>
            <a:endParaRPr lang="en-US" sz="3000" dirty="0"/>
          </a:p>
        </p:txBody>
      </p:sp>
      <p:sp>
        <p:nvSpPr>
          <p:cNvPr id="32" name="Text 24"/>
          <p:cNvSpPr txBox="1"/>
          <p:nvPr/>
        </p:nvSpPr>
        <p:spPr>
          <a:xfrm>
            <a:off x="4587088" y="4892040"/>
            <a:ext cx="3017520" cy="365760"/>
          </a:xfrm>
          <a:prstGeom prst="rect">
            <a:avLst/>
          </a:prstGeom>
          <a:noFill/>
          <a:ln/>
        </p:spPr>
        <p:txBody>
          <a:bodyPr wrap="square" lIns="0" tIns="0" rIns="0" bIns="0" rtlCol="0" anchor="t"/>
          <a:lstStyle/>
          <a:p>
            <a:pPr marL="0" indent="0">
              <a:buNone/>
            </a:pPr>
            <a:r>
              <a:rPr lang="en-US" sz="2000" b="1" dirty="0">
                <a:solidFill>
                  <a:schemeClr val="tx2"/>
                </a:solidFill>
              </a:rPr>
              <a:t>Confirm and pay</a:t>
            </a:r>
            <a:endParaRPr lang="en-US" sz="2000" dirty="0"/>
          </a:p>
        </p:txBody>
      </p:sp>
      <p:sp>
        <p:nvSpPr>
          <p:cNvPr id="33" name="Text 25"/>
          <p:cNvSpPr txBox="1"/>
          <p:nvPr/>
        </p:nvSpPr>
        <p:spPr>
          <a:xfrm>
            <a:off x="4587088" y="5276088"/>
            <a:ext cx="3017520" cy="594360"/>
          </a:xfrm>
          <a:prstGeom prst="rect">
            <a:avLst/>
          </a:prstGeom>
          <a:noFill/>
          <a:ln/>
        </p:spPr>
        <p:txBody>
          <a:bodyPr wrap="square" lIns="0" tIns="0" rIns="0" bIns="0" rtlCol="0" anchor="t"/>
          <a:lstStyle/>
          <a:p>
            <a:pPr marL="0" indent="0">
              <a:buNone/>
            </a:pPr>
            <a:r>
              <a:rPr lang="en-US" sz="1400" dirty="0">
                <a:solidFill>
                  <a:schemeClr val="tx1"/>
                </a:solidFill>
              </a:rPr>
              <a:t>Biometric prompt, then Stripe card payment or cash at the hub</a:t>
            </a:r>
            <a:endParaRPr lang="en-US" sz="1400" dirty="0"/>
          </a:p>
        </p:txBody>
      </p:sp>
      <p:sp>
        <p:nvSpPr>
          <p:cNvPr id="34" name="Step card 6"/>
          <p:cNvSpPr/>
          <p:nvPr/>
        </p:nvSpPr>
        <p:spPr>
          <a:xfrm>
            <a:off x="8076895" y="3794760"/>
            <a:ext cx="3566160" cy="2148840"/>
          </a:xfrm>
          <a:prstGeom prst="roundRect">
            <a:avLst>
              <a:gd name="adj" fmla="val 5106"/>
            </a:avLst>
          </a:prstGeom>
          <a:solidFill>
            <a:schemeClr val="bg2"/>
          </a:solidFill>
          <a:ln/>
        </p:spPr>
        <p:txBody>
          <a:bodyPr/>
          <a:lstStyle/>
          <a:p>
            <a:endParaRPr lang="en-CA"/>
          </a:p>
        </p:txBody>
      </p:sp>
      <p:sp>
        <p:nvSpPr>
          <p:cNvPr id="35" name="Step icon 6 circle"/>
          <p:cNvSpPr/>
          <p:nvPr/>
        </p:nvSpPr>
        <p:spPr>
          <a:xfrm>
            <a:off x="8351215" y="4069080"/>
            <a:ext cx="685800" cy="685800"/>
          </a:xfrm>
          <a:prstGeom prst="ellipse">
            <a:avLst/>
          </a:prstGeom>
          <a:solidFill>
            <a:srgbClr val="416834"/>
          </a:solidFill>
          <a:ln/>
        </p:spPr>
        <p:txBody>
          <a:bodyPr/>
          <a:lstStyle/>
          <a:p>
            <a:endParaRPr lang="en-CA"/>
          </a:p>
        </p:txBody>
      </p:sp>
      <p:pic>
        <p:nvPicPr>
          <p:cNvPr id="36" name="Step icon 6" descr="Step icon 6"/>
          <p:cNvPicPr>
            <a:picLocks noChangeAspect="1"/>
          </p:cNvPicPr>
          <p:nvPr/>
        </p:nvPicPr>
        <p:blipFill>
          <a:blip r:embed="rId8"/>
          <a:stretch>
            <a:fillRect/>
          </a:stretch>
        </p:blipFill>
        <p:spPr>
          <a:xfrm>
            <a:off x="8522665" y="4240530"/>
            <a:ext cx="342900" cy="342900"/>
          </a:xfrm>
          <a:prstGeom prst="rect">
            <a:avLst/>
          </a:prstGeom>
        </p:spPr>
      </p:pic>
      <p:sp>
        <p:nvSpPr>
          <p:cNvPr id="37" name="Text 28"/>
          <p:cNvSpPr txBox="1"/>
          <p:nvPr/>
        </p:nvSpPr>
        <p:spPr>
          <a:xfrm>
            <a:off x="10545775" y="4069080"/>
            <a:ext cx="822960" cy="685800"/>
          </a:xfrm>
          <a:prstGeom prst="rect">
            <a:avLst/>
          </a:prstGeom>
          <a:noFill/>
          <a:ln/>
        </p:spPr>
        <p:txBody>
          <a:bodyPr wrap="square" lIns="0" tIns="0" rIns="0" bIns="0" rtlCol="0" anchor="ctr"/>
          <a:lstStyle/>
          <a:p>
            <a:pPr marL="0" indent="0" algn="r">
              <a:buNone/>
            </a:pPr>
            <a:r>
              <a:rPr lang="en-US" sz="3000" b="1" dirty="0">
                <a:solidFill>
                  <a:schemeClr val="accent2"/>
                </a:solidFill>
                <a:latin typeface="Cambria" pitchFamily="34" charset="0"/>
                <a:ea typeface="Cambria" pitchFamily="34" charset="-122"/>
                <a:cs typeface="Cambria" pitchFamily="34" charset="-120"/>
              </a:rPr>
              <a:t>06</a:t>
            </a:r>
            <a:endParaRPr lang="en-US" sz="3000" dirty="0"/>
          </a:p>
        </p:txBody>
      </p:sp>
      <p:sp>
        <p:nvSpPr>
          <p:cNvPr id="38" name="Text 29"/>
          <p:cNvSpPr txBox="1"/>
          <p:nvPr/>
        </p:nvSpPr>
        <p:spPr>
          <a:xfrm>
            <a:off x="8351215" y="4892040"/>
            <a:ext cx="3017520" cy="365760"/>
          </a:xfrm>
          <a:prstGeom prst="rect">
            <a:avLst/>
          </a:prstGeom>
          <a:noFill/>
          <a:ln/>
        </p:spPr>
        <p:txBody>
          <a:bodyPr wrap="square" lIns="0" tIns="0" rIns="0" bIns="0" rtlCol="0" anchor="t"/>
          <a:lstStyle/>
          <a:p>
            <a:pPr marL="0" indent="0">
              <a:buNone/>
            </a:pPr>
            <a:r>
              <a:rPr lang="en-US" sz="2000" b="1" dirty="0">
                <a:solidFill>
                  <a:schemeClr val="tx2"/>
                </a:solidFill>
              </a:rPr>
              <a:t>Track the order</a:t>
            </a:r>
            <a:endParaRPr lang="en-US" sz="2000" dirty="0"/>
          </a:p>
        </p:txBody>
      </p:sp>
      <p:sp>
        <p:nvSpPr>
          <p:cNvPr id="39" name="Text 30"/>
          <p:cNvSpPr txBox="1"/>
          <p:nvPr/>
        </p:nvSpPr>
        <p:spPr>
          <a:xfrm>
            <a:off x="8351215" y="5276088"/>
            <a:ext cx="3017520" cy="594360"/>
          </a:xfrm>
          <a:prstGeom prst="rect">
            <a:avLst/>
          </a:prstGeom>
          <a:noFill/>
          <a:ln/>
        </p:spPr>
        <p:txBody>
          <a:bodyPr wrap="square" lIns="0" tIns="0" rIns="0" bIns="0" rtlCol="0" anchor="t"/>
          <a:lstStyle/>
          <a:p>
            <a:pPr marL="0" indent="0">
              <a:buNone/>
            </a:pPr>
            <a:r>
              <a:rPr lang="en-US" sz="1400" dirty="0">
                <a:solidFill>
                  <a:schemeClr val="tx1"/>
                </a:solidFill>
              </a:rPr>
              <a:t>Order history and details, push notification on approval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8640" y="393087"/>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UI Designs And Navigation</a:t>
            </a:r>
            <a:endParaRPr lang="en-US" sz="3400" dirty="0"/>
          </a:p>
        </p:txBody>
      </p:sp>
      <p:sp>
        <p:nvSpPr>
          <p:cNvPr id="4" name="Stats panel"/>
          <p:cNvSpPr/>
          <p:nvPr/>
        </p:nvSpPr>
        <p:spPr>
          <a:xfrm>
            <a:off x="548640" y="1417320"/>
            <a:ext cx="3291840" cy="4663440"/>
          </a:xfrm>
          <a:prstGeom prst="roundRect">
            <a:avLst>
              <a:gd name="adj" fmla="val 3333"/>
            </a:avLst>
          </a:prstGeom>
          <a:solidFill>
            <a:schemeClr val="tx2"/>
          </a:solidFill>
          <a:ln/>
        </p:spPr>
        <p:txBody>
          <a:bodyPr/>
          <a:lstStyle/>
          <a:p>
            <a:endParaRPr lang="en-CA"/>
          </a:p>
        </p:txBody>
      </p:sp>
      <p:sp>
        <p:nvSpPr>
          <p:cNvPr id="5" name="Text 2"/>
          <p:cNvSpPr txBox="1"/>
          <p:nvPr/>
        </p:nvSpPr>
        <p:spPr>
          <a:xfrm>
            <a:off x="868680" y="1645920"/>
            <a:ext cx="2651760" cy="868680"/>
          </a:xfrm>
          <a:prstGeom prst="rect">
            <a:avLst/>
          </a:prstGeom>
          <a:noFill/>
          <a:ln/>
        </p:spPr>
        <p:txBody>
          <a:bodyPr wrap="square" lIns="0" tIns="0" rIns="0" bIns="0" rtlCol="0" anchor="ctr"/>
          <a:lstStyle/>
          <a:p>
            <a:pPr marL="0" indent="0">
              <a:buNone/>
            </a:pPr>
            <a:r>
              <a:rPr lang="en-US" sz="5600" b="1" dirty="0">
                <a:solidFill>
                  <a:schemeClr val="accent3"/>
                </a:solidFill>
                <a:latin typeface="Cambria" pitchFamily="34" charset="0"/>
                <a:ea typeface="Cambria" pitchFamily="34" charset="-122"/>
                <a:cs typeface="Cambria" pitchFamily="34" charset="-120"/>
              </a:rPr>
              <a:t>13</a:t>
            </a:r>
            <a:endParaRPr lang="en-US" sz="5600" dirty="0"/>
          </a:p>
        </p:txBody>
      </p:sp>
      <p:sp>
        <p:nvSpPr>
          <p:cNvPr id="6" name="Text 3"/>
          <p:cNvSpPr txBox="1"/>
          <p:nvPr/>
        </p:nvSpPr>
        <p:spPr>
          <a:xfrm>
            <a:off x="868680" y="2514600"/>
            <a:ext cx="2651760" cy="365760"/>
          </a:xfrm>
          <a:prstGeom prst="rect">
            <a:avLst/>
          </a:prstGeom>
          <a:noFill/>
          <a:ln/>
        </p:spPr>
        <p:txBody>
          <a:bodyPr wrap="square" lIns="0" tIns="0" rIns="0" bIns="0" rtlCol="0" anchor="t"/>
          <a:lstStyle/>
          <a:p>
            <a:pPr marL="0" indent="0">
              <a:buNone/>
            </a:pPr>
            <a:r>
              <a:rPr lang="en-US" sz="1800" dirty="0">
                <a:solidFill>
                  <a:schemeClr val="bg1"/>
                </a:solidFill>
              </a:rPr>
              <a:t>Activities</a:t>
            </a:r>
            <a:endParaRPr lang="en-US" sz="1800" dirty="0"/>
          </a:p>
        </p:txBody>
      </p:sp>
      <p:sp>
        <p:nvSpPr>
          <p:cNvPr id="7" name="Text 4"/>
          <p:cNvSpPr txBox="1"/>
          <p:nvPr/>
        </p:nvSpPr>
        <p:spPr>
          <a:xfrm>
            <a:off x="868680" y="3108960"/>
            <a:ext cx="2651760" cy="868680"/>
          </a:xfrm>
          <a:prstGeom prst="rect">
            <a:avLst/>
          </a:prstGeom>
          <a:noFill/>
          <a:ln/>
        </p:spPr>
        <p:txBody>
          <a:bodyPr wrap="square" lIns="0" tIns="0" rIns="0" bIns="0" rtlCol="0" anchor="ctr"/>
          <a:lstStyle/>
          <a:p>
            <a:pPr marL="0" indent="0">
              <a:buNone/>
            </a:pPr>
            <a:r>
              <a:rPr lang="en-US" sz="5600" b="1" dirty="0">
                <a:solidFill>
                  <a:schemeClr val="accent3"/>
                </a:solidFill>
                <a:latin typeface="Cambria" pitchFamily="34" charset="0"/>
                <a:ea typeface="Cambria" pitchFamily="34" charset="-122"/>
                <a:cs typeface="Cambria" pitchFamily="34" charset="-120"/>
              </a:rPr>
              <a:t>5</a:t>
            </a:r>
            <a:endParaRPr lang="en-US" sz="5600" dirty="0"/>
          </a:p>
        </p:txBody>
      </p:sp>
      <p:sp>
        <p:nvSpPr>
          <p:cNvPr id="8" name="Text 5"/>
          <p:cNvSpPr txBox="1"/>
          <p:nvPr/>
        </p:nvSpPr>
        <p:spPr>
          <a:xfrm>
            <a:off x="868680" y="3977640"/>
            <a:ext cx="2651760" cy="365760"/>
          </a:xfrm>
          <a:prstGeom prst="rect">
            <a:avLst/>
          </a:prstGeom>
          <a:noFill/>
          <a:ln/>
        </p:spPr>
        <p:txBody>
          <a:bodyPr wrap="square" lIns="0" tIns="0" rIns="0" bIns="0" rtlCol="0" anchor="t"/>
          <a:lstStyle/>
          <a:p>
            <a:pPr marL="0" indent="0">
              <a:buNone/>
            </a:pPr>
            <a:r>
              <a:rPr lang="en-US" sz="1800" dirty="0">
                <a:solidFill>
                  <a:schemeClr val="bg1"/>
                </a:solidFill>
              </a:rPr>
              <a:t>Fragments</a:t>
            </a:r>
            <a:endParaRPr lang="en-US" sz="1800" dirty="0"/>
          </a:p>
        </p:txBody>
      </p:sp>
      <p:sp>
        <p:nvSpPr>
          <p:cNvPr id="9" name="Text 6"/>
          <p:cNvSpPr txBox="1"/>
          <p:nvPr/>
        </p:nvSpPr>
        <p:spPr>
          <a:xfrm>
            <a:off x="868680" y="4572000"/>
            <a:ext cx="2651760" cy="868680"/>
          </a:xfrm>
          <a:prstGeom prst="rect">
            <a:avLst/>
          </a:prstGeom>
          <a:noFill/>
          <a:ln/>
        </p:spPr>
        <p:txBody>
          <a:bodyPr wrap="square" lIns="0" tIns="0" rIns="0" bIns="0" rtlCol="0" anchor="ctr"/>
          <a:lstStyle/>
          <a:p>
            <a:pPr marL="0" indent="0">
              <a:buNone/>
            </a:pPr>
            <a:r>
              <a:rPr lang="en-US" sz="5600" b="1" dirty="0">
                <a:solidFill>
                  <a:schemeClr val="accent3"/>
                </a:solidFill>
                <a:latin typeface="Cambria" pitchFamily="34" charset="0"/>
                <a:ea typeface="Cambria" pitchFamily="34" charset="-122"/>
                <a:cs typeface="Cambria" pitchFamily="34" charset="-120"/>
              </a:rPr>
              <a:t>9</a:t>
            </a:r>
            <a:endParaRPr lang="en-US" sz="5600" dirty="0"/>
          </a:p>
        </p:txBody>
      </p:sp>
      <p:sp>
        <p:nvSpPr>
          <p:cNvPr id="10" name="Text 7"/>
          <p:cNvSpPr txBox="1"/>
          <p:nvPr/>
        </p:nvSpPr>
        <p:spPr>
          <a:xfrm>
            <a:off x="868680" y="5440680"/>
            <a:ext cx="2651760" cy="365760"/>
          </a:xfrm>
          <a:prstGeom prst="rect">
            <a:avLst/>
          </a:prstGeom>
          <a:noFill/>
          <a:ln/>
        </p:spPr>
        <p:txBody>
          <a:bodyPr wrap="square" lIns="0" tIns="0" rIns="0" bIns="0" rtlCol="0" anchor="t"/>
          <a:lstStyle/>
          <a:p>
            <a:pPr marL="0" indent="0">
              <a:buNone/>
            </a:pPr>
            <a:r>
              <a:rPr lang="en-US" sz="1800" dirty="0">
                <a:solidFill>
                  <a:schemeClr val="bg1"/>
                </a:solidFill>
              </a:rPr>
              <a:t>RecyclerViews</a:t>
            </a:r>
            <a:endParaRPr lang="en-US" sz="1800" dirty="0"/>
          </a:p>
        </p:txBody>
      </p:sp>
      <p:sp>
        <p:nvSpPr>
          <p:cNvPr id="11" name="UI card 1"/>
          <p:cNvSpPr/>
          <p:nvPr/>
        </p:nvSpPr>
        <p:spPr>
          <a:xfrm>
            <a:off x="4069080" y="1417320"/>
            <a:ext cx="3611880" cy="1417320"/>
          </a:xfrm>
          <a:prstGeom prst="roundRect">
            <a:avLst>
              <a:gd name="adj" fmla="val 7742"/>
            </a:avLst>
          </a:prstGeom>
          <a:solidFill>
            <a:schemeClr val="bg2"/>
          </a:solidFill>
          <a:ln/>
        </p:spPr>
        <p:txBody>
          <a:bodyPr/>
          <a:lstStyle/>
          <a:p>
            <a:endParaRPr lang="en-CA"/>
          </a:p>
        </p:txBody>
      </p:sp>
      <p:sp>
        <p:nvSpPr>
          <p:cNvPr id="12" name="UI icon 1 circle"/>
          <p:cNvSpPr/>
          <p:nvPr/>
        </p:nvSpPr>
        <p:spPr>
          <a:xfrm>
            <a:off x="4251960" y="1645920"/>
            <a:ext cx="548640" cy="548640"/>
          </a:xfrm>
          <a:prstGeom prst="ellipse">
            <a:avLst/>
          </a:prstGeom>
          <a:solidFill>
            <a:srgbClr val="416834"/>
          </a:solidFill>
          <a:ln/>
        </p:spPr>
        <p:txBody>
          <a:bodyPr/>
          <a:lstStyle/>
          <a:p>
            <a:endParaRPr lang="en-CA"/>
          </a:p>
        </p:txBody>
      </p:sp>
      <p:pic>
        <p:nvPicPr>
          <p:cNvPr id="13" name="UI icon 1" descr="UI icon 1"/>
          <p:cNvPicPr>
            <a:picLocks noChangeAspect="1"/>
          </p:cNvPicPr>
          <p:nvPr/>
        </p:nvPicPr>
        <p:blipFill>
          <a:blip r:embed="rId3"/>
          <a:stretch>
            <a:fillRect/>
          </a:stretch>
        </p:blipFill>
        <p:spPr>
          <a:xfrm>
            <a:off x="4389120" y="1783080"/>
            <a:ext cx="274320" cy="274320"/>
          </a:xfrm>
          <a:prstGeom prst="rect">
            <a:avLst/>
          </a:prstGeom>
        </p:spPr>
      </p:pic>
      <p:sp>
        <p:nvSpPr>
          <p:cNvPr id="14" name="Text 10"/>
          <p:cNvSpPr txBox="1"/>
          <p:nvPr/>
        </p:nvSpPr>
        <p:spPr>
          <a:xfrm>
            <a:off x="4937760" y="1554480"/>
            <a:ext cx="2606040" cy="1143000"/>
          </a:xfrm>
          <a:prstGeom prst="rect">
            <a:avLst/>
          </a:prstGeom>
          <a:noFill/>
          <a:ln/>
        </p:spPr>
        <p:txBody>
          <a:bodyPr wrap="square" lIns="0" tIns="0" rIns="0" bIns="0" rtlCol="0" anchor="t"/>
          <a:lstStyle/>
          <a:p>
            <a:pPr marL="0" indent="0">
              <a:buNone/>
            </a:pPr>
            <a:r>
              <a:rPr lang="en-US" sz="1600" b="1" dirty="0">
                <a:solidFill>
                  <a:schemeClr val="tx2"/>
                </a:solidFill>
              </a:rPr>
              <a:t>Layouts</a:t>
            </a:r>
            <a:endParaRPr lang="en-US" sz="1600" dirty="0"/>
          </a:p>
          <a:p>
            <a:pPr marL="0" indent="0">
              <a:buNone/>
            </a:pPr>
            <a:r>
              <a:rPr lang="en-US" sz="1400" dirty="0">
                <a:solidFill>
                  <a:schemeClr val="tx1"/>
                </a:solidFill>
              </a:rPr>
              <a:t>Constraint, Linear, Frame, Coordinator and NestedScroll layouts</a:t>
            </a:r>
            <a:endParaRPr lang="en-US" sz="1600" dirty="0"/>
          </a:p>
        </p:txBody>
      </p:sp>
      <p:sp>
        <p:nvSpPr>
          <p:cNvPr id="15" name="UI card 2"/>
          <p:cNvSpPr/>
          <p:nvPr/>
        </p:nvSpPr>
        <p:spPr>
          <a:xfrm>
            <a:off x="8031175" y="1417320"/>
            <a:ext cx="3611880" cy="1417320"/>
          </a:xfrm>
          <a:prstGeom prst="roundRect">
            <a:avLst>
              <a:gd name="adj" fmla="val 7742"/>
            </a:avLst>
          </a:prstGeom>
          <a:solidFill>
            <a:schemeClr val="bg2"/>
          </a:solidFill>
          <a:ln/>
        </p:spPr>
        <p:txBody>
          <a:bodyPr/>
          <a:lstStyle/>
          <a:p>
            <a:endParaRPr lang="en-CA"/>
          </a:p>
        </p:txBody>
      </p:sp>
      <p:sp>
        <p:nvSpPr>
          <p:cNvPr id="16" name="UI icon 2 circle"/>
          <p:cNvSpPr/>
          <p:nvPr/>
        </p:nvSpPr>
        <p:spPr>
          <a:xfrm>
            <a:off x="8214055" y="1645920"/>
            <a:ext cx="548640" cy="548640"/>
          </a:xfrm>
          <a:prstGeom prst="ellipse">
            <a:avLst/>
          </a:prstGeom>
          <a:solidFill>
            <a:srgbClr val="416834"/>
          </a:solidFill>
          <a:ln/>
        </p:spPr>
        <p:txBody>
          <a:bodyPr/>
          <a:lstStyle/>
          <a:p>
            <a:endParaRPr lang="en-CA"/>
          </a:p>
        </p:txBody>
      </p:sp>
      <p:pic>
        <p:nvPicPr>
          <p:cNvPr id="17" name="UI icon 2" descr="UI icon 2"/>
          <p:cNvPicPr>
            <a:picLocks noChangeAspect="1"/>
          </p:cNvPicPr>
          <p:nvPr/>
        </p:nvPicPr>
        <p:blipFill>
          <a:blip r:embed="rId4"/>
          <a:stretch>
            <a:fillRect/>
          </a:stretch>
        </p:blipFill>
        <p:spPr>
          <a:xfrm>
            <a:off x="8351215" y="1783080"/>
            <a:ext cx="274320" cy="274320"/>
          </a:xfrm>
          <a:prstGeom prst="rect">
            <a:avLst/>
          </a:prstGeom>
        </p:spPr>
      </p:pic>
      <p:sp>
        <p:nvSpPr>
          <p:cNvPr id="18" name="Text 13"/>
          <p:cNvSpPr txBox="1"/>
          <p:nvPr/>
        </p:nvSpPr>
        <p:spPr>
          <a:xfrm>
            <a:off x="8899855" y="1554480"/>
            <a:ext cx="2606040" cy="1143000"/>
          </a:xfrm>
          <a:prstGeom prst="rect">
            <a:avLst/>
          </a:prstGeom>
          <a:noFill/>
          <a:ln/>
        </p:spPr>
        <p:txBody>
          <a:bodyPr wrap="square" lIns="0" tIns="0" rIns="0" bIns="0" rtlCol="0" anchor="t"/>
          <a:lstStyle/>
          <a:p>
            <a:pPr marL="0" indent="0">
              <a:buNone/>
            </a:pPr>
            <a:r>
              <a:rPr lang="en-US" sz="1600" b="1" dirty="0">
                <a:solidFill>
                  <a:schemeClr val="tx2"/>
                </a:solidFill>
              </a:rPr>
              <a:t>Navigation</a:t>
            </a:r>
            <a:endParaRPr lang="en-US" sz="1600" dirty="0"/>
          </a:p>
          <a:p>
            <a:pPr marL="0" indent="0">
              <a:buNone/>
            </a:pPr>
            <a:r>
              <a:rPr lang="en-US" sz="1400" dirty="0">
                <a:solidFill>
                  <a:schemeClr val="tx1"/>
                </a:solidFill>
              </a:rPr>
              <a:t>Bottom navigation swaps five fragments; Fragment Result API passes the category</a:t>
            </a:r>
            <a:endParaRPr lang="en-US" sz="1600" dirty="0"/>
          </a:p>
        </p:txBody>
      </p:sp>
      <p:sp>
        <p:nvSpPr>
          <p:cNvPr id="19" name="UI card 3"/>
          <p:cNvSpPr/>
          <p:nvPr/>
        </p:nvSpPr>
        <p:spPr>
          <a:xfrm>
            <a:off x="4069080" y="3040380"/>
            <a:ext cx="3611880" cy="1417320"/>
          </a:xfrm>
          <a:prstGeom prst="roundRect">
            <a:avLst>
              <a:gd name="adj" fmla="val 7742"/>
            </a:avLst>
          </a:prstGeom>
          <a:solidFill>
            <a:schemeClr val="bg2"/>
          </a:solidFill>
          <a:ln/>
        </p:spPr>
        <p:txBody>
          <a:bodyPr/>
          <a:lstStyle/>
          <a:p>
            <a:endParaRPr lang="en-CA"/>
          </a:p>
        </p:txBody>
      </p:sp>
      <p:sp>
        <p:nvSpPr>
          <p:cNvPr id="20" name="UI icon 3 circle"/>
          <p:cNvSpPr/>
          <p:nvPr/>
        </p:nvSpPr>
        <p:spPr>
          <a:xfrm>
            <a:off x="4251960" y="3268980"/>
            <a:ext cx="548640" cy="548640"/>
          </a:xfrm>
          <a:prstGeom prst="ellipse">
            <a:avLst/>
          </a:prstGeom>
          <a:solidFill>
            <a:srgbClr val="416834"/>
          </a:solidFill>
          <a:ln/>
        </p:spPr>
        <p:txBody>
          <a:bodyPr/>
          <a:lstStyle/>
          <a:p>
            <a:endParaRPr lang="en-CA"/>
          </a:p>
        </p:txBody>
      </p:sp>
      <p:pic>
        <p:nvPicPr>
          <p:cNvPr id="21" name="UI icon 3" descr="UI icon 3"/>
          <p:cNvPicPr>
            <a:picLocks noChangeAspect="1"/>
          </p:cNvPicPr>
          <p:nvPr/>
        </p:nvPicPr>
        <p:blipFill>
          <a:blip r:embed="rId5"/>
          <a:stretch>
            <a:fillRect/>
          </a:stretch>
        </p:blipFill>
        <p:spPr>
          <a:xfrm>
            <a:off x="4389120" y="3406140"/>
            <a:ext cx="274320" cy="274320"/>
          </a:xfrm>
          <a:prstGeom prst="rect">
            <a:avLst/>
          </a:prstGeom>
        </p:spPr>
      </p:pic>
      <p:sp>
        <p:nvSpPr>
          <p:cNvPr id="22" name="Text 16"/>
          <p:cNvSpPr txBox="1"/>
          <p:nvPr/>
        </p:nvSpPr>
        <p:spPr>
          <a:xfrm>
            <a:off x="4937760" y="3177540"/>
            <a:ext cx="2606040" cy="1143000"/>
          </a:xfrm>
          <a:prstGeom prst="rect">
            <a:avLst/>
          </a:prstGeom>
          <a:noFill/>
          <a:ln/>
        </p:spPr>
        <p:txBody>
          <a:bodyPr wrap="square" lIns="0" tIns="0" rIns="0" bIns="0" rtlCol="0" anchor="t"/>
          <a:lstStyle/>
          <a:p>
            <a:pPr marL="0" indent="0">
              <a:buNone/>
            </a:pPr>
            <a:r>
              <a:rPr lang="en-US" sz="1600" b="1" dirty="0">
                <a:solidFill>
                  <a:schemeClr val="tx2"/>
                </a:solidFill>
              </a:rPr>
              <a:t>Material 3 theme</a:t>
            </a:r>
            <a:endParaRPr lang="en-US" sz="1600" dirty="0"/>
          </a:p>
          <a:p>
            <a:pPr marL="0" indent="0">
              <a:buNone/>
            </a:pPr>
            <a:r>
              <a:rPr lang="en-US" sz="1400" dirty="0">
                <a:solidFill>
                  <a:schemeClr val="tx1"/>
                </a:solidFill>
              </a:rPr>
              <a:t>Light and dark resources; the mode is saved in SharedPreferences</a:t>
            </a:r>
            <a:endParaRPr lang="en-US" sz="1600" dirty="0"/>
          </a:p>
        </p:txBody>
      </p:sp>
      <p:sp>
        <p:nvSpPr>
          <p:cNvPr id="23" name="UI card 4"/>
          <p:cNvSpPr/>
          <p:nvPr/>
        </p:nvSpPr>
        <p:spPr>
          <a:xfrm>
            <a:off x="8031175" y="3040380"/>
            <a:ext cx="3611880" cy="1417320"/>
          </a:xfrm>
          <a:prstGeom prst="roundRect">
            <a:avLst>
              <a:gd name="adj" fmla="val 7742"/>
            </a:avLst>
          </a:prstGeom>
          <a:solidFill>
            <a:schemeClr val="bg2"/>
          </a:solidFill>
          <a:ln/>
        </p:spPr>
        <p:txBody>
          <a:bodyPr/>
          <a:lstStyle/>
          <a:p>
            <a:endParaRPr lang="en-CA"/>
          </a:p>
        </p:txBody>
      </p:sp>
      <p:sp>
        <p:nvSpPr>
          <p:cNvPr id="24" name="UI icon 4 circle"/>
          <p:cNvSpPr/>
          <p:nvPr/>
        </p:nvSpPr>
        <p:spPr>
          <a:xfrm>
            <a:off x="8214055" y="3268980"/>
            <a:ext cx="548640" cy="548640"/>
          </a:xfrm>
          <a:prstGeom prst="ellipse">
            <a:avLst/>
          </a:prstGeom>
          <a:solidFill>
            <a:srgbClr val="416834"/>
          </a:solidFill>
          <a:ln/>
        </p:spPr>
        <p:txBody>
          <a:bodyPr/>
          <a:lstStyle/>
          <a:p>
            <a:endParaRPr lang="en-CA"/>
          </a:p>
        </p:txBody>
      </p:sp>
      <p:pic>
        <p:nvPicPr>
          <p:cNvPr id="25" name="UI icon 4" descr="UI icon 4"/>
          <p:cNvPicPr>
            <a:picLocks noChangeAspect="1"/>
          </p:cNvPicPr>
          <p:nvPr/>
        </p:nvPicPr>
        <p:blipFill>
          <a:blip r:embed="rId6"/>
          <a:stretch>
            <a:fillRect/>
          </a:stretch>
        </p:blipFill>
        <p:spPr>
          <a:xfrm>
            <a:off x="8351215" y="3406140"/>
            <a:ext cx="274320" cy="274320"/>
          </a:xfrm>
          <a:prstGeom prst="rect">
            <a:avLst/>
          </a:prstGeom>
        </p:spPr>
      </p:pic>
      <p:sp>
        <p:nvSpPr>
          <p:cNvPr id="26" name="Text 19"/>
          <p:cNvSpPr txBox="1"/>
          <p:nvPr/>
        </p:nvSpPr>
        <p:spPr>
          <a:xfrm>
            <a:off x="8899855" y="3177540"/>
            <a:ext cx="2606040" cy="1143000"/>
          </a:xfrm>
          <a:prstGeom prst="rect">
            <a:avLst/>
          </a:prstGeom>
          <a:noFill/>
          <a:ln/>
        </p:spPr>
        <p:txBody>
          <a:bodyPr wrap="square" lIns="0" tIns="0" rIns="0" bIns="0" rtlCol="0" anchor="t"/>
          <a:lstStyle/>
          <a:p>
            <a:pPr marL="0" indent="0">
              <a:buNone/>
            </a:pPr>
            <a:r>
              <a:rPr lang="en-US" sz="1600" b="1" dirty="0">
                <a:solidFill>
                  <a:schemeClr val="tx2"/>
                </a:solidFill>
              </a:rPr>
              <a:t>Dialogs and pickers</a:t>
            </a:r>
            <a:endParaRPr lang="en-US" sz="1600" dirty="0"/>
          </a:p>
          <a:p>
            <a:pPr marL="0" indent="0">
              <a:buNone/>
            </a:pPr>
            <a:r>
              <a:rPr lang="en-US" sz="1400" dirty="0">
                <a:solidFill>
                  <a:schemeClr val="tx1"/>
                </a:solidFill>
              </a:rPr>
              <a:t>Date-range picker, custom-view alert dialog, photo source chooser, biometric prompt</a:t>
            </a:r>
            <a:endParaRPr lang="en-US" sz="1600" dirty="0"/>
          </a:p>
        </p:txBody>
      </p:sp>
      <p:sp>
        <p:nvSpPr>
          <p:cNvPr id="27" name="UI card 5"/>
          <p:cNvSpPr/>
          <p:nvPr/>
        </p:nvSpPr>
        <p:spPr>
          <a:xfrm>
            <a:off x="4069080" y="4663440"/>
            <a:ext cx="3611880" cy="1417320"/>
          </a:xfrm>
          <a:prstGeom prst="roundRect">
            <a:avLst>
              <a:gd name="adj" fmla="val 7742"/>
            </a:avLst>
          </a:prstGeom>
          <a:solidFill>
            <a:schemeClr val="bg2"/>
          </a:solidFill>
          <a:ln/>
        </p:spPr>
        <p:txBody>
          <a:bodyPr/>
          <a:lstStyle/>
          <a:p>
            <a:endParaRPr lang="en-CA"/>
          </a:p>
        </p:txBody>
      </p:sp>
      <p:sp>
        <p:nvSpPr>
          <p:cNvPr id="28" name="UI icon 5 circle"/>
          <p:cNvSpPr/>
          <p:nvPr/>
        </p:nvSpPr>
        <p:spPr>
          <a:xfrm>
            <a:off x="4251960" y="4892040"/>
            <a:ext cx="548640" cy="548640"/>
          </a:xfrm>
          <a:prstGeom prst="ellipse">
            <a:avLst/>
          </a:prstGeom>
          <a:solidFill>
            <a:srgbClr val="416834"/>
          </a:solidFill>
          <a:ln/>
        </p:spPr>
        <p:txBody>
          <a:bodyPr/>
          <a:lstStyle/>
          <a:p>
            <a:endParaRPr lang="en-CA"/>
          </a:p>
        </p:txBody>
      </p:sp>
      <p:pic>
        <p:nvPicPr>
          <p:cNvPr id="29" name="UI icon 5" descr="UI icon 5"/>
          <p:cNvPicPr>
            <a:picLocks noChangeAspect="1"/>
          </p:cNvPicPr>
          <p:nvPr/>
        </p:nvPicPr>
        <p:blipFill>
          <a:blip r:embed="rId7"/>
          <a:stretch>
            <a:fillRect/>
          </a:stretch>
        </p:blipFill>
        <p:spPr>
          <a:xfrm>
            <a:off x="4389120" y="5029200"/>
            <a:ext cx="274320" cy="274320"/>
          </a:xfrm>
          <a:prstGeom prst="rect">
            <a:avLst/>
          </a:prstGeom>
        </p:spPr>
      </p:pic>
      <p:sp>
        <p:nvSpPr>
          <p:cNvPr id="30" name="Text 22"/>
          <p:cNvSpPr txBox="1"/>
          <p:nvPr/>
        </p:nvSpPr>
        <p:spPr>
          <a:xfrm>
            <a:off x="4937760" y="4800600"/>
            <a:ext cx="2606040" cy="1143000"/>
          </a:xfrm>
          <a:prstGeom prst="rect">
            <a:avLst/>
          </a:prstGeom>
          <a:noFill/>
          <a:ln/>
        </p:spPr>
        <p:txBody>
          <a:bodyPr wrap="square" lIns="0" tIns="0" rIns="0" bIns="0" rtlCol="0" anchor="t"/>
          <a:lstStyle/>
          <a:p>
            <a:pPr marL="0" indent="0">
              <a:buNone/>
            </a:pPr>
            <a:r>
              <a:rPr lang="en-US" sz="1600" b="1" dirty="0">
                <a:solidFill>
                  <a:schemeClr val="tx2"/>
                </a:solidFill>
              </a:rPr>
              <a:t>Rich widgets</a:t>
            </a:r>
            <a:endParaRPr lang="en-US" sz="1600" dirty="0"/>
          </a:p>
          <a:p>
            <a:pPr marL="0" indent="0">
              <a:buNone/>
            </a:pPr>
            <a:r>
              <a:rPr lang="en-US" sz="1400" dirty="0">
                <a:solidFill>
                  <a:schemeClr val="tx1"/>
                </a:solidFill>
              </a:rPr>
              <a:t>Chips, range slider, FAB, bottom sheet, Snackbars, quantity stepper</a:t>
            </a:r>
            <a:endParaRPr lang="en-US" sz="1600" dirty="0"/>
          </a:p>
        </p:txBody>
      </p:sp>
      <p:sp>
        <p:nvSpPr>
          <p:cNvPr id="31" name="UI card 6"/>
          <p:cNvSpPr/>
          <p:nvPr/>
        </p:nvSpPr>
        <p:spPr>
          <a:xfrm>
            <a:off x="8031175" y="4663440"/>
            <a:ext cx="3611880" cy="1417320"/>
          </a:xfrm>
          <a:prstGeom prst="roundRect">
            <a:avLst>
              <a:gd name="adj" fmla="val 7742"/>
            </a:avLst>
          </a:prstGeom>
          <a:solidFill>
            <a:schemeClr val="bg2"/>
          </a:solidFill>
          <a:ln/>
        </p:spPr>
        <p:txBody>
          <a:bodyPr/>
          <a:lstStyle/>
          <a:p>
            <a:endParaRPr lang="en-CA"/>
          </a:p>
        </p:txBody>
      </p:sp>
      <p:sp>
        <p:nvSpPr>
          <p:cNvPr id="32" name="UI icon 6 circle"/>
          <p:cNvSpPr/>
          <p:nvPr/>
        </p:nvSpPr>
        <p:spPr>
          <a:xfrm>
            <a:off x="8214055" y="4892040"/>
            <a:ext cx="548640" cy="548640"/>
          </a:xfrm>
          <a:prstGeom prst="ellipse">
            <a:avLst/>
          </a:prstGeom>
          <a:solidFill>
            <a:srgbClr val="416834"/>
          </a:solidFill>
          <a:ln/>
        </p:spPr>
        <p:txBody>
          <a:bodyPr/>
          <a:lstStyle/>
          <a:p>
            <a:endParaRPr lang="en-CA"/>
          </a:p>
        </p:txBody>
      </p:sp>
      <p:pic>
        <p:nvPicPr>
          <p:cNvPr id="33" name="UI icon 6" descr="UI icon 6"/>
          <p:cNvPicPr>
            <a:picLocks noChangeAspect="1"/>
          </p:cNvPicPr>
          <p:nvPr/>
        </p:nvPicPr>
        <p:blipFill>
          <a:blip r:embed="rId8"/>
          <a:stretch>
            <a:fillRect/>
          </a:stretch>
        </p:blipFill>
        <p:spPr>
          <a:xfrm>
            <a:off x="8351215" y="5029200"/>
            <a:ext cx="274320" cy="274320"/>
          </a:xfrm>
          <a:prstGeom prst="rect">
            <a:avLst/>
          </a:prstGeom>
        </p:spPr>
      </p:pic>
      <p:sp>
        <p:nvSpPr>
          <p:cNvPr id="34" name="Text 25"/>
          <p:cNvSpPr txBox="1"/>
          <p:nvPr/>
        </p:nvSpPr>
        <p:spPr>
          <a:xfrm>
            <a:off x="8899855" y="4800600"/>
            <a:ext cx="2606040" cy="1143000"/>
          </a:xfrm>
          <a:prstGeom prst="rect">
            <a:avLst/>
          </a:prstGeom>
          <a:noFill/>
          <a:ln/>
        </p:spPr>
        <p:txBody>
          <a:bodyPr wrap="square" lIns="0" tIns="0" rIns="0" bIns="0" rtlCol="0" anchor="t"/>
          <a:lstStyle/>
          <a:p>
            <a:pPr marL="0" indent="0">
              <a:buNone/>
            </a:pPr>
            <a:r>
              <a:rPr lang="en-US" sz="1600" b="1" dirty="0">
                <a:solidFill>
                  <a:schemeClr val="tx2"/>
                </a:solidFill>
              </a:rPr>
              <a:t>Intents</a:t>
            </a:r>
            <a:endParaRPr lang="en-US" sz="1600" dirty="0"/>
          </a:p>
          <a:p>
            <a:pPr marL="0" indent="0">
              <a:buNone/>
            </a:pPr>
            <a:r>
              <a:rPr lang="en-US" sz="1400" dirty="0">
                <a:solidFill>
                  <a:schemeClr val="tx1"/>
                </a:solidFill>
              </a:rPr>
              <a:t>Explicit screen navigation; implicit view, share, dial and call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9605"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Local Storage And Background Sync</a:t>
            </a:r>
            <a:endParaRPr lang="en-US" sz="3400" dirty="0"/>
          </a:p>
        </p:txBody>
      </p:sp>
      <p:sp>
        <p:nvSpPr>
          <p:cNvPr id="4" name="Flow box 1"/>
          <p:cNvSpPr/>
          <p:nvPr/>
        </p:nvSpPr>
        <p:spPr>
          <a:xfrm>
            <a:off x="548640" y="1463040"/>
            <a:ext cx="1828800" cy="1325880"/>
          </a:xfrm>
          <a:prstGeom prst="roundRect">
            <a:avLst>
              <a:gd name="adj" fmla="val 8276"/>
            </a:avLst>
          </a:prstGeom>
          <a:solidFill>
            <a:schemeClr val="bg2"/>
          </a:solidFill>
          <a:ln/>
        </p:spPr>
        <p:txBody>
          <a:bodyPr/>
          <a:lstStyle/>
          <a:p>
            <a:endParaRPr lang="en-CA"/>
          </a:p>
        </p:txBody>
      </p:sp>
      <p:sp>
        <p:nvSpPr>
          <p:cNvPr id="5" name="Text 2"/>
          <p:cNvSpPr txBox="1"/>
          <p:nvPr/>
        </p:nvSpPr>
        <p:spPr>
          <a:xfrm>
            <a:off x="658368" y="1554480"/>
            <a:ext cx="1609344" cy="1143000"/>
          </a:xfrm>
          <a:prstGeom prst="rect">
            <a:avLst/>
          </a:prstGeom>
          <a:noFill/>
          <a:ln/>
        </p:spPr>
        <p:txBody>
          <a:bodyPr wrap="square" lIns="0" tIns="0" rIns="0" bIns="0" rtlCol="0" anchor="ctr"/>
          <a:lstStyle/>
          <a:p>
            <a:pPr marL="0" indent="0" algn="ctr">
              <a:buNone/>
            </a:pPr>
            <a:r>
              <a:rPr lang="en-US" sz="1500" b="1" dirty="0">
                <a:solidFill>
                  <a:schemeClr val="tx1"/>
                </a:solidFill>
              </a:rPr>
              <a:t>Spring Boot API</a:t>
            </a:r>
            <a:endParaRPr lang="en-US" sz="1500" dirty="0"/>
          </a:p>
          <a:p>
            <a:pPr marL="0" indent="0" algn="ctr">
              <a:buNone/>
            </a:pPr>
            <a:r>
              <a:rPr lang="en-US" sz="1200" dirty="0">
                <a:solidFill>
                  <a:schemeClr val="accent6"/>
                </a:solidFill>
              </a:rPr>
              <a:t>cart and wishlist endpoints</a:t>
            </a:r>
            <a:endParaRPr lang="en-US" sz="1500" dirty="0"/>
          </a:p>
        </p:txBody>
      </p:sp>
      <p:sp>
        <p:nvSpPr>
          <p:cNvPr id="6" name="Arrow"/>
          <p:cNvSpPr/>
          <p:nvPr/>
        </p:nvSpPr>
        <p:spPr>
          <a:xfrm>
            <a:off x="2423160" y="2130552"/>
            <a:ext cx="396164" cy="0"/>
          </a:xfrm>
          <a:prstGeom prst="line">
            <a:avLst/>
          </a:prstGeom>
          <a:noFill/>
          <a:ln w="25400">
            <a:solidFill>
              <a:srgbClr val="416834"/>
            </a:solidFill>
            <a:prstDash val="solid"/>
            <a:tailEnd type="triangle"/>
          </a:ln>
        </p:spPr>
        <p:txBody>
          <a:bodyPr/>
          <a:lstStyle/>
          <a:p>
            <a:endParaRPr lang="en-CA"/>
          </a:p>
        </p:txBody>
      </p:sp>
      <p:sp>
        <p:nvSpPr>
          <p:cNvPr id="7" name="Flow box 2"/>
          <p:cNvSpPr/>
          <p:nvPr/>
        </p:nvSpPr>
        <p:spPr>
          <a:xfrm>
            <a:off x="2865044" y="1463040"/>
            <a:ext cx="1828800" cy="1325880"/>
          </a:xfrm>
          <a:prstGeom prst="roundRect">
            <a:avLst>
              <a:gd name="adj" fmla="val 8276"/>
            </a:avLst>
          </a:prstGeom>
          <a:solidFill>
            <a:schemeClr val="bg2"/>
          </a:solidFill>
          <a:ln/>
        </p:spPr>
        <p:txBody>
          <a:bodyPr/>
          <a:lstStyle/>
          <a:p>
            <a:endParaRPr lang="en-CA"/>
          </a:p>
        </p:txBody>
      </p:sp>
      <p:sp>
        <p:nvSpPr>
          <p:cNvPr id="8" name="Text 5"/>
          <p:cNvSpPr txBox="1"/>
          <p:nvPr/>
        </p:nvSpPr>
        <p:spPr>
          <a:xfrm>
            <a:off x="2974772" y="1554480"/>
            <a:ext cx="1609344" cy="1143000"/>
          </a:xfrm>
          <a:prstGeom prst="rect">
            <a:avLst/>
          </a:prstGeom>
          <a:noFill/>
          <a:ln/>
        </p:spPr>
        <p:txBody>
          <a:bodyPr wrap="square" lIns="0" tIns="0" rIns="0" bIns="0" rtlCol="0" anchor="ctr"/>
          <a:lstStyle/>
          <a:p>
            <a:pPr marL="0" indent="0" algn="ctr">
              <a:buNone/>
            </a:pPr>
            <a:r>
              <a:rPr lang="en-US" sz="1500" b="1" dirty="0">
                <a:solidFill>
                  <a:schemeClr val="tx1"/>
                </a:solidFill>
              </a:rPr>
              <a:t>WorkManager worker</a:t>
            </a:r>
            <a:endParaRPr lang="en-US" sz="1500" dirty="0"/>
          </a:p>
          <a:p>
            <a:pPr marL="0" indent="0" algn="ctr">
              <a:buNone/>
            </a:pPr>
            <a:r>
              <a:rPr lang="en-US" sz="1200" dirty="0">
                <a:solidFill>
                  <a:schemeClr val="accent6"/>
                </a:solidFill>
              </a:rPr>
              <a:t>every 6 h, or when back online</a:t>
            </a:r>
            <a:endParaRPr lang="en-US" sz="1500" dirty="0"/>
          </a:p>
        </p:txBody>
      </p:sp>
      <p:sp>
        <p:nvSpPr>
          <p:cNvPr id="9" name="Arrow"/>
          <p:cNvSpPr/>
          <p:nvPr/>
        </p:nvSpPr>
        <p:spPr>
          <a:xfrm>
            <a:off x="4739564" y="2130552"/>
            <a:ext cx="396164" cy="0"/>
          </a:xfrm>
          <a:prstGeom prst="line">
            <a:avLst/>
          </a:prstGeom>
          <a:noFill/>
          <a:ln w="25400">
            <a:solidFill>
              <a:srgbClr val="416834"/>
            </a:solidFill>
            <a:prstDash val="solid"/>
            <a:tailEnd type="triangle"/>
          </a:ln>
        </p:spPr>
        <p:txBody>
          <a:bodyPr/>
          <a:lstStyle/>
          <a:p>
            <a:endParaRPr lang="en-CA"/>
          </a:p>
        </p:txBody>
      </p:sp>
      <p:sp>
        <p:nvSpPr>
          <p:cNvPr id="10" name="Flow box 3"/>
          <p:cNvSpPr/>
          <p:nvPr/>
        </p:nvSpPr>
        <p:spPr>
          <a:xfrm>
            <a:off x="5181448" y="1463040"/>
            <a:ext cx="1828800" cy="1325880"/>
          </a:xfrm>
          <a:prstGeom prst="roundRect">
            <a:avLst>
              <a:gd name="adj" fmla="val 8276"/>
            </a:avLst>
          </a:prstGeom>
          <a:solidFill>
            <a:schemeClr val="tx2"/>
          </a:solidFill>
          <a:ln/>
        </p:spPr>
        <p:txBody>
          <a:bodyPr/>
          <a:lstStyle/>
          <a:p>
            <a:endParaRPr lang="en-CA"/>
          </a:p>
        </p:txBody>
      </p:sp>
      <p:sp>
        <p:nvSpPr>
          <p:cNvPr id="11" name="Text 8"/>
          <p:cNvSpPr txBox="1"/>
          <p:nvPr/>
        </p:nvSpPr>
        <p:spPr>
          <a:xfrm>
            <a:off x="5291176" y="1554480"/>
            <a:ext cx="1609344" cy="1143000"/>
          </a:xfrm>
          <a:prstGeom prst="rect">
            <a:avLst/>
          </a:prstGeom>
          <a:noFill/>
          <a:ln/>
        </p:spPr>
        <p:txBody>
          <a:bodyPr wrap="square" lIns="0" tIns="0" rIns="0" bIns="0" rtlCol="0" anchor="ctr"/>
          <a:lstStyle/>
          <a:p>
            <a:pPr marL="0" indent="0" algn="ctr">
              <a:buNone/>
            </a:pPr>
            <a:r>
              <a:rPr lang="en-US" sz="1500" b="1" dirty="0">
                <a:solidFill>
                  <a:schemeClr val="bg1"/>
                </a:solidFill>
              </a:rPr>
              <a:t>Room database</a:t>
            </a:r>
            <a:endParaRPr lang="en-US" sz="1500" dirty="0"/>
          </a:p>
          <a:p>
            <a:pPr marL="0" indent="0" algn="ctr">
              <a:buNone/>
            </a:pPr>
            <a:r>
              <a:rPr lang="en-US" sz="1200" dirty="0">
                <a:solidFill>
                  <a:schemeClr val="accent3"/>
                </a:solidFill>
              </a:rPr>
              <a:t>cart_items, favorites, users</a:t>
            </a:r>
            <a:endParaRPr lang="en-US" sz="1500" dirty="0"/>
          </a:p>
        </p:txBody>
      </p:sp>
      <p:sp>
        <p:nvSpPr>
          <p:cNvPr id="12" name="Arrow"/>
          <p:cNvSpPr/>
          <p:nvPr/>
        </p:nvSpPr>
        <p:spPr>
          <a:xfrm>
            <a:off x="7055968" y="2130552"/>
            <a:ext cx="396164" cy="0"/>
          </a:xfrm>
          <a:prstGeom prst="line">
            <a:avLst/>
          </a:prstGeom>
          <a:noFill/>
          <a:ln w="25400">
            <a:solidFill>
              <a:srgbClr val="416834"/>
            </a:solidFill>
            <a:prstDash val="solid"/>
            <a:tailEnd type="triangle"/>
          </a:ln>
        </p:spPr>
        <p:txBody>
          <a:bodyPr/>
          <a:lstStyle/>
          <a:p>
            <a:endParaRPr lang="en-CA"/>
          </a:p>
        </p:txBody>
      </p:sp>
      <p:sp>
        <p:nvSpPr>
          <p:cNvPr id="13" name="Flow box 4"/>
          <p:cNvSpPr/>
          <p:nvPr/>
        </p:nvSpPr>
        <p:spPr>
          <a:xfrm>
            <a:off x="7497851" y="1463040"/>
            <a:ext cx="1828800" cy="1325880"/>
          </a:xfrm>
          <a:prstGeom prst="roundRect">
            <a:avLst>
              <a:gd name="adj" fmla="val 8276"/>
            </a:avLst>
          </a:prstGeom>
          <a:solidFill>
            <a:schemeClr val="bg2"/>
          </a:solidFill>
          <a:ln/>
        </p:spPr>
        <p:txBody>
          <a:bodyPr/>
          <a:lstStyle/>
          <a:p>
            <a:endParaRPr lang="en-CA"/>
          </a:p>
        </p:txBody>
      </p:sp>
      <p:sp>
        <p:nvSpPr>
          <p:cNvPr id="14" name="Text 11"/>
          <p:cNvSpPr txBox="1"/>
          <p:nvPr/>
        </p:nvSpPr>
        <p:spPr>
          <a:xfrm>
            <a:off x="7607579" y="1554480"/>
            <a:ext cx="1609344" cy="1143000"/>
          </a:xfrm>
          <a:prstGeom prst="rect">
            <a:avLst/>
          </a:prstGeom>
          <a:noFill/>
          <a:ln/>
        </p:spPr>
        <p:txBody>
          <a:bodyPr wrap="square" lIns="0" tIns="0" rIns="0" bIns="0" rtlCol="0" anchor="ctr"/>
          <a:lstStyle/>
          <a:p>
            <a:pPr marL="0" indent="0" algn="ctr">
              <a:buNone/>
            </a:pPr>
            <a:r>
              <a:rPr lang="en-US" sz="1500" b="1" dirty="0">
                <a:solidFill>
                  <a:schemeClr val="tx1"/>
                </a:solidFill>
              </a:rPr>
              <a:t>LiveData observers</a:t>
            </a:r>
            <a:endParaRPr lang="en-US" sz="1500" dirty="0"/>
          </a:p>
          <a:p>
            <a:pPr marL="0" indent="0" algn="ctr">
              <a:buNone/>
            </a:pPr>
            <a:r>
              <a:rPr lang="en-US" sz="1200" dirty="0">
                <a:solidFill>
                  <a:schemeClr val="accent6"/>
                </a:solidFill>
              </a:rPr>
              <a:t>UI refreshes on change</a:t>
            </a:r>
            <a:endParaRPr lang="en-US" sz="1500" dirty="0"/>
          </a:p>
        </p:txBody>
      </p:sp>
      <p:sp>
        <p:nvSpPr>
          <p:cNvPr id="15" name="Arrow"/>
          <p:cNvSpPr/>
          <p:nvPr/>
        </p:nvSpPr>
        <p:spPr>
          <a:xfrm>
            <a:off x="9372371" y="2130552"/>
            <a:ext cx="396164" cy="0"/>
          </a:xfrm>
          <a:prstGeom prst="line">
            <a:avLst/>
          </a:prstGeom>
          <a:noFill/>
          <a:ln w="25400">
            <a:solidFill>
              <a:srgbClr val="416834"/>
            </a:solidFill>
            <a:prstDash val="solid"/>
            <a:tailEnd type="triangle"/>
          </a:ln>
        </p:spPr>
        <p:txBody>
          <a:bodyPr/>
          <a:lstStyle/>
          <a:p>
            <a:endParaRPr lang="en-CA"/>
          </a:p>
        </p:txBody>
      </p:sp>
      <p:sp>
        <p:nvSpPr>
          <p:cNvPr id="16" name="Flow box 5"/>
          <p:cNvSpPr/>
          <p:nvPr/>
        </p:nvSpPr>
        <p:spPr>
          <a:xfrm>
            <a:off x="9814255" y="1463040"/>
            <a:ext cx="1828800" cy="1325880"/>
          </a:xfrm>
          <a:prstGeom prst="roundRect">
            <a:avLst>
              <a:gd name="adj" fmla="val 8276"/>
            </a:avLst>
          </a:prstGeom>
          <a:solidFill>
            <a:schemeClr val="bg2"/>
          </a:solidFill>
          <a:ln/>
        </p:spPr>
        <p:txBody>
          <a:bodyPr/>
          <a:lstStyle/>
          <a:p>
            <a:endParaRPr lang="en-CA"/>
          </a:p>
        </p:txBody>
      </p:sp>
      <p:sp>
        <p:nvSpPr>
          <p:cNvPr id="17" name="Text 14"/>
          <p:cNvSpPr txBox="1"/>
          <p:nvPr/>
        </p:nvSpPr>
        <p:spPr>
          <a:xfrm>
            <a:off x="9923983" y="1554480"/>
            <a:ext cx="1609344" cy="1143000"/>
          </a:xfrm>
          <a:prstGeom prst="rect">
            <a:avLst/>
          </a:prstGeom>
          <a:noFill/>
          <a:ln/>
        </p:spPr>
        <p:txBody>
          <a:bodyPr wrap="square" lIns="0" tIns="0" rIns="0" bIns="0" rtlCol="0" anchor="ctr"/>
          <a:lstStyle/>
          <a:p>
            <a:pPr marL="0" indent="0" algn="ctr">
              <a:buNone/>
            </a:pPr>
            <a:r>
              <a:rPr lang="en-US" sz="1500" b="1" dirty="0">
                <a:solidFill>
                  <a:schemeClr val="tx1"/>
                </a:solidFill>
              </a:rPr>
              <a:t>Cart screen</a:t>
            </a:r>
            <a:endParaRPr lang="en-US" sz="1500" dirty="0"/>
          </a:p>
          <a:p>
            <a:pPr marL="0" indent="0" algn="ctr">
              <a:buNone/>
            </a:pPr>
            <a:r>
              <a:rPr lang="en-US" sz="1200" dirty="0">
                <a:solidFill>
                  <a:schemeClr val="accent6"/>
                </a:solidFill>
              </a:rPr>
              <a:t>local copy if server fails</a:t>
            </a:r>
            <a:endParaRPr lang="en-US" sz="1500" dirty="0"/>
          </a:p>
        </p:txBody>
      </p:sp>
      <p:sp>
        <p:nvSpPr>
          <p:cNvPr id="18" name="Storage card 1"/>
          <p:cNvSpPr/>
          <p:nvPr/>
        </p:nvSpPr>
        <p:spPr>
          <a:xfrm>
            <a:off x="548640" y="3154680"/>
            <a:ext cx="3566160" cy="2697480"/>
          </a:xfrm>
          <a:prstGeom prst="roundRect">
            <a:avLst>
              <a:gd name="adj" fmla="val 4068"/>
            </a:avLst>
          </a:prstGeom>
          <a:solidFill>
            <a:schemeClr val="bg2"/>
          </a:solidFill>
          <a:ln/>
        </p:spPr>
        <p:txBody>
          <a:bodyPr/>
          <a:lstStyle/>
          <a:p>
            <a:endParaRPr lang="en-CA"/>
          </a:p>
        </p:txBody>
      </p:sp>
      <p:sp>
        <p:nvSpPr>
          <p:cNvPr id="19" name="Storage icon 1 circle"/>
          <p:cNvSpPr/>
          <p:nvPr/>
        </p:nvSpPr>
        <p:spPr>
          <a:xfrm>
            <a:off x="822960" y="3383280"/>
            <a:ext cx="640080" cy="640080"/>
          </a:xfrm>
          <a:prstGeom prst="ellipse">
            <a:avLst/>
          </a:prstGeom>
          <a:solidFill>
            <a:srgbClr val="416834"/>
          </a:solidFill>
          <a:ln/>
        </p:spPr>
        <p:txBody>
          <a:bodyPr/>
          <a:lstStyle/>
          <a:p>
            <a:endParaRPr lang="en-CA"/>
          </a:p>
        </p:txBody>
      </p:sp>
      <p:pic>
        <p:nvPicPr>
          <p:cNvPr id="20" name="Storage icon 1" descr="Storage icon 1"/>
          <p:cNvPicPr>
            <a:picLocks noChangeAspect="1"/>
          </p:cNvPicPr>
          <p:nvPr/>
        </p:nvPicPr>
        <p:blipFill>
          <a:blip r:embed="rId3"/>
          <a:stretch>
            <a:fillRect/>
          </a:stretch>
        </p:blipFill>
        <p:spPr>
          <a:xfrm>
            <a:off x="982980" y="3543300"/>
            <a:ext cx="320040" cy="320040"/>
          </a:xfrm>
          <a:prstGeom prst="rect">
            <a:avLst/>
          </a:prstGeom>
        </p:spPr>
      </p:pic>
      <p:sp>
        <p:nvSpPr>
          <p:cNvPr id="21" name="Text 17"/>
          <p:cNvSpPr txBox="1"/>
          <p:nvPr/>
        </p:nvSpPr>
        <p:spPr>
          <a:xfrm>
            <a:off x="1645920" y="3383280"/>
            <a:ext cx="2286000" cy="640080"/>
          </a:xfrm>
          <a:prstGeom prst="rect">
            <a:avLst/>
          </a:prstGeom>
          <a:noFill/>
          <a:ln/>
        </p:spPr>
        <p:txBody>
          <a:bodyPr wrap="square" lIns="0" tIns="0" rIns="0" bIns="0" rtlCol="0" anchor="ctr"/>
          <a:lstStyle/>
          <a:p>
            <a:pPr marL="0" indent="0">
              <a:buNone/>
            </a:pPr>
            <a:r>
              <a:rPr lang="en-US" sz="2000" b="1" dirty="0">
                <a:solidFill>
                  <a:schemeClr val="tx2"/>
                </a:solidFill>
              </a:rPr>
              <a:t>SharedPreferences</a:t>
            </a:r>
            <a:endParaRPr lang="en-US" sz="2000" dirty="0"/>
          </a:p>
        </p:txBody>
      </p:sp>
      <p:sp>
        <p:nvSpPr>
          <p:cNvPr id="22" name="Text 18"/>
          <p:cNvSpPr txBox="1"/>
          <p:nvPr/>
        </p:nvSpPr>
        <p:spPr>
          <a:xfrm>
            <a:off x="822960" y="4251960"/>
            <a:ext cx="3017520" cy="15087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Private mode key-value storage</a:t>
            </a:r>
            <a:endParaRPr lang="en-US" sz="1500" dirty="0"/>
          </a:p>
          <a:p>
            <a:pPr marL="177800" indent="-177800">
              <a:spcAft>
                <a:spcPts val="600"/>
              </a:spcAft>
              <a:buSzPct val="100000"/>
              <a:buChar char="•"/>
            </a:pPr>
            <a:r>
              <a:rPr lang="en-US" sz="1500" dirty="0">
                <a:solidFill>
                  <a:schemeClr val="tx1"/>
                </a:solidFill>
              </a:rPr>
              <a:t>Session and customer id</a:t>
            </a:r>
            <a:endParaRPr lang="en-US" sz="1500" dirty="0"/>
          </a:p>
          <a:p>
            <a:pPr marL="177800" indent="-177800">
              <a:spcAft>
                <a:spcPts val="600"/>
              </a:spcAft>
              <a:buSzPct val="100000"/>
              <a:buChar char="•"/>
            </a:pPr>
            <a:r>
              <a:rPr lang="en-US" sz="1500" dirty="0">
                <a:solidFill>
                  <a:schemeClr val="tx1"/>
                </a:solidFill>
              </a:rPr>
              <a:t>Theme mode and FCM token</a:t>
            </a:r>
            <a:endParaRPr lang="en-US" sz="1500" dirty="0"/>
          </a:p>
        </p:txBody>
      </p:sp>
      <p:sp>
        <p:nvSpPr>
          <p:cNvPr id="23" name="Storage card 2"/>
          <p:cNvSpPr/>
          <p:nvPr/>
        </p:nvSpPr>
        <p:spPr>
          <a:xfrm>
            <a:off x="4312768" y="3154680"/>
            <a:ext cx="3566160" cy="2697480"/>
          </a:xfrm>
          <a:prstGeom prst="roundRect">
            <a:avLst>
              <a:gd name="adj" fmla="val 4068"/>
            </a:avLst>
          </a:prstGeom>
          <a:solidFill>
            <a:schemeClr val="bg2"/>
          </a:solidFill>
          <a:ln/>
        </p:spPr>
        <p:txBody>
          <a:bodyPr/>
          <a:lstStyle/>
          <a:p>
            <a:endParaRPr lang="en-CA"/>
          </a:p>
        </p:txBody>
      </p:sp>
      <p:sp>
        <p:nvSpPr>
          <p:cNvPr id="24" name="Storage icon 2 circle"/>
          <p:cNvSpPr/>
          <p:nvPr/>
        </p:nvSpPr>
        <p:spPr>
          <a:xfrm>
            <a:off x="4587088" y="3383280"/>
            <a:ext cx="640080" cy="640080"/>
          </a:xfrm>
          <a:prstGeom prst="ellipse">
            <a:avLst/>
          </a:prstGeom>
          <a:solidFill>
            <a:srgbClr val="416834"/>
          </a:solidFill>
          <a:ln/>
        </p:spPr>
        <p:txBody>
          <a:bodyPr/>
          <a:lstStyle/>
          <a:p>
            <a:endParaRPr lang="en-CA"/>
          </a:p>
        </p:txBody>
      </p:sp>
      <p:pic>
        <p:nvPicPr>
          <p:cNvPr id="25" name="Storage icon 2" descr="Storage icon 2"/>
          <p:cNvPicPr>
            <a:picLocks noChangeAspect="1"/>
          </p:cNvPicPr>
          <p:nvPr/>
        </p:nvPicPr>
        <p:blipFill>
          <a:blip r:embed="rId4"/>
          <a:stretch>
            <a:fillRect/>
          </a:stretch>
        </p:blipFill>
        <p:spPr>
          <a:xfrm>
            <a:off x="4747108" y="3543300"/>
            <a:ext cx="320040" cy="320040"/>
          </a:xfrm>
          <a:prstGeom prst="rect">
            <a:avLst/>
          </a:prstGeom>
        </p:spPr>
      </p:pic>
      <p:sp>
        <p:nvSpPr>
          <p:cNvPr id="26" name="Text 21"/>
          <p:cNvSpPr txBox="1"/>
          <p:nvPr/>
        </p:nvSpPr>
        <p:spPr>
          <a:xfrm>
            <a:off x="5410048" y="3383280"/>
            <a:ext cx="2286000" cy="640080"/>
          </a:xfrm>
          <a:prstGeom prst="rect">
            <a:avLst/>
          </a:prstGeom>
          <a:noFill/>
          <a:ln/>
        </p:spPr>
        <p:txBody>
          <a:bodyPr wrap="square" lIns="0" tIns="0" rIns="0" bIns="0" rtlCol="0" anchor="ctr"/>
          <a:lstStyle/>
          <a:p>
            <a:pPr marL="0" indent="0">
              <a:buNone/>
            </a:pPr>
            <a:r>
              <a:rPr lang="en-US" sz="2000" b="1" dirty="0">
                <a:solidFill>
                  <a:schemeClr val="tx2"/>
                </a:solidFill>
              </a:rPr>
              <a:t>Room (SQLite)</a:t>
            </a:r>
            <a:endParaRPr lang="en-US" sz="2000" dirty="0"/>
          </a:p>
        </p:txBody>
      </p:sp>
      <p:sp>
        <p:nvSpPr>
          <p:cNvPr id="27" name="Text 22"/>
          <p:cNvSpPr txBox="1"/>
          <p:nvPr/>
        </p:nvSpPr>
        <p:spPr>
          <a:xfrm>
            <a:off x="4587088" y="4251960"/>
            <a:ext cx="3017520" cy="15087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3 entities and 3 DAOs</a:t>
            </a:r>
            <a:endParaRPr lang="en-US" sz="1500" dirty="0"/>
          </a:p>
          <a:p>
            <a:pPr marL="177800" indent="-177800">
              <a:spcAft>
                <a:spcPts val="600"/>
              </a:spcAft>
              <a:buSzPct val="100000"/>
              <a:buChar char="•"/>
            </a:pPr>
            <a:r>
              <a:rPr lang="en-US" sz="1500" dirty="0">
                <a:solidFill>
                  <a:schemeClr val="tx1"/>
                </a:solidFill>
              </a:rPr>
              <a:t>Repository and helper classes</a:t>
            </a:r>
            <a:endParaRPr lang="en-US" sz="1500" dirty="0"/>
          </a:p>
          <a:p>
            <a:pPr marL="177800" indent="-177800">
              <a:spcAft>
                <a:spcPts val="600"/>
              </a:spcAft>
              <a:buSzPct val="100000"/>
              <a:buChar char="•"/>
            </a:pPr>
            <a:r>
              <a:rPr lang="en-US" sz="1500" dirty="0">
                <a:solidFill>
                  <a:schemeClr val="tx1"/>
                </a:solidFill>
              </a:rPr>
              <a:t>Singleton database instance</a:t>
            </a:r>
            <a:endParaRPr lang="en-US" sz="1500" dirty="0"/>
          </a:p>
        </p:txBody>
      </p:sp>
      <p:sp>
        <p:nvSpPr>
          <p:cNvPr id="28" name="Storage card 3"/>
          <p:cNvSpPr/>
          <p:nvPr/>
        </p:nvSpPr>
        <p:spPr>
          <a:xfrm>
            <a:off x="8076895" y="3154680"/>
            <a:ext cx="3566160" cy="2697480"/>
          </a:xfrm>
          <a:prstGeom prst="roundRect">
            <a:avLst>
              <a:gd name="adj" fmla="val 4068"/>
            </a:avLst>
          </a:prstGeom>
          <a:solidFill>
            <a:schemeClr val="bg2"/>
          </a:solidFill>
          <a:ln/>
        </p:spPr>
        <p:txBody>
          <a:bodyPr/>
          <a:lstStyle/>
          <a:p>
            <a:endParaRPr lang="en-CA"/>
          </a:p>
        </p:txBody>
      </p:sp>
      <p:sp>
        <p:nvSpPr>
          <p:cNvPr id="29" name="Storage icon 3 circle"/>
          <p:cNvSpPr/>
          <p:nvPr/>
        </p:nvSpPr>
        <p:spPr>
          <a:xfrm>
            <a:off x="8351215" y="3383280"/>
            <a:ext cx="640080" cy="640080"/>
          </a:xfrm>
          <a:prstGeom prst="ellipse">
            <a:avLst/>
          </a:prstGeom>
          <a:solidFill>
            <a:srgbClr val="416834"/>
          </a:solidFill>
          <a:ln/>
        </p:spPr>
        <p:txBody>
          <a:bodyPr/>
          <a:lstStyle/>
          <a:p>
            <a:endParaRPr lang="en-CA"/>
          </a:p>
        </p:txBody>
      </p:sp>
      <p:pic>
        <p:nvPicPr>
          <p:cNvPr id="30" name="Storage icon 3" descr="Storage icon 3"/>
          <p:cNvPicPr>
            <a:picLocks noChangeAspect="1"/>
          </p:cNvPicPr>
          <p:nvPr/>
        </p:nvPicPr>
        <p:blipFill>
          <a:blip r:embed="rId5"/>
          <a:stretch>
            <a:fillRect/>
          </a:stretch>
        </p:blipFill>
        <p:spPr>
          <a:xfrm>
            <a:off x="8511235" y="3543300"/>
            <a:ext cx="320040" cy="320040"/>
          </a:xfrm>
          <a:prstGeom prst="rect">
            <a:avLst/>
          </a:prstGeom>
        </p:spPr>
      </p:pic>
      <p:sp>
        <p:nvSpPr>
          <p:cNvPr id="31" name="Text 25"/>
          <p:cNvSpPr txBox="1"/>
          <p:nvPr/>
        </p:nvSpPr>
        <p:spPr>
          <a:xfrm>
            <a:off x="9174175" y="3383280"/>
            <a:ext cx="2286000" cy="640080"/>
          </a:xfrm>
          <a:prstGeom prst="rect">
            <a:avLst/>
          </a:prstGeom>
          <a:noFill/>
          <a:ln/>
        </p:spPr>
        <p:txBody>
          <a:bodyPr wrap="square" lIns="0" tIns="0" rIns="0" bIns="0" rtlCol="0" anchor="ctr"/>
          <a:lstStyle/>
          <a:p>
            <a:pPr marL="0" indent="0">
              <a:buNone/>
            </a:pPr>
            <a:r>
              <a:rPr lang="en-US" sz="2000" b="1" dirty="0">
                <a:solidFill>
                  <a:schemeClr val="tx2"/>
                </a:solidFill>
              </a:rPr>
              <a:t>Sync policy</a:t>
            </a:r>
            <a:endParaRPr lang="en-US" sz="2000" dirty="0"/>
          </a:p>
        </p:txBody>
      </p:sp>
      <p:sp>
        <p:nvSpPr>
          <p:cNvPr id="32" name="Text 26"/>
          <p:cNvSpPr txBox="1"/>
          <p:nvPr/>
        </p:nvSpPr>
        <p:spPr>
          <a:xfrm>
            <a:off x="8351215" y="4251960"/>
            <a:ext cx="3017520" cy="15087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Periodic work every 6 hours, KEEP policy</a:t>
            </a:r>
            <a:endParaRPr lang="en-US" sz="1500" dirty="0"/>
          </a:p>
          <a:p>
            <a:pPr marL="177800" indent="-177800">
              <a:spcAft>
                <a:spcPts val="600"/>
              </a:spcAft>
              <a:buSzPct val="100000"/>
              <a:buChar char="•"/>
            </a:pPr>
            <a:r>
              <a:rPr lang="en-US" sz="1500" dirty="0">
                <a:solidFill>
                  <a:schemeClr val="tx1"/>
                </a:solidFill>
              </a:rPr>
              <a:t>One-time sync when back online</a:t>
            </a:r>
            <a:endParaRPr lang="en-US" sz="1500" dirty="0"/>
          </a:p>
          <a:p>
            <a:pPr marL="177800" indent="-177800">
              <a:spcAft>
                <a:spcPts val="600"/>
              </a:spcAft>
              <a:buSzPct val="100000"/>
              <a:buChar char="•"/>
            </a:pPr>
            <a:r>
              <a:rPr lang="en-US" sz="1500" dirty="0">
                <a:solidFill>
                  <a:schemeClr val="tx1"/>
                </a:solidFill>
              </a:rPr>
              <a:t>Retry when a sync run fails</a:t>
            </a:r>
            <a:endParaRPr lang="en-US" sz="1500" dirty="0"/>
          </a:p>
          <a:p>
            <a:pPr marL="177800" indent="-177800">
              <a:spcAft>
                <a:spcPts val="600"/>
              </a:spcAft>
              <a:buSzPct val="100000"/>
              <a:buChar char="•"/>
            </a:pPr>
            <a:r>
              <a:rPr lang="en-US" sz="1500" dirty="0">
                <a:solidFill>
                  <a:schemeClr val="tx1"/>
                </a:solidFill>
              </a:rPr>
              <a:t>Server to local refresh</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6862"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Network, Cloud And Payments</a:t>
            </a:r>
            <a:endParaRPr lang="en-US" sz="3400" dirty="0"/>
          </a:p>
        </p:txBody>
      </p:sp>
      <p:sp>
        <p:nvSpPr>
          <p:cNvPr id="4" name="Retrofit panel"/>
          <p:cNvSpPr/>
          <p:nvPr/>
        </p:nvSpPr>
        <p:spPr>
          <a:xfrm>
            <a:off x="548640" y="1417320"/>
            <a:ext cx="3383280" cy="4663440"/>
          </a:xfrm>
          <a:prstGeom prst="roundRect">
            <a:avLst>
              <a:gd name="adj" fmla="val 3243"/>
            </a:avLst>
          </a:prstGeom>
          <a:solidFill>
            <a:schemeClr val="tx2"/>
          </a:solidFill>
          <a:ln/>
        </p:spPr>
        <p:txBody>
          <a:bodyPr/>
          <a:lstStyle/>
          <a:p>
            <a:endParaRPr lang="en-CA"/>
          </a:p>
        </p:txBody>
      </p:sp>
      <p:sp>
        <p:nvSpPr>
          <p:cNvPr id="5" name="Text 2"/>
          <p:cNvSpPr txBox="1"/>
          <p:nvPr/>
        </p:nvSpPr>
        <p:spPr>
          <a:xfrm>
            <a:off x="868680" y="1645920"/>
            <a:ext cx="27432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23</a:t>
            </a:r>
            <a:endParaRPr lang="en-US" sz="7200" dirty="0"/>
          </a:p>
        </p:txBody>
      </p:sp>
      <p:sp>
        <p:nvSpPr>
          <p:cNvPr id="6" name="Text 3"/>
          <p:cNvSpPr txBox="1"/>
          <p:nvPr/>
        </p:nvSpPr>
        <p:spPr>
          <a:xfrm>
            <a:off x="868680" y="2788920"/>
            <a:ext cx="2743200" cy="640080"/>
          </a:xfrm>
          <a:prstGeom prst="rect">
            <a:avLst/>
          </a:prstGeom>
          <a:noFill/>
          <a:ln/>
        </p:spPr>
        <p:txBody>
          <a:bodyPr wrap="square" lIns="0" tIns="0" rIns="0" bIns="0" rtlCol="0" anchor="t"/>
          <a:lstStyle/>
          <a:p>
            <a:pPr marL="0" indent="0">
              <a:buNone/>
            </a:pPr>
            <a:r>
              <a:rPr lang="en-US" sz="1700" b="1" dirty="0">
                <a:solidFill>
                  <a:schemeClr val="bg1"/>
                </a:solidFill>
              </a:rPr>
              <a:t>REST endpoints through Retrofit and Gson</a:t>
            </a:r>
            <a:endParaRPr lang="en-US" sz="1700" dirty="0"/>
          </a:p>
        </p:txBody>
      </p:sp>
      <p:sp>
        <p:nvSpPr>
          <p:cNvPr id="7" name="Text 4"/>
          <p:cNvSpPr txBox="1"/>
          <p:nvPr/>
        </p:nvSpPr>
        <p:spPr>
          <a:xfrm>
            <a:off x="868680" y="3566160"/>
            <a:ext cx="283464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GET, POST and DELETE</a:t>
            </a:r>
            <a:endParaRPr lang="en-US" sz="1400" dirty="0"/>
          </a:p>
          <a:p>
            <a:pPr marL="177800" indent="-177800">
              <a:spcAft>
                <a:spcPts val="600"/>
              </a:spcAft>
              <a:buSzPct val="100000"/>
              <a:buChar char="•"/>
            </a:pPr>
            <a:r>
              <a:rPr lang="en-US" sz="1400" dirty="0">
                <a:solidFill>
                  <a:schemeClr val="bg1"/>
                </a:solidFill>
              </a:rPr>
              <a:t>Cart, wishlist, orders, profile, hubs, gears</a:t>
            </a:r>
            <a:endParaRPr lang="en-US" sz="1400" dirty="0"/>
          </a:p>
          <a:p>
            <a:pPr marL="177800" indent="-177800">
              <a:spcAft>
                <a:spcPts val="600"/>
              </a:spcAft>
              <a:buSzPct val="100000"/>
              <a:buChar char="•"/>
            </a:pPr>
            <a:r>
              <a:rPr lang="en-US" sz="1400" dirty="0">
                <a:solidFill>
                  <a:schemeClr val="bg1"/>
                </a:solidFill>
              </a:rPr>
              <a:t>Async enqueue() callbacks</a:t>
            </a:r>
            <a:endParaRPr lang="en-US" sz="1400" dirty="0"/>
          </a:p>
          <a:p>
            <a:pPr marL="177800" indent="-177800">
              <a:spcAft>
                <a:spcPts val="600"/>
              </a:spcAft>
              <a:buSzPct val="100000"/>
              <a:buChar char="•"/>
            </a:pPr>
            <a:r>
              <a:rPr lang="en-US" sz="1400" dirty="0">
                <a:solidFill>
                  <a:schemeClr val="bg1"/>
                </a:solidFill>
              </a:rPr>
              <a:t>JSON mapped to DTO classes</a:t>
            </a:r>
            <a:endParaRPr lang="en-US" sz="1400" dirty="0"/>
          </a:p>
        </p:txBody>
      </p:sp>
      <p:sp>
        <p:nvSpPr>
          <p:cNvPr id="8" name="Cloud card 1"/>
          <p:cNvSpPr/>
          <p:nvPr/>
        </p:nvSpPr>
        <p:spPr>
          <a:xfrm>
            <a:off x="4160520" y="1417320"/>
            <a:ext cx="7479792" cy="1463040"/>
          </a:xfrm>
          <a:prstGeom prst="roundRect">
            <a:avLst>
              <a:gd name="adj" fmla="val 7500"/>
            </a:avLst>
          </a:prstGeom>
          <a:solidFill>
            <a:schemeClr val="bg2"/>
          </a:solidFill>
          <a:ln/>
        </p:spPr>
        <p:txBody>
          <a:bodyPr/>
          <a:lstStyle/>
          <a:p>
            <a:endParaRPr lang="en-CA"/>
          </a:p>
        </p:txBody>
      </p:sp>
      <p:sp>
        <p:nvSpPr>
          <p:cNvPr id="9" name="Cloud icon 1 circle"/>
          <p:cNvSpPr/>
          <p:nvPr/>
        </p:nvSpPr>
        <p:spPr>
          <a:xfrm>
            <a:off x="4434840" y="1783080"/>
            <a:ext cx="731520" cy="731520"/>
          </a:xfrm>
          <a:prstGeom prst="ellipse">
            <a:avLst/>
          </a:prstGeom>
          <a:solidFill>
            <a:srgbClr val="416834"/>
          </a:solidFill>
          <a:ln/>
        </p:spPr>
        <p:txBody>
          <a:bodyPr/>
          <a:lstStyle/>
          <a:p>
            <a:endParaRPr lang="en-CA"/>
          </a:p>
        </p:txBody>
      </p:sp>
      <p:pic>
        <p:nvPicPr>
          <p:cNvPr id="10" name="Cloud icon 1" descr="Cloud icon 1"/>
          <p:cNvPicPr>
            <a:picLocks noChangeAspect="1"/>
          </p:cNvPicPr>
          <p:nvPr/>
        </p:nvPicPr>
        <p:blipFill>
          <a:blip r:embed="rId3"/>
          <a:stretch>
            <a:fillRect/>
          </a:stretch>
        </p:blipFill>
        <p:spPr>
          <a:xfrm>
            <a:off x="4617720" y="1965960"/>
            <a:ext cx="365760" cy="365760"/>
          </a:xfrm>
          <a:prstGeom prst="rect">
            <a:avLst/>
          </a:prstGeom>
        </p:spPr>
      </p:pic>
      <p:sp>
        <p:nvSpPr>
          <p:cNvPr id="11" name="Text 7"/>
          <p:cNvSpPr txBox="1"/>
          <p:nvPr/>
        </p:nvSpPr>
        <p:spPr>
          <a:xfrm>
            <a:off x="5440680" y="1554480"/>
            <a:ext cx="5943600" cy="1188720"/>
          </a:xfrm>
          <a:prstGeom prst="rect">
            <a:avLst/>
          </a:prstGeom>
          <a:noFill/>
          <a:ln/>
        </p:spPr>
        <p:txBody>
          <a:bodyPr wrap="square" lIns="0" tIns="0" rIns="0" bIns="0" rtlCol="0" anchor="ctr"/>
          <a:lstStyle/>
          <a:p>
            <a:pPr marL="0" indent="0">
              <a:buNone/>
            </a:pPr>
            <a:r>
              <a:rPr lang="en-US" sz="1800" b="1" dirty="0">
                <a:solidFill>
                  <a:schemeClr val="tx2"/>
                </a:solidFill>
              </a:rPr>
              <a:t>Firebase Authentication</a:t>
            </a:r>
            <a:endParaRPr lang="en-US" sz="1800" dirty="0"/>
          </a:p>
          <a:p>
            <a:pPr marL="0" indent="0">
              <a:buNone/>
            </a:pPr>
            <a:r>
              <a:rPr lang="en-US" sz="1400" dirty="0">
                <a:solidFill>
                  <a:schemeClr val="tx1"/>
                </a:solidFill>
              </a:rPr>
              <a:t>Email sign-in. Sign-up uses a custom token issued by the backend, and the ID token is exchanged with the backend at login.</a:t>
            </a:r>
            <a:endParaRPr lang="en-US" sz="1800" dirty="0"/>
          </a:p>
        </p:txBody>
      </p:sp>
      <p:sp>
        <p:nvSpPr>
          <p:cNvPr id="12" name="Cloud card 2"/>
          <p:cNvSpPr/>
          <p:nvPr/>
        </p:nvSpPr>
        <p:spPr>
          <a:xfrm>
            <a:off x="4160520" y="3017520"/>
            <a:ext cx="7479792" cy="1463040"/>
          </a:xfrm>
          <a:prstGeom prst="roundRect">
            <a:avLst>
              <a:gd name="adj" fmla="val 7500"/>
            </a:avLst>
          </a:prstGeom>
          <a:solidFill>
            <a:schemeClr val="bg2"/>
          </a:solidFill>
          <a:ln/>
        </p:spPr>
        <p:txBody>
          <a:bodyPr/>
          <a:lstStyle/>
          <a:p>
            <a:endParaRPr lang="en-CA"/>
          </a:p>
        </p:txBody>
      </p:sp>
      <p:sp>
        <p:nvSpPr>
          <p:cNvPr id="13" name="Cloud icon 2 circle"/>
          <p:cNvSpPr/>
          <p:nvPr/>
        </p:nvSpPr>
        <p:spPr>
          <a:xfrm>
            <a:off x="4434840" y="3383280"/>
            <a:ext cx="731520" cy="731520"/>
          </a:xfrm>
          <a:prstGeom prst="ellipse">
            <a:avLst/>
          </a:prstGeom>
          <a:solidFill>
            <a:srgbClr val="416834"/>
          </a:solidFill>
          <a:ln/>
        </p:spPr>
        <p:txBody>
          <a:bodyPr/>
          <a:lstStyle/>
          <a:p>
            <a:endParaRPr lang="en-CA"/>
          </a:p>
        </p:txBody>
      </p:sp>
      <p:pic>
        <p:nvPicPr>
          <p:cNvPr id="14" name="Cloud icon 2" descr="Cloud icon 2"/>
          <p:cNvPicPr>
            <a:picLocks noChangeAspect="1"/>
          </p:cNvPicPr>
          <p:nvPr/>
        </p:nvPicPr>
        <p:blipFill>
          <a:blip r:embed="rId4"/>
          <a:stretch>
            <a:fillRect/>
          </a:stretch>
        </p:blipFill>
        <p:spPr>
          <a:xfrm>
            <a:off x="4617720" y="3566160"/>
            <a:ext cx="365760" cy="365760"/>
          </a:xfrm>
          <a:prstGeom prst="rect">
            <a:avLst/>
          </a:prstGeom>
        </p:spPr>
      </p:pic>
      <p:sp>
        <p:nvSpPr>
          <p:cNvPr id="15" name="Text 10"/>
          <p:cNvSpPr txBox="1"/>
          <p:nvPr/>
        </p:nvSpPr>
        <p:spPr>
          <a:xfrm>
            <a:off x="5440680" y="3154680"/>
            <a:ext cx="5943600" cy="1188720"/>
          </a:xfrm>
          <a:prstGeom prst="rect">
            <a:avLst/>
          </a:prstGeom>
          <a:noFill/>
          <a:ln/>
        </p:spPr>
        <p:txBody>
          <a:bodyPr wrap="square" lIns="0" tIns="0" rIns="0" bIns="0" rtlCol="0" anchor="ctr"/>
          <a:lstStyle/>
          <a:p>
            <a:pPr marL="0" indent="0">
              <a:buNone/>
            </a:pPr>
            <a:r>
              <a:rPr lang="en-US" sz="1800" b="1" dirty="0">
                <a:solidFill>
                  <a:schemeClr val="tx2"/>
                </a:solidFill>
              </a:rPr>
              <a:t>Firebase Cloud Messaging</a:t>
            </a:r>
            <a:endParaRPr lang="en-US" sz="1800" dirty="0"/>
          </a:p>
          <a:p>
            <a:pPr marL="0" indent="0">
              <a:buNone/>
            </a:pPr>
            <a:r>
              <a:rPr lang="en-US" sz="1400" dirty="0">
                <a:solidFill>
                  <a:schemeClr val="tx1"/>
                </a:solidFill>
              </a:rPr>
              <a:t>The device token is stored and synced to the backend, which sends push messages the app shows as notifications.</a:t>
            </a:r>
            <a:endParaRPr lang="en-US" sz="1800" dirty="0"/>
          </a:p>
        </p:txBody>
      </p:sp>
      <p:sp>
        <p:nvSpPr>
          <p:cNvPr id="16" name="Cloud card 3"/>
          <p:cNvSpPr/>
          <p:nvPr/>
        </p:nvSpPr>
        <p:spPr>
          <a:xfrm>
            <a:off x="4160520" y="4617720"/>
            <a:ext cx="7479792" cy="1463040"/>
          </a:xfrm>
          <a:prstGeom prst="roundRect">
            <a:avLst>
              <a:gd name="adj" fmla="val 7500"/>
            </a:avLst>
          </a:prstGeom>
          <a:solidFill>
            <a:schemeClr val="bg2"/>
          </a:solidFill>
          <a:ln/>
        </p:spPr>
        <p:txBody>
          <a:bodyPr/>
          <a:lstStyle/>
          <a:p>
            <a:endParaRPr lang="en-CA"/>
          </a:p>
        </p:txBody>
      </p:sp>
      <p:sp>
        <p:nvSpPr>
          <p:cNvPr id="17" name="Cloud icon 3 circle"/>
          <p:cNvSpPr/>
          <p:nvPr/>
        </p:nvSpPr>
        <p:spPr>
          <a:xfrm>
            <a:off x="4434840" y="4983480"/>
            <a:ext cx="731520" cy="731520"/>
          </a:xfrm>
          <a:prstGeom prst="ellipse">
            <a:avLst/>
          </a:prstGeom>
          <a:solidFill>
            <a:srgbClr val="416834"/>
          </a:solidFill>
          <a:ln/>
        </p:spPr>
        <p:txBody>
          <a:bodyPr/>
          <a:lstStyle/>
          <a:p>
            <a:endParaRPr lang="en-CA"/>
          </a:p>
        </p:txBody>
      </p:sp>
      <p:pic>
        <p:nvPicPr>
          <p:cNvPr id="18" name="Cloud icon 3" descr="Cloud icon 3"/>
          <p:cNvPicPr>
            <a:picLocks noChangeAspect="1"/>
          </p:cNvPicPr>
          <p:nvPr/>
        </p:nvPicPr>
        <p:blipFill>
          <a:blip r:embed="rId5"/>
          <a:stretch>
            <a:fillRect/>
          </a:stretch>
        </p:blipFill>
        <p:spPr>
          <a:xfrm>
            <a:off x="4617720" y="5166360"/>
            <a:ext cx="365760" cy="365760"/>
          </a:xfrm>
          <a:prstGeom prst="rect">
            <a:avLst/>
          </a:prstGeom>
        </p:spPr>
      </p:pic>
      <p:sp>
        <p:nvSpPr>
          <p:cNvPr id="19" name="Text 13"/>
          <p:cNvSpPr txBox="1"/>
          <p:nvPr/>
        </p:nvSpPr>
        <p:spPr>
          <a:xfrm>
            <a:off x="5440680" y="4754880"/>
            <a:ext cx="5943600" cy="1188720"/>
          </a:xfrm>
          <a:prstGeom prst="rect">
            <a:avLst/>
          </a:prstGeom>
          <a:noFill/>
          <a:ln/>
        </p:spPr>
        <p:txBody>
          <a:bodyPr wrap="square" lIns="0" tIns="0" rIns="0" bIns="0" rtlCol="0" anchor="ctr"/>
          <a:lstStyle/>
          <a:p>
            <a:pPr marL="0" indent="0">
              <a:buNone/>
            </a:pPr>
            <a:r>
              <a:rPr lang="en-US" sz="1800" b="1" dirty="0">
                <a:solidFill>
                  <a:schemeClr val="tx2"/>
                </a:solidFill>
              </a:rPr>
              <a:t>Stripe PaymentSheet</a:t>
            </a:r>
            <a:endParaRPr lang="en-US" sz="1800" dirty="0"/>
          </a:p>
          <a:p>
            <a:pPr marL="0" indent="0">
              <a:buNone/>
            </a:pPr>
            <a:r>
              <a:rPr lang="en-US" sz="1400" dirty="0">
                <a:solidFill>
                  <a:schemeClr val="tx1"/>
                </a:solidFill>
              </a:rPr>
              <a:t>The backend creates the PaymentIntent. The app only receives a client secret, so card data never touches it.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9606"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Maps, Location And Phone Features</a:t>
            </a:r>
            <a:endParaRPr lang="en-US" sz="3400" dirty="0"/>
          </a:p>
        </p:txBody>
      </p:sp>
      <p:pic>
        <p:nvPicPr>
          <p:cNvPr id="4" name="Hubs screen" descr="Hubs screen"/>
          <p:cNvPicPr>
            <a:picLocks noChangeAspect="1"/>
          </p:cNvPicPr>
          <p:nvPr/>
        </p:nvPicPr>
        <p:blipFill>
          <a:blip r:embed="rId3"/>
          <a:stretch>
            <a:fillRect/>
          </a:stretch>
        </p:blipFill>
        <p:spPr>
          <a:xfrm>
            <a:off x="548640" y="1371600"/>
            <a:ext cx="2174097" cy="4709160"/>
          </a:xfrm>
          <a:prstGeom prst="rect">
            <a:avLst/>
          </a:prstGeom>
        </p:spPr>
      </p:pic>
      <p:pic>
        <p:nvPicPr>
          <p:cNvPr id="5" name="Hub detail screen" descr="Hub detail screen"/>
          <p:cNvPicPr>
            <a:picLocks noChangeAspect="1"/>
          </p:cNvPicPr>
          <p:nvPr/>
        </p:nvPicPr>
        <p:blipFill>
          <a:blip r:embed="rId4"/>
          <a:stretch>
            <a:fillRect/>
          </a:stretch>
        </p:blipFill>
        <p:spPr>
          <a:xfrm>
            <a:off x="3042777" y="1371600"/>
            <a:ext cx="2174097" cy="4709160"/>
          </a:xfrm>
          <a:prstGeom prst="rect">
            <a:avLst/>
          </a:prstGeom>
        </p:spPr>
      </p:pic>
      <p:sp>
        <p:nvSpPr>
          <p:cNvPr id="6" name="Info card 1"/>
          <p:cNvSpPr/>
          <p:nvPr/>
        </p:nvSpPr>
        <p:spPr>
          <a:xfrm>
            <a:off x="5811234" y="1371600"/>
            <a:ext cx="5831822" cy="1499616"/>
          </a:xfrm>
          <a:prstGeom prst="roundRect">
            <a:avLst>
              <a:gd name="adj" fmla="val 7317"/>
            </a:avLst>
          </a:prstGeom>
          <a:solidFill>
            <a:schemeClr val="bg2"/>
          </a:solidFill>
          <a:ln/>
        </p:spPr>
        <p:txBody>
          <a:bodyPr/>
          <a:lstStyle/>
          <a:p>
            <a:endParaRPr lang="en-CA"/>
          </a:p>
        </p:txBody>
      </p:sp>
      <p:sp>
        <p:nvSpPr>
          <p:cNvPr id="7" name="Text 2"/>
          <p:cNvSpPr txBox="1"/>
          <p:nvPr/>
        </p:nvSpPr>
        <p:spPr>
          <a:xfrm>
            <a:off x="6039834" y="1481328"/>
            <a:ext cx="5374622" cy="320040"/>
          </a:xfrm>
          <a:prstGeom prst="rect">
            <a:avLst/>
          </a:prstGeom>
          <a:noFill/>
          <a:ln/>
        </p:spPr>
        <p:txBody>
          <a:bodyPr wrap="square" lIns="0" tIns="0" rIns="0" bIns="0" rtlCol="0" anchor="t"/>
          <a:lstStyle/>
          <a:p>
            <a:pPr marL="0" indent="0">
              <a:buNone/>
            </a:pPr>
            <a:r>
              <a:rPr lang="en-US" sz="1700" b="1" dirty="0">
                <a:solidFill>
                  <a:schemeClr val="tx2"/>
                </a:solidFill>
              </a:rPr>
              <a:t>Google Maps SDK</a:t>
            </a:r>
            <a:endParaRPr lang="en-US" sz="1700" dirty="0"/>
          </a:p>
        </p:txBody>
      </p:sp>
      <p:sp>
        <p:nvSpPr>
          <p:cNvPr id="8" name="Text 3"/>
          <p:cNvSpPr txBox="1"/>
          <p:nvPr/>
        </p:nvSpPr>
        <p:spPr>
          <a:xfrm>
            <a:off x="6039834" y="1847088"/>
            <a:ext cx="5374622" cy="960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Marker and info window per hub</a:t>
            </a:r>
            <a:endParaRPr lang="en-US" sz="1400" dirty="0"/>
          </a:p>
          <a:p>
            <a:pPr marL="177800" indent="-177800">
              <a:spcAft>
                <a:spcPts val="600"/>
              </a:spcAft>
              <a:buSzPct val="100000"/>
              <a:buChar char="•"/>
            </a:pPr>
            <a:r>
              <a:rPr lang="en-US" sz="1400" dirty="0">
                <a:solidFill>
                  <a:schemeClr val="tx1"/>
                </a:solidFill>
              </a:rPr>
              <a:t>Custom map style, my-location layer</a:t>
            </a:r>
            <a:endParaRPr lang="en-US" sz="1400" dirty="0"/>
          </a:p>
          <a:p>
            <a:pPr marL="177800" indent="-177800">
              <a:spcAft>
                <a:spcPts val="600"/>
              </a:spcAft>
              <a:buSzPct val="100000"/>
              <a:buChar char="•"/>
            </a:pPr>
            <a:r>
              <a:rPr lang="en-US" sz="1400" dirty="0">
                <a:solidFill>
                  <a:schemeClr val="tx1"/>
                </a:solidFill>
              </a:rPr>
              <a:t>Animated camera and nearby-hubs bottom sheet</a:t>
            </a:r>
            <a:endParaRPr lang="en-US" sz="1400" dirty="0"/>
          </a:p>
        </p:txBody>
      </p:sp>
      <p:sp>
        <p:nvSpPr>
          <p:cNvPr id="9" name="Info card 2"/>
          <p:cNvSpPr/>
          <p:nvPr/>
        </p:nvSpPr>
        <p:spPr>
          <a:xfrm>
            <a:off x="5811234" y="2999232"/>
            <a:ext cx="5831822" cy="1499616"/>
          </a:xfrm>
          <a:prstGeom prst="roundRect">
            <a:avLst>
              <a:gd name="adj" fmla="val 7317"/>
            </a:avLst>
          </a:prstGeom>
          <a:solidFill>
            <a:schemeClr val="bg2"/>
          </a:solidFill>
          <a:ln/>
        </p:spPr>
        <p:txBody>
          <a:bodyPr/>
          <a:lstStyle/>
          <a:p>
            <a:endParaRPr lang="en-CA"/>
          </a:p>
        </p:txBody>
      </p:sp>
      <p:sp>
        <p:nvSpPr>
          <p:cNvPr id="10" name="Text 5"/>
          <p:cNvSpPr txBox="1"/>
          <p:nvPr/>
        </p:nvSpPr>
        <p:spPr>
          <a:xfrm>
            <a:off x="6039834" y="3108960"/>
            <a:ext cx="5374622" cy="320040"/>
          </a:xfrm>
          <a:prstGeom prst="rect">
            <a:avLst/>
          </a:prstGeom>
          <a:noFill/>
          <a:ln/>
        </p:spPr>
        <p:txBody>
          <a:bodyPr wrap="square" lIns="0" tIns="0" rIns="0" bIns="0" rtlCol="0" anchor="t"/>
          <a:lstStyle/>
          <a:p>
            <a:pPr marL="0" indent="0">
              <a:buNone/>
            </a:pPr>
            <a:r>
              <a:rPr lang="en-US" sz="1700" b="1" dirty="0">
                <a:solidFill>
                  <a:schemeClr val="tx2"/>
                </a:solidFill>
              </a:rPr>
              <a:t>Location</a:t>
            </a:r>
            <a:endParaRPr lang="en-US" sz="1700" dirty="0"/>
          </a:p>
        </p:txBody>
      </p:sp>
      <p:sp>
        <p:nvSpPr>
          <p:cNvPr id="11" name="Text 6"/>
          <p:cNvSpPr txBox="1"/>
          <p:nvPr/>
        </p:nvSpPr>
        <p:spPr>
          <a:xfrm>
            <a:off x="6039834" y="3474720"/>
            <a:ext cx="5374622" cy="960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Last known GPS or network location</a:t>
            </a:r>
            <a:endParaRPr lang="en-US" sz="1400" dirty="0"/>
          </a:p>
          <a:p>
            <a:pPr marL="177800" indent="-177800">
              <a:spcAft>
                <a:spcPts val="600"/>
              </a:spcAft>
              <a:buSzPct val="100000"/>
              <a:buChar char="•"/>
            </a:pPr>
            <a:r>
              <a:rPr lang="en-US" sz="1400" dirty="0">
                <a:solidFill>
                  <a:schemeClr val="tx1"/>
                </a:solidFill>
              </a:rPr>
              <a:t>Distance with Location.distanceBetween</a:t>
            </a:r>
            <a:endParaRPr lang="en-US" sz="1400" dirty="0"/>
          </a:p>
          <a:p>
            <a:pPr marL="177800" indent="-177800">
              <a:spcAft>
                <a:spcPts val="600"/>
              </a:spcAft>
              <a:buSzPct val="100000"/>
              <a:buChar char="•"/>
            </a:pPr>
            <a:r>
              <a:rPr lang="en-US" sz="1400" dirty="0">
                <a:solidFill>
                  <a:schemeClr val="tx1"/>
                </a:solidFill>
              </a:rPr>
              <a:t>Permission requested at runtime, graceful fallback</a:t>
            </a:r>
            <a:endParaRPr lang="en-US" sz="1400" dirty="0"/>
          </a:p>
        </p:txBody>
      </p:sp>
      <p:sp>
        <p:nvSpPr>
          <p:cNvPr id="12" name="Info card 3"/>
          <p:cNvSpPr/>
          <p:nvPr/>
        </p:nvSpPr>
        <p:spPr>
          <a:xfrm>
            <a:off x="5811234" y="4626864"/>
            <a:ext cx="5831822" cy="1499616"/>
          </a:xfrm>
          <a:prstGeom prst="roundRect">
            <a:avLst>
              <a:gd name="adj" fmla="val 7317"/>
            </a:avLst>
          </a:prstGeom>
          <a:solidFill>
            <a:schemeClr val="bg2"/>
          </a:solidFill>
          <a:ln/>
        </p:spPr>
        <p:txBody>
          <a:bodyPr/>
          <a:lstStyle/>
          <a:p>
            <a:endParaRPr lang="en-CA"/>
          </a:p>
        </p:txBody>
      </p:sp>
      <p:sp>
        <p:nvSpPr>
          <p:cNvPr id="13" name="Text 8"/>
          <p:cNvSpPr txBox="1"/>
          <p:nvPr/>
        </p:nvSpPr>
        <p:spPr>
          <a:xfrm>
            <a:off x="6039834" y="4736592"/>
            <a:ext cx="5374622" cy="320040"/>
          </a:xfrm>
          <a:prstGeom prst="rect">
            <a:avLst/>
          </a:prstGeom>
          <a:noFill/>
          <a:ln/>
        </p:spPr>
        <p:txBody>
          <a:bodyPr wrap="square" lIns="0" tIns="0" rIns="0" bIns="0" rtlCol="0" anchor="t"/>
          <a:lstStyle/>
          <a:p>
            <a:pPr marL="0" indent="0">
              <a:buNone/>
            </a:pPr>
            <a:r>
              <a:rPr lang="en-US" sz="1700" b="1" dirty="0">
                <a:solidFill>
                  <a:schemeClr val="tx2"/>
                </a:solidFill>
              </a:rPr>
              <a:t>Phone integration</a:t>
            </a:r>
            <a:endParaRPr lang="en-US" sz="1700" dirty="0"/>
          </a:p>
        </p:txBody>
      </p:sp>
      <p:sp>
        <p:nvSpPr>
          <p:cNvPr id="14" name="Text 9"/>
          <p:cNvSpPr txBox="1"/>
          <p:nvPr/>
        </p:nvSpPr>
        <p:spPr>
          <a:xfrm>
            <a:off x="6039834" y="5102352"/>
            <a:ext cx="5374622" cy="9601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Call hub: ACTION_CALL, dialer fallback</a:t>
            </a:r>
            <a:endParaRPr lang="en-US" sz="1400" dirty="0"/>
          </a:p>
          <a:p>
            <a:pPr marL="177800" indent="-177800">
              <a:spcAft>
                <a:spcPts val="600"/>
              </a:spcAft>
              <a:buSzPct val="100000"/>
              <a:buChar char="•"/>
            </a:pPr>
            <a:r>
              <a:rPr lang="en-US" sz="1400" dirty="0">
                <a:solidFill>
                  <a:schemeClr val="tx1"/>
                </a:solidFill>
              </a:rPr>
              <a:t>Get Directions: implicit intent to Google Maps</a:t>
            </a:r>
            <a:endParaRPr lang="en-US" sz="1400" dirty="0"/>
          </a:p>
          <a:p>
            <a:pPr marL="177800" indent="-177800">
              <a:spcAft>
                <a:spcPts val="600"/>
              </a:spcAft>
              <a:buSzPct val="100000"/>
              <a:buChar char="•"/>
            </a:pPr>
            <a:r>
              <a:rPr lang="en-US" sz="1400" dirty="0">
                <a:solidFill>
                  <a:schemeClr val="tx1"/>
                </a:solidFill>
              </a:rPr>
              <a:t>Share hub through a chooser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8640" y="385491"/>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Sensors, Biometrics And Permissions</a:t>
            </a:r>
            <a:endParaRPr lang="en-US" sz="3400" dirty="0"/>
          </a:p>
        </p:txBody>
      </p:sp>
      <p:sp>
        <p:nvSpPr>
          <p:cNvPr id="4" name="Feature card 1"/>
          <p:cNvSpPr/>
          <p:nvPr/>
        </p:nvSpPr>
        <p:spPr>
          <a:xfrm>
            <a:off x="548640" y="1417320"/>
            <a:ext cx="3566160" cy="4663440"/>
          </a:xfrm>
          <a:prstGeom prst="roundRect">
            <a:avLst>
              <a:gd name="adj" fmla="val 3077"/>
            </a:avLst>
          </a:prstGeom>
          <a:solidFill>
            <a:schemeClr val="bg2"/>
          </a:solidFill>
          <a:ln/>
        </p:spPr>
        <p:txBody>
          <a:bodyPr/>
          <a:lstStyle/>
          <a:p>
            <a:endParaRPr lang="en-CA"/>
          </a:p>
        </p:txBody>
      </p:sp>
      <p:sp>
        <p:nvSpPr>
          <p:cNvPr id="5" name="Feature icon 1 circle"/>
          <p:cNvSpPr/>
          <p:nvPr/>
        </p:nvSpPr>
        <p:spPr>
          <a:xfrm>
            <a:off x="868680" y="1737360"/>
            <a:ext cx="868680" cy="868680"/>
          </a:xfrm>
          <a:prstGeom prst="ellipse">
            <a:avLst/>
          </a:prstGeom>
          <a:solidFill>
            <a:srgbClr val="416834"/>
          </a:solidFill>
          <a:ln/>
        </p:spPr>
        <p:txBody>
          <a:bodyPr/>
          <a:lstStyle/>
          <a:p>
            <a:endParaRPr lang="en-CA"/>
          </a:p>
        </p:txBody>
      </p:sp>
      <p:pic>
        <p:nvPicPr>
          <p:cNvPr id="6" name="Feature icon 1" descr="Feature icon 1"/>
          <p:cNvPicPr>
            <a:picLocks noChangeAspect="1"/>
          </p:cNvPicPr>
          <p:nvPr/>
        </p:nvPicPr>
        <p:blipFill>
          <a:blip r:embed="rId3"/>
          <a:stretch>
            <a:fillRect/>
          </a:stretch>
        </p:blipFill>
        <p:spPr>
          <a:xfrm>
            <a:off x="1085850" y="1954530"/>
            <a:ext cx="434340" cy="434340"/>
          </a:xfrm>
          <a:prstGeom prst="rect">
            <a:avLst/>
          </a:prstGeom>
        </p:spPr>
      </p:pic>
      <p:sp>
        <p:nvSpPr>
          <p:cNvPr id="7" name="Text 3"/>
          <p:cNvSpPr txBox="1"/>
          <p:nvPr/>
        </p:nvSpPr>
        <p:spPr>
          <a:xfrm>
            <a:off x="868680" y="2788920"/>
            <a:ext cx="2926080" cy="457200"/>
          </a:xfrm>
          <a:prstGeom prst="rect">
            <a:avLst/>
          </a:prstGeom>
          <a:noFill/>
          <a:ln/>
        </p:spPr>
        <p:txBody>
          <a:bodyPr wrap="square" lIns="0" tIns="0" rIns="0" bIns="0" rtlCol="0" anchor="t"/>
          <a:lstStyle/>
          <a:p>
            <a:pPr marL="0" indent="0">
              <a:buNone/>
            </a:pPr>
            <a:r>
              <a:rPr lang="en-US" sz="2200" b="1" dirty="0">
                <a:solidFill>
                  <a:schemeClr val="tx2"/>
                </a:solidFill>
              </a:rPr>
              <a:t>Shake to refresh</a:t>
            </a:r>
            <a:endParaRPr lang="en-US" sz="2200" dirty="0"/>
          </a:p>
        </p:txBody>
      </p:sp>
      <p:sp>
        <p:nvSpPr>
          <p:cNvPr id="8" name="Text 4"/>
          <p:cNvSpPr txBox="1"/>
          <p:nvPr/>
        </p:nvSpPr>
        <p:spPr>
          <a:xfrm>
            <a:off x="868680" y="3383280"/>
            <a:ext cx="2926080" cy="2560320"/>
          </a:xfrm>
          <a:prstGeom prst="rect">
            <a:avLst/>
          </a:prstGeom>
          <a:noFill/>
          <a:ln/>
        </p:spPr>
        <p:txBody>
          <a:bodyPr wrap="square" lIns="0" tIns="0" rIns="0" bIns="0" rtlCol="0" anchor="t"/>
          <a:lstStyle/>
          <a:p>
            <a:pPr marL="177800" indent="-177800">
              <a:spcAft>
                <a:spcPts val="600"/>
              </a:spcAft>
              <a:buSzPct val="100000"/>
              <a:buChar char="•"/>
            </a:pPr>
            <a:r>
              <a:rPr lang="en-US" sz="1700" dirty="0">
                <a:solidFill>
                  <a:schemeClr val="tx1"/>
                </a:solidFill>
              </a:rPr>
              <a:t>Accelerometer through SensorManager</a:t>
            </a:r>
            <a:endParaRPr lang="en-US" sz="1700" dirty="0"/>
          </a:p>
          <a:p>
            <a:pPr marL="177800" indent="-177800">
              <a:spcAft>
                <a:spcPts val="600"/>
              </a:spcAft>
              <a:buSzPct val="100000"/>
              <a:buChar char="•"/>
            </a:pPr>
            <a:r>
              <a:rPr lang="en-US" sz="1700" dirty="0">
                <a:solidFill>
                  <a:schemeClr val="tx1"/>
                </a:solidFill>
              </a:rPr>
              <a:t>Magnitude change with low-cut filter</a:t>
            </a:r>
            <a:endParaRPr lang="en-US" sz="1700" dirty="0"/>
          </a:p>
          <a:p>
            <a:pPr marL="177800" indent="-177800">
              <a:spcAft>
                <a:spcPts val="600"/>
              </a:spcAft>
              <a:buSzPct val="100000"/>
              <a:buChar char="•"/>
            </a:pPr>
            <a:r>
              <a:rPr lang="en-US" sz="1700" dirty="0">
                <a:solidFill>
                  <a:schemeClr val="tx1"/>
                </a:solidFill>
              </a:rPr>
              <a:t>Threshold 12, 2-second debounce</a:t>
            </a:r>
            <a:endParaRPr lang="en-US" sz="1700" dirty="0"/>
          </a:p>
          <a:p>
            <a:pPr marL="177800" indent="-177800">
              <a:spcAft>
                <a:spcPts val="600"/>
              </a:spcAft>
              <a:buSzPct val="100000"/>
              <a:buChar char="•"/>
            </a:pPr>
            <a:r>
              <a:rPr lang="en-US" sz="1700" dirty="0">
                <a:solidFill>
                  <a:schemeClr val="tx1"/>
                </a:solidFill>
              </a:rPr>
              <a:t>Registered onResume, released onPause</a:t>
            </a:r>
            <a:endParaRPr lang="en-US" sz="1700" dirty="0"/>
          </a:p>
        </p:txBody>
      </p:sp>
      <p:sp>
        <p:nvSpPr>
          <p:cNvPr id="9" name="Feature card 2"/>
          <p:cNvSpPr/>
          <p:nvPr/>
        </p:nvSpPr>
        <p:spPr>
          <a:xfrm>
            <a:off x="4312768" y="1417320"/>
            <a:ext cx="3566160" cy="4663440"/>
          </a:xfrm>
          <a:prstGeom prst="roundRect">
            <a:avLst>
              <a:gd name="adj" fmla="val 3077"/>
            </a:avLst>
          </a:prstGeom>
          <a:solidFill>
            <a:schemeClr val="bg2"/>
          </a:solidFill>
          <a:ln/>
        </p:spPr>
        <p:txBody>
          <a:bodyPr/>
          <a:lstStyle/>
          <a:p>
            <a:endParaRPr lang="en-CA"/>
          </a:p>
        </p:txBody>
      </p:sp>
      <p:sp>
        <p:nvSpPr>
          <p:cNvPr id="10" name="Feature icon 2 circle"/>
          <p:cNvSpPr/>
          <p:nvPr/>
        </p:nvSpPr>
        <p:spPr>
          <a:xfrm>
            <a:off x="4632808" y="1737360"/>
            <a:ext cx="868680" cy="868680"/>
          </a:xfrm>
          <a:prstGeom prst="ellipse">
            <a:avLst/>
          </a:prstGeom>
          <a:solidFill>
            <a:srgbClr val="416834"/>
          </a:solidFill>
          <a:ln/>
        </p:spPr>
        <p:txBody>
          <a:bodyPr/>
          <a:lstStyle/>
          <a:p>
            <a:endParaRPr lang="en-CA"/>
          </a:p>
        </p:txBody>
      </p:sp>
      <p:pic>
        <p:nvPicPr>
          <p:cNvPr id="11" name="Feature icon 2" descr="Feature icon 2"/>
          <p:cNvPicPr>
            <a:picLocks noChangeAspect="1"/>
          </p:cNvPicPr>
          <p:nvPr/>
        </p:nvPicPr>
        <p:blipFill>
          <a:blip r:embed="rId4"/>
          <a:stretch>
            <a:fillRect/>
          </a:stretch>
        </p:blipFill>
        <p:spPr>
          <a:xfrm>
            <a:off x="4849978" y="1954530"/>
            <a:ext cx="434340" cy="434340"/>
          </a:xfrm>
          <a:prstGeom prst="rect">
            <a:avLst/>
          </a:prstGeom>
        </p:spPr>
      </p:pic>
      <p:sp>
        <p:nvSpPr>
          <p:cNvPr id="12" name="Text 7"/>
          <p:cNvSpPr txBox="1"/>
          <p:nvPr/>
        </p:nvSpPr>
        <p:spPr>
          <a:xfrm>
            <a:off x="4632808" y="2788920"/>
            <a:ext cx="2926080" cy="457200"/>
          </a:xfrm>
          <a:prstGeom prst="rect">
            <a:avLst/>
          </a:prstGeom>
          <a:noFill/>
          <a:ln/>
        </p:spPr>
        <p:txBody>
          <a:bodyPr wrap="square" lIns="0" tIns="0" rIns="0" bIns="0" rtlCol="0" anchor="t"/>
          <a:lstStyle/>
          <a:p>
            <a:pPr marL="0" indent="0">
              <a:buNone/>
            </a:pPr>
            <a:r>
              <a:rPr lang="en-US" sz="2200" b="1" dirty="0">
                <a:solidFill>
                  <a:schemeClr val="tx2"/>
                </a:solidFill>
              </a:rPr>
              <a:t>Biometric checkout</a:t>
            </a:r>
            <a:endParaRPr lang="en-US" sz="2200" dirty="0"/>
          </a:p>
        </p:txBody>
      </p:sp>
      <p:sp>
        <p:nvSpPr>
          <p:cNvPr id="13" name="Text 8"/>
          <p:cNvSpPr txBox="1"/>
          <p:nvPr/>
        </p:nvSpPr>
        <p:spPr>
          <a:xfrm>
            <a:off x="4632808" y="3383280"/>
            <a:ext cx="2926080" cy="2560320"/>
          </a:xfrm>
          <a:prstGeom prst="rect">
            <a:avLst/>
          </a:prstGeom>
          <a:noFill/>
          <a:ln/>
        </p:spPr>
        <p:txBody>
          <a:bodyPr wrap="square" lIns="0" tIns="0" rIns="0" bIns="0" rtlCol="0" anchor="t"/>
          <a:lstStyle/>
          <a:p>
            <a:pPr marL="177800" indent="-177800">
              <a:spcAft>
                <a:spcPts val="600"/>
              </a:spcAft>
              <a:buSzPct val="100000"/>
              <a:buChar char="•"/>
            </a:pPr>
            <a:r>
              <a:rPr lang="en-US" sz="1700" dirty="0">
                <a:solidFill>
                  <a:schemeClr val="tx1"/>
                </a:solidFill>
              </a:rPr>
              <a:t>AndroidX BiometricPrompt before every order</a:t>
            </a:r>
            <a:endParaRPr lang="en-US" sz="1700" dirty="0"/>
          </a:p>
          <a:p>
            <a:pPr marL="177800" indent="-177800">
              <a:spcAft>
                <a:spcPts val="600"/>
              </a:spcAft>
              <a:buSzPct val="100000"/>
              <a:buChar char="•"/>
            </a:pPr>
            <a:r>
              <a:rPr lang="en-US" sz="1700" dirty="0">
                <a:solidFill>
                  <a:schemeClr val="tx1"/>
                </a:solidFill>
              </a:rPr>
              <a:t>Fingerprint, face or device credential</a:t>
            </a:r>
            <a:endParaRPr lang="en-US" sz="1700" dirty="0"/>
          </a:p>
          <a:p>
            <a:pPr marL="177800" indent="-177800">
              <a:spcAft>
                <a:spcPts val="600"/>
              </a:spcAft>
              <a:buSzPct val="100000"/>
              <a:buChar char="•"/>
            </a:pPr>
            <a:r>
              <a:rPr lang="en-US" sz="1700" dirty="0">
                <a:solidFill>
                  <a:schemeClr val="tx1"/>
                </a:solidFill>
              </a:rPr>
              <a:t>Success continues to payment</a:t>
            </a:r>
            <a:endParaRPr lang="en-US" sz="1700" dirty="0"/>
          </a:p>
          <a:p>
            <a:pPr marL="177800" indent="-177800">
              <a:spcAft>
                <a:spcPts val="600"/>
              </a:spcAft>
              <a:buSzPct val="100000"/>
              <a:buChar char="•"/>
            </a:pPr>
            <a:r>
              <a:rPr lang="en-US" sz="1700" dirty="0">
                <a:solidFill>
                  <a:schemeClr val="tx1"/>
                </a:solidFill>
              </a:rPr>
              <a:t>Failure or cancel shows a Snackbar</a:t>
            </a:r>
            <a:endParaRPr lang="en-US" sz="1700" dirty="0"/>
          </a:p>
        </p:txBody>
      </p:sp>
      <p:sp>
        <p:nvSpPr>
          <p:cNvPr id="14" name="Feature card 3"/>
          <p:cNvSpPr/>
          <p:nvPr/>
        </p:nvSpPr>
        <p:spPr>
          <a:xfrm>
            <a:off x="8076895" y="1417320"/>
            <a:ext cx="3566160" cy="4663440"/>
          </a:xfrm>
          <a:prstGeom prst="roundRect">
            <a:avLst>
              <a:gd name="adj" fmla="val 3077"/>
            </a:avLst>
          </a:prstGeom>
          <a:solidFill>
            <a:schemeClr val="bg2"/>
          </a:solidFill>
          <a:ln/>
        </p:spPr>
        <p:txBody>
          <a:bodyPr/>
          <a:lstStyle/>
          <a:p>
            <a:endParaRPr lang="en-CA"/>
          </a:p>
        </p:txBody>
      </p:sp>
      <p:sp>
        <p:nvSpPr>
          <p:cNvPr id="15" name="Feature icon 3 circle"/>
          <p:cNvSpPr/>
          <p:nvPr/>
        </p:nvSpPr>
        <p:spPr>
          <a:xfrm>
            <a:off x="8396935" y="1737360"/>
            <a:ext cx="868680" cy="868680"/>
          </a:xfrm>
          <a:prstGeom prst="ellipse">
            <a:avLst/>
          </a:prstGeom>
          <a:solidFill>
            <a:srgbClr val="416834"/>
          </a:solidFill>
          <a:ln/>
        </p:spPr>
        <p:txBody>
          <a:bodyPr/>
          <a:lstStyle/>
          <a:p>
            <a:endParaRPr lang="en-CA"/>
          </a:p>
        </p:txBody>
      </p:sp>
      <p:pic>
        <p:nvPicPr>
          <p:cNvPr id="16" name="Feature icon 3" descr="Feature icon 3"/>
          <p:cNvPicPr>
            <a:picLocks noChangeAspect="1"/>
          </p:cNvPicPr>
          <p:nvPr/>
        </p:nvPicPr>
        <p:blipFill>
          <a:blip r:embed="rId5"/>
          <a:stretch>
            <a:fillRect/>
          </a:stretch>
        </p:blipFill>
        <p:spPr>
          <a:xfrm>
            <a:off x="8614105" y="1954530"/>
            <a:ext cx="434340" cy="434340"/>
          </a:xfrm>
          <a:prstGeom prst="rect">
            <a:avLst/>
          </a:prstGeom>
        </p:spPr>
      </p:pic>
      <p:sp>
        <p:nvSpPr>
          <p:cNvPr id="17" name="Text 11"/>
          <p:cNvSpPr txBox="1"/>
          <p:nvPr/>
        </p:nvSpPr>
        <p:spPr>
          <a:xfrm>
            <a:off x="8396935" y="2788920"/>
            <a:ext cx="2926080" cy="457200"/>
          </a:xfrm>
          <a:prstGeom prst="rect">
            <a:avLst/>
          </a:prstGeom>
          <a:noFill/>
          <a:ln/>
        </p:spPr>
        <p:txBody>
          <a:bodyPr wrap="square" lIns="0" tIns="0" rIns="0" bIns="0" rtlCol="0" anchor="t"/>
          <a:lstStyle/>
          <a:p>
            <a:pPr marL="0" indent="0">
              <a:buNone/>
            </a:pPr>
            <a:r>
              <a:rPr lang="en-US" sz="2200" b="1" dirty="0">
                <a:solidFill>
                  <a:schemeClr val="tx2"/>
                </a:solidFill>
              </a:rPr>
              <a:t>Runtime permissions</a:t>
            </a:r>
            <a:endParaRPr lang="en-US" sz="2200" dirty="0"/>
          </a:p>
        </p:txBody>
      </p:sp>
      <p:sp>
        <p:nvSpPr>
          <p:cNvPr id="18" name="Text 12"/>
          <p:cNvSpPr txBox="1"/>
          <p:nvPr/>
        </p:nvSpPr>
        <p:spPr>
          <a:xfrm>
            <a:off x="8396935" y="3383280"/>
            <a:ext cx="2926080" cy="2560320"/>
          </a:xfrm>
          <a:prstGeom prst="rect">
            <a:avLst/>
          </a:prstGeom>
          <a:noFill/>
          <a:ln/>
        </p:spPr>
        <p:txBody>
          <a:bodyPr wrap="square" lIns="0" tIns="0" rIns="0" bIns="0" rtlCol="0" anchor="t"/>
          <a:lstStyle/>
          <a:p>
            <a:pPr marL="177800" indent="-177800">
              <a:spcAft>
                <a:spcPts val="600"/>
              </a:spcAft>
              <a:buSzPct val="100000"/>
              <a:buChar char="•"/>
            </a:pPr>
            <a:r>
              <a:rPr lang="en-US" sz="1700" dirty="0">
                <a:solidFill>
                  <a:schemeClr val="tx1"/>
                </a:solidFill>
              </a:rPr>
              <a:t>Location for the map and distances</a:t>
            </a:r>
            <a:endParaRPr lang="en-US" sz="1700" dirty="0"/>
          </a:p>
          <a:p>
            <a:pPr marL="177800" indent="-177800">
              <a:spcAft>
                <a:spcPts val="600"/>
              </a:spcAft>
              <a:buSzPct val="100000"/>
              <a:buChar char="•"/>
            </a:pPr>
            <a:r>
              <a:rPr lang="en-US" sz="1700" dirty="0">
                <a:solidFill>
                  <a:schemeClr val="tx1"/>
                </a:solidFill>
              </a:rPr>
              <a:t>Notifications on Android 13 and above</a:t>
            </a:r>
            <a:endParaRPr lang="en-US" sz="1700" dirty="0"/>
          </a:p>
          <a:p>
            <a:pPr marL="177800" indent="-177800">
              <a:spcAft>
                <a:spcPts val="600"/>
              </a:spcAft>
              <a:buSzPct val="100000"/>
              <a:buChar char="•"/>
            </a:pPr>
            <a:r>
              <a:rPr lang="en-US" sz="1700" dirty="0">
                <a:solidFill>
                  <a:schemeClr val="tx1"/>
                </a:solidFill>
              </a:rPr>
              <a:t>Call phone for hub calls</a:t>
            </a:r>
            <a:endParaRPr lang="en-US" sz="1700" dirty="0"/>
          </a:p>
          <a:p>
            <a:pPr marL="177800" indent="-177800">
              <a:spcAft>
                <a:spcPts val="600"/>
              </a:spcAft>
              <a:buSzPct val="100000"/>
              <a:buChar char="•"/>
            </a:pPr>
            <a:r>
              <a:rPr lang="en-US" sz="1700" dirty="0">
                <a:solidFill>
                  <a:schemeClr val="tx1"/>
                </a:solidFill>
              </a:rPr>
              <a:t>Denial handled without a crash</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9605"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Camera For The Profile Photo</a:t>
            </a:r>
            <a:endParaRPr lang="en-US" sz="3400" dirty="0"/>
          </a:p>
        </p:txBody>
      </p:sp>
      <p:sp>
        <p:nvSpPr>
          <p:cNvPr id="4" name="Camera flow box 1"/>
          <p:cNvSpPr/>
          <p:nvPr/>
        </p:nvSpPr>
        <p:spPr>
          <a:xfrm>
            <a:off x="548640" y="1463040"/>
            <a:ext cx="1828800" cy="1325880"/>
          </a:xfrm>
          <a:prstGeom prst="roundRect">
            <a:avLst>
              <a:gd name="adj" fmla="val 8276"/>
            </a:avLst>
          </a:prstGeom>
          <a:solidFill>
            <a:schemeClr val="bg2"/>
          </a:solidFill>
          <a:ln/>
        </p:spPr>
        <p:txBody>
          <a:bodyPr/>
          <a:lstStyle/>
          <a:p>
            <a:endParaRPr lang="en-CA"/>
          </a:p>
        </p:txBody>
      </p:sp>
      <p:sp>
        <p:nvSpPr>
          <p:cNvPr id="5" name="Text 2"/>
          <p:cNvSpPr txBox="1"/>
          <p:nvPr/>
        </p:nvSpPr>
        <p:spPr>
          <a:xfrm>
            <a:off x="658368" y="1554480"/>
            <a:ext cx="1609344" cy="1143000"/>
          </a:xfrm>
          <a:prstGeom prst="rect">
            <a:avLst/>
          </a:prstGeom>
          <a:noFill/>
          <a:ln/>
        </p:spPr>
        <p:txBody>
          <a:bodyPr wrap="square" lIns="0" tIns="0" rIns="0" bIns="0" rtlCol="0" anchor="ctr"/>
          <a:lstStyle/>
          <a:p>
            <a:pPr marL="0" indent="0" algn="ctr">
              <a:buNone/>
            </a:pPr>
            <a:r>
              <a:rPr lang="en-US" sz="1500" b="1" dirty="0">
                <a:solidFill>
                  <a:schemeClr val="tx1"/>
                </a:solidFill>
              </a:rPr>
              <a:t>Tap the pencil</a:t>
            </a:r>
            <a:endParaRPr lang="en-US" sz="1500" dirty="0"/>
          </a:p>
          <a:p>
            <a:pPr marL="0" indent="0" algn="ctr">
              <a:buNone/>
            </a:pPr>
            <a:r>
              <a:rPr lang="en-US" sz="1200" dirty="0">
                <a:solidFill>
                  <a:schemeClr val="accent6"/>
                </a:solidFill>
              </a:rPr>
              <a:t>choose a photo source</a:t>
            </a:r>
            <a:endParaRPr lang="en-US" sz="1500" dirty="0"/>
          </a:p>
        </p:txBody>
      </p:sp>
      <p:sp>
        <p:nvSpPr>
          <p:cNvPr id="6" name="Arrow"/>
          <p:cNvSpPr/>
          <p:nvPr/>
        </p:nvSpPr>
        <p:spPr>
          <a:xfrm>
            <a:off x="2423160" y="2130552"/>
            <a:ext cx="396164" cy="0"/>
          </a:xfrm>
          <a:prstGeom prst="line">
            <a:avLst/>
          </a:prstGeom>
          <a:noFill/>
          <a:ln w="25400">
            <a:solidFill>
              <a:srgbClr val="416834"/>
            </a:solidFill>
            <a:prstDash val="solid"/>
            <a:tailEnd type="triangle"/>
          </a:ln>
        </p:spPr>
        <p:txBody>
          <a:bodyPr/>
          <a:lstStyle/>
          <a:p>
            <a:endParaRPr lang="en-CA"/>
          </a:p>
        </p:txBody>
      </p:sp>
      <p:sp>
        <p:nvSpPr>
          <p:cNvPr id="7" name="Camera flow box 2"/>
          <p:cNvSpPr/>
          <p:nvPr/>
        </p:nvSpPr>
        <p:spPr>
          <a:xfrm>
            <a:off x="2865044" y="1463040"/>
            <a:ext cx="1828800" cy="1325880"/>
          </a:xfrm>
          <a:prstGeom prst="roundRect">
            <a:avLst>
              <a:gd name="adj" fmla="val 8276"/>
            </a:avLst>
          </a:prstGeom>
          <a:solidFill>
            <a:schemeClr val="tx2"/>
          </a:solidFill>
          <a:ln/>
        </p:spPr>
        <p:txBody>
          <a:bodyPr/>
          <a:lstStyle/>
          <a:p>
            <a:endParaRPr lang="en-CA"/>
          </a:p>
        </p:txBody>
      </p:sp>
      <p:sp>
        <p:nvSpPr>
          <p:cNvPr id="8" name="Text 5"/>
          <p:cNvSpPr txBox="1"/>
          <p:nvPr/>
        </p:nvSpPr>
        <p:spPr>
          <a:xfrm>
            <a:off x="2974772" y="1554480"/>
            <a:ext cx="1609344" cy="1143000"/>
          </a:xfrm>
          <a:prstGeom prst="rect">
            <a:avLst/>
          </a:prstGeom>
          <a:noFill/>
          <a:ln/>
        </p:spPr>
        <p:txBody>
          <a:bodyPr wrap="square" lIns="0" tIns="0" rIns="0" bIns="0" rtlCol="0" anchor="ctr"/>
          <a:lstStyle/>
          <a:p>
            <a:pPr marL="0" indent="0" algn="ctr">
              <a:buNone/>
            </a:pPr>
            <a:r>
              <a:rPr lang="en-US" sz="1500" b="1" dirty="0">
                <a:solidFill>
                  <a:schemeClr val="bg1"/>
                </a:solidFill>
              </a:rPr>
              <a:t>System camera</a:t>
            </a:r>
            <a:endParaRPr lang="en-US" sz="1500" dirty="0"/>
          </a:p>
          <a:p>
            <a:pPr marL="0" indent="0" algn="ctr">
              <a:buNone/>
            </a:pPr>
            <a:r>
              <a:rPr lang="en-US" sz="1200" dirty="0">
                <a:solidFill>
                  <a:schemeClr val="accent3"/>
                </a:solidFill>
              </a:rPr>
              <a:t>saves to cache through a FileProvider</a:t>
            </a:r>
            <a:endParaRPr lang="en-US" sz="1500" dirty="0"/>
          </a:p>
        </p:txBody>
      </p:sp>
      <p:sp>
        <p:nvSpPr>
          <p:cNvPr id="9" name="Arrow"/>
          <p:cNvSpPr/>
          <p:nvPr/>
        </p:nvSpPr>
        <p:spPr>
          <a:xfrm>
            <a:off x="4739564" y="2130552"/>
            <a:ext cx="396164" cy="0"/>
          </a:xfrm>
          <a:prstGeom prst="line">
            <a:avLst/>
          </a:prstGeom>
          <a:noFill/>
          <a:ln w="25400">
            <a:solidFill>
              <a:srgbClr val="416834"/>
            </a:solidFill>
            <a:prstDash val="solid"/>
            <a:tailEnd type="triangle"/>
          </a:ln>
        </p:spPr>
        <p:txBody>
          <a:bodyPr/>
          <a:lstStyle/>
          <a:p>
            <a:endParaRPr lang="en-CA"/>
          </a:p>
        </p:txBody>
      </p:sp>
      <p:sp>
        <p:nvSpPr>
          <p:cNvPr id="10" name="Camera flow box 3"/>
          <p:cNvSpPr/>
          <p:nvPr/>
        </p:nvSpPr>
        <p:spPr>
          <a:xfrm>
            <a:off x="5181448" y="1463040"/>
            <a:ext cx="1828800" cy="1325880"/>
          </a:xfrm>
          <a:prstGeom prst="roundRect">
            <a:avLst>
              <a:gd name="adj" fmla="val 8276"/>
            </a:avLst>
          </a:prstGeom>
          <a:solidFill>
            <a:schemeClr val="bg2"/>
          </a:solidFill>
          <a:ln/>
        </p:spPr>
        <p:txBody>
          <a:bodyPr/>
          <a:lstStyle/>
          <a:p>
            <a:endParaRPr lang="en-CA"/>
          </a:p>
        </p:txBody>
      </p:sp>
      <p:sp>
        <p:nvSpPr>
          <p:cNvPr id="11" name="Text 8"/>
          <p:cNvSpPr txBox="1"/>
          <p:nvPr/>
        </p:nvSpPr>
        <p:spPr>
          <a:xfrm>
            <a:off x="5291176" y="1554480"/>
            <a:ext cx="1609344" cy="1143000"/>
          </a:xfrm>
          <a:prstGeom prst="rect">
            <a:avLst/>
          </a:prstGeom>
          <a:noFill/>
          <a:ln/>
        </p:spPr>
        <p:txBody>
          <a:bodyPr wrap="square" lIns="0" tIns="0" rIns="0" bIns="0" rtlCol="0" anchor="ctr"/>
          <a:lstStyle/>
          <a:p>
            <a:pPr marL="0" indent="0" algn="ctr">
              <a:buNone/>
            </a:pPr>
            <a:r>
              <a:rPr lang="en-US" sz="1500" b="1" dirty="0">
                <a:solidFill>
                  <a:schemeClr val="tx1"/>
                </a:solidFill>
              </a:rPr>
              <a:t>uCrop</a:t>
            </a:r>
            <a:endParaRPr lang="en-US" sz="1500" dirty="0"/>
          </a:p>
          <a:p>
            <a:pPr marL="0" indent="0" algn="ctr">
              <a:buNone/>
            </a:pPr>
            <a:r>
              <a:rPr lang="en-US" sz="1200" dirty="0">
                <a:solidFill>
                  <a:schemeClr val="accent6"/>
                </a:solidFill>
              </a:rPr>
              <a:t>1:1 crop, at most 1024 px</a:t>
            </a:r>
            <a:endParaRPr lang="en-US" sz="1500" dirty="0"/>
          </a:p>
        </p:txBody>
      </p:sp>
      <p:sp>
        <p:nvSpPr>
          <p:cNvPr id="12" name="Arrow"/>
          <p:cNvSpPr/>
          <p:nvPr/>
        </p:nvSpPr>
        <p:spPr>
          <a:xfrm>
            <a:off x="7055968" y="2130552"/>
            <a:ext cx="396164" cy="0"/>
          </a:xfrm>
          <a:prstGeom prst="line">
            <a:avLst/>
          </a:prstGeom>
          <a:noFill/>
          <a:ln w="25400">
            <a:solidFill>
              <a:srgbClr val="416834"/>
            </a:solidFill>
            <a:prstDash val="solid"/>
            <a:tailEnd type="triangle"/>
          </a:ln>
        </p:spPr>
        <p:txBody>
          <a:bodyPr/>
          <a:lstStyle/>
          <a:p>
            <a:endParaRPr lang="en-CA"/>
          </a:p>
        </p:txBody>
      </p:sp>
      <p:sp>
        <p:nvSpPr>
          <p:cNvPr id="13" name="Camera flow box 4"/>
          <p:cNvSpPr/>
          <p:nvPr/>
        </p:nvSpPr>
        <p:spPr>
          <a:xfrm>
            <a:off x="7497851" y="1463040"/>
            <a:ext cx="1828800" cy="1325880"/>
          </a:xfrm>
          <a:prstGeom prst="roundRect">
            <a:avLst>
              <a:gd name="adj" fmla="val 8276"/>
            </a:avLst>
          </a:prstGeom>
          <a:solidFill>
            <a:schemeClr val="bg2"/>
          </a:solidFill>
          <a:ln/>
        </p:spPr>
        <p:txBody>
          <a:bodyPr/>
          <a:lstStyle/>
          <a:p>
            <a:endParaRPr lang="en-CA"/>
          </a:p>
        </p:txBody>
      </p:sp>
      <p:sp>
        <p:nvSpPr>
          <p:cNvPr id="14" name="Text 11"/>
          <p:cNvSpPr txBox="1"/>
          <p:nvPr/>
        </p:nvSpPr>
        <p:spPr>
          <a:xfrm>
            <a:off x="7607579" y="1554480"/>
            <a:ext cx="1609344" cy="1143000"/>
          </a:xfrm>
          <a:prstGeom prst="rect">
            <a:avLst/>
          </a:prstGeom>
          <a:noFill/>
          <a:ln/>
        </p:spPr>
        <p:txBody>
          <a:bodyPr wrap="square" lIns="0" tIns="0" rIns="0" bIns="0" rtlCol="0" anchor="ctr"/>
          <a:lstStyle/>
          <a:p>
            <a:pPr marL="0" indent="0" algn="ctr">
              <a:buNone/>
            </a:pPr>
            <a:r>
              <a:rPr lang="en-US" sz="1500" b="1" dirty="0">
                <a:solidFill>
                  <a:schemeClr val="tx1"/>
                </a:solidFill>
              </a:rPr>
              <a:t>Upload</a:t>
            </a:r>
            <a:endParaRPr lang="en-US" sz="1500" dirty="0"/>
          </a:p>
          <a:p>
            <a:pPr marL="0" indent="0" algn="ctr">
              <a:buNone/>
            </a:pPr>
            <a:r>
              <a:rPr lang="en-US" sz="1200" dirty="0">
                <a:solidFill>
                  <a:schemeClr val="accent6"/>
                </a:solidFill>
              </a:rPr>
              <a:t>multipart JPEG to the API</a:t>
            </a:r>
            <a:endParaRPr lang="en-US" sz="1500" dirty="0"/>
          </a:p>
        </p:txBody>
      </p:sp>
      <p:sp>
        <p:nvSpPr>
          <p:cNvPr id="15" name="Arrow"/>
          <p:cNvSpPr/>
          <p:nvPr/>
        </p:nvSpPr>
        <p:spPr>
          <a:xfrm>
            <a:off x="9372371" y="2130552"/>
            <a:ext cx="396164" cy="0"/>
          </a:xfrm>
          <a:prstGeom prst="line">
            <a:avLst/>
          </a:prstGeom>
          <a:noFill/>
          <a:ln w="25400">
            <a:solidFill>
              <a:srgbClr val="416834"/>
            </a:solidFill>
            <a:prstDash val="solid"/>
            <a:tailEnd type="triangle"/>
          </a:ln>
        </p:spPr>
        <p:txBody>
          <a:bodyPr/>
          <a:lstStyle/>
          <a:p>
            <a:endParaRPr lang="en-CA"/>
          </a:p>
        </p:txBody>
      </p:sp>
      <p:sp>
        <p:nvSpPr>
          <p:cNvPr id="16" name="Camera flow box 5"/>
          <p:cNvSpPr/>
          <p:nvPr/>
        </p:nvSpPr>
        <p:spPr>
          <a:xfrm>
            <a:off x="9814255" y="1463040"/>
            <a:ext cx="1828800" cy="1325880"/>
          </a:xfrm>
          <a:prstGeom prst="roundRect">
            <a:avLst>
              <a:gd name="adj" fmla="val 8276"/>
            </a:avLst>
          </a:prstGeom>
          <a:solidFill>
            <a:schemeClr val="bg2"/>
          </a:solidFill>
          <a:ln/>
        </p:spPr>
        <p:txBody>
          <a:bodyPr/>
          <a:lstStyle/>
          <a:p>
            <a:endParaRPr lang="en-CA"/>
          </a:p>
        </p:txBody>
      </p:sp>
      <p:sp>
        <p:nvSpPr>
          <p:cNvPr id="17" name="Text 14"/>
          <p:cNvSpPr txBox="1"/>
          <p:nvPr/>
        </p:nvSpPr>
        <p:spPr>
          <a:xfrm>
            <a:off x="9923983" y="1554480"/>
            <a:ext cx="1609344" cy="1143000"/>
          </a:xfrm>
          <a:prstGeom prst="rect">
            <a:avLst/>
          </a:prstGeom>
          <a:noFill/>
          <a:ln/>
        </p:spPr>
        <p:txBody>
          <a:bodyPr wrap="square" lIns="0" tIns="0" rIns="0" bIns="0" rtlCol="0" anchor="ctr"/>
          <a:lstStyle/>
          <a:p>
            <a:pPr marL="0" indent="0" algn="ctr">
              <a:buNone/>
            </a:pPr>
            <a:r>
              <a:rPr lang="en-US" sz="1500" b="1" dirty="0">
                <a:solidFill>
                  <a:schemeClr val="tx1"/>
                </a:solidFill>
              </a:rPr>
              <a:t>Avatar updates</a:t>
            </a:r>
            <a:endParaRPr lang="en-US" sz="1500" dirty="0"/>
          </a:p>
          <a:p>
            <a:pPr marL="0" indent="0" algn="ctr">
              <a:buNone/>
            </a:pPr>
            <a:r>
              <a:rPr lang="en-US" sz="1200" dirty="0">
                <a:solidFill>
                  <a:schemeClr val="accent6"/>
                </a:solidFill>
              </a:rPr>
              <a:t>Glide shows the new image</a:t>
            </a:r>
            <a:endParaRPr lang="en-US" sz="1500" dirty="0"/>
          </a:p>
        </p:txBody>
      </p:sp>
      <p:sp>
        <p:nvSpPr>
          <p:cNvPr id="18" name="Camera card 1"/>
          <p:cNvSpPr/>
          <p:nvPr/>
        </p:nvSpPr>
        <p:spPr>
          <a:xfrm>
            <a:off x="548640" y="3154680"/>
            <a:ext cx="3566160" cy="2697480"/>
          </a:xfrm>
          <a:prstGeom prst="roundRect">
            <a:avLst>
              <a:gd name="adj" fmla="val 4068"/>
            </a:avLst>
          </a:prstGeom>
          <a:solidFill>
            <a:schemeClr val="bg2"/>
          </a:solidFill>
          <a:ln/>
        </p:spPr>
        <p:txBody>
          <a:bodyPr/>
          <a:lstStyle/>
          <a:p>
            <a:endParaRPr lang="en-CA"/>
          </a:p>
        </p:txBody>
      </p:sp>
      <p:sp>
        <p:nvSpPr>
          <p:cNvPr id="19" name="Camera icon 1 circle"/>
          <p:cNvSpPr/>
          <p:nvPr/>
        </p:nvSpPr>
        <p:spPr>
          <a:xfrm>
            <a:off x="822960" y="3383280"/>
            <a:ext cx="640080" cy="640080"/>
          </a:xfrm>
          <a:prstGeom prst="ellipse">
            <a:avLst/>
          </a:prstGeom>
          <a:solidFill>
            <a:srgbClr val="416834"/>
          </a:solidFill>
          <a:ln/>
        </p:spPr>
        <p:txBody>
          <a:bodyPr/>
          <a:lstStyle/>
          <a:p>
            <a:endParaRPr lang="en-CA"/>
          </a:p>
        </p:txBody>
      </p:sp>
      <p:pic>
        <p:nvPicPr>
          <p:cNvPr id="20" name="Camera icon 1" descr="Camera icon 1"/>
          <p:cNvPicPr>
            <a:picLocks noChangeAspect="1"/>
          </p:cNvPicPr>
          <p:nvPr/>
        </p:nvPicPr>
        <p:blipFill>
          <a:blip r:embed="rId3"/>
          <a:stretch>
            <a:fillRect/>
          </a:stretch>
        </p:blipFill>
        <p:spPr>
          <a:xfrm>
            <a:off x="982980" y="3543300"/>
            <a:ext cx="320040" cy="320040"/>
          </a:xfrm>
          <a:prstGeom prst="rect">
            <a:avLst/>
          </a:prstGeom>
        </p:spPr>
      </p:pic>
      <p:sp>
        <p:nvSpPr>
          <p:cNvPr id="21" name="Text 17"/>
          <p:cNvSpPr txBox="1"/>
          <p:nvPr/>
        </p:nvSpPr>
        <p:spPr>
          <a:xfrm>
            <a:off x="1645920" y="3383280"/>
            <a:ext cx="2286000" cy="640080"/>
          </a:xfrm>
          <a:prstGeom prst="rect">
            <a:avLst/>
          </a:prstGeom>
          <a:noFill/>
          <a:ln/>
        </p:spPr>
        <p:txBody>
          <a:bodyPr wrap="square" lIns="0" tIns="0" rIns="0" bIns="0" rtlCol="0" anchor="ctr"/>
          <a:lstStyle/>
          <a:p>
            <a:pPr marL="0" indent="0">
              <a:buNone/>
            </a:pPr>
            <a:r>
              <a:rPr lang="en-US" sz="2000" b="1" dirty="0">
                <a:solidFill>
                  <a:schemeClr val="tx2"/>
                </a:solidFill>
              </a:rPr>
              <a:t>System camera app</a:t>
            </a:r>
            <a:endParaRPr lang="en-US" sz="2000" dirty="0"/>
          </a:p>
        </p:txBody>
      </p:sp>
      <p:sp>
        <p:nvSpPr>
          <p:cNvPr id="22" name="Text 18"/>
          <p:cNvSpPr txBox="1"/>
          <p:nvPr/>
        </p:nvSpPr>
        <p:spPr>
          <a:xfrm>
            <a:off x="822960" y="4251960"/>
            <a:ext cx="3017520" cy="15087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TakePicture contract opens the camera</a:t>
            </a:r>
            <a:endParaRPr lang="en-US" sz="1500" dirty="0"/>
          </a:p>
          <a:p>
            <a:pPr marL="177800" indent="-177800">
              <a:spcAft>
                <a:spcPts val="600"/>
              </a:spcAft>
              <a:buSzPct val="100000"/>
              <a:buChar char="•"/>
            </a:pPr>
            <a:r>
              <a:rPr lang="en-US" sz="1500" dirty="0">
                <a:solidFill>
                  <a:schemeClr val="tx1"/>
                </a:solidFill>
              </a:rPr>
              <a:t>No CAMERA permission needed</a:t>
            </a:r>
            <a:endParaRPr lang="en-US" sz="1500" dirty="0"/>
          </a:p>
          <a:p>
            <a:pPr marL="177800" indent="-177800">
              <a:spcAft>
                <a:spcPts val="600"/>
              </a:spcAft>
              <a:buSzPct val="100000"/>
              <a:buChar char="•"/>
            </a:pPr>
            <a:r>
              <a:rPr lang="en-US" sz="1500" dirty="0">
                <a:solidFill>
                  <a:schemeClr val="tx1"/>
                </a:solidFill>
              </a:rPr>
              <a:t>Camera hardware is optional; gallery still works</a:t>
            </a:r>
            <a:endParaRPr lang="en-US" sz="1500" dirty="0"/>
          </a:p>
        </p:txBody>
      </p:sp>
      <p:sp>
        <p:nvSpPr>
          <p:cNvPr id="23" name="Camera card 2"/>
          <p:cNvSpPr/>
          <p:nvPr/>
        </p:nvSpPr>
        <p:spPr>
          <a:xfrm>
            <a:off x="4312768" y="3154680"/>
            <a:ext cx="3566160" cy="2697480"/>
          </a:xfrm>
          <a:prstGeom prst="roundRect">
            <a:avLst>
              <a:gd name="adj" fmla="val 4068"/>
            </a:avLst>
          </a:prstGeom>
          <a:solidFill>
            <a:schemeClr val="bg2"/>
          </a:solidFill>
          <a:ln/>
        </p:spPr>
        <p:txBody>
          <a:bodyPr/>
          <a:lstStyle/>
          <a:p>
            <a:endParaRPr lang="en-CA"/>
          </a:p>
        </p:txBody>
      </p:sp>
      <p:sp>
        <p:nvSpPr>
          <p:cNvPr id="24" name="Camera icon 2 circle"/>
          <p:cNvSpPr/>
          <p:nvPr/>
        </p:nvSpPr>
        <p:spPr>
          <a:xfrm>
            <a:off x="4587088" y="3383280"/>
            <a:ext cx="640080" cy="640080"/>
          </a:xfrm>
          <a:prstGeom prst="ellipse">
            <a:avLst/>
          </a:prstGeom>
          <a:solidFill>
            <a:srgbClr val="416834"/>
          </a:solidFill>
          <a:ln/>
        </p:spPr>
        <p:txBody>
          <a:bodyPr/>
          <a:lstStyle/>
          <a:p>
            <a:endParaRPr lang="en-CA"/>
          </a:p>
        </p:txBody>
      </p:sp>
      <p:pic>
        <p:nvPicPr>
          <p:cNvPr id="25" name="Camera icon 2" descr="Camera icon 2"/>
          <p:cNvPicPr>
            <a:picLocks noChangeAspect="1"/>
          </p:cNvPicPr>
          <p:nvPr/>
        </p:nvPicPr>
        <p:blipFill>
          <a:blip r:embed="rId4"/>
          <a:stretch>
            <a:fillRect/>
          </a:stretch>
        </p:blipFill>
        <p:spPr>
          <a:xfrm>
            <a:off x="4747108" y="3543300"/>
            <a:ext cx="320040" cy="320040"/>
          </a:xfrm>
          <a:prstGeom prst="rect">
            <a:avLst/>
          </a:prstGeom>
        </p:spPr>
      </p:pic>
      <p:sp>
        <p:nvSpPr>
          <p:cNvPr id="26" name="Text 21"/>
          <p:cNvSpPr txBox="1"/>
          <p:nvPr/>
        </p:nvSpPr>
        <p:spPr>
          <a:xfrm>
            <a:off x="5410048" y="3383280"/>
            <a:ext cx="2286000" cy="640080"/>
          </a:xfrm>
          <a:prstGeom prst="rect">
            <a:avLst/>
          </a:prstGeom>
          <a:noFill/>
          <a:ln/>
        </p:spPr>
        <p:txBody>
          <a:bodyPr wrap="square" lIns="0" tIns="0" rIns="0" bIns="0" rtlCol="0" anchor="ctr"/>
          <a:lstStyle/>
          <a:p>
            <a:pPr marL="0" indent="0">
              <a:buNone/>
            </a:pPr>
            <a:r>
              <a:rPr lang="en-US" sz="2000" b="1" dirty="0">
                <a:solidFill>
                  <a:schemeClr val="tx2"/>
                </a:solidFill>
              </a:rPr>
              <a:t>FileProvider</a:t>
            </a:r>
            <a:endParaRPr lang="en-US" sz="2000" dirty="0"/>
          </a:p>
        </p:txBody>
      </p:sp>
      <p:sp>
        <p:nvSpPr>
          <p:cNvPr id="27" name="Text 22"/>
          <p:cNvSpPr txBox="1"/>
          <p:nvPr/>
        </p:nvSpPr>
        <p:spPr>
          <a:xfrm>
            <a:off x="4587088" y="4251960"/>
            <a:ext cx="3017520" cy="15087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Shares one cache file as a content URI</a:t>
            </a:r>
            <a:endParaRPr lang="en-US" sz="1500" dirty="0"/>
          </a:p>
          <a:p>
            <a:pPr marL="177800" indent="-177800">
              <a:spcAft>
                <a:spcPts val="600"/>
              </a:spcAft>
              <a:buSzPct val="100000"/>
              <a:buChar char="•"/>
            </a:pPr>
            <a:r>
              <a:rPr lang="en-US" sz="1500" dirty="0">
                <a:solidFill>
                  <a:schemeClr val="tx1"/>
                </a:solidFill>
              </a:rPr>
              <a:t>No storage permission, no file path leaks</a:t>
            </a:r>
            <a:endParaRPr lang="en-US" sz="1500" dirty="0"/>
          </a:p>
          <a:p>
            <a:pPr marL="177800" indent="-177800">
              <a:spcAft>
                <a:spcPts val="600"/>
              </a:spcAft>
              <a:buSzPct val="100000"/>
              <a:buChar char="•"/>
            </a:pPr>
            <a:r>
              <a:rPr lang="en-US" sz="1500" dirty="0">
                <a:solidFill>
                  <a:schemeClr val="tx1"/>
                </a:solidFill>
              </a:rPr>
              <a:t>Capture deleted after cropping</a:t>
            </a:r>
            <a:endParaRPr lang="en-US" sz="1500" dirty="0"/>
          </a:p>
        </p:txBody>
      </p:sp>
      <p:sp>
        <p:nvSpPr>
          <p:cNvPr id="28" name="Camera card 3"/>
          <p:cNvSpPr/>
          <p:nvPr/>
        </p:nvSpPr>
        <p:spPr>
          <a:xfrm>
            <a:off x="8076895" y="3154680"/>
            <a:ext cx="3566160" cy="2697480"/>
          </a:xfrm>
          <a:prstGeom prst="roundRect">
            <a:avLst>
              <a:gd name="adj" fmla="val 4068"/>
            </a:avLst>
          </a:prstGeom>
          <a:solidFill>
            <a:schemeClr val="bg2"/>
          </a:solidFill>
          <a:ln/>
        </p:spPr>
        <p:txBody>
          <a:bodyPr/>
          <a:lstStyle/>
          <a:p>
            <a:endParaRPr lang="en-CA"/>
          </a:p>
        </p:txBody>
      </p:sp>
      <p:sp>
        <p:nvSpPr>
          <p:cNvPr id="29" name="Camera icon 3 circle"/>
          <p:cNvSpPr/>
          <p:nvPr/>
        </p:nvSpPr>
        <p:spPr>
          <a:xfrm>
            <a:off x="8351215" y="3383280"/>
            <a:ext cx="640080" cy="640080"/>
          </a:xfrm>
          <a:prstGeom prst="ellipse">
            <a:avLst/>
          </a:prstGeom>
          <a:solidFill>
            <a:srgbClr val="416834"/>
          </a:solidFill>
          <a:ln/>
        </p:spPr>
        <p:txBody>
          <a:bodyPr/>
          <a:lstStyle/>
          <a:p>
            <a:endParaRPr lang="en-CA"/>
          </a:p>
        </p:txBody>
      </p:sp>
      <p:pic>
        <p:nvPicPr>
          <p:cNvPr id="30" name="Camera icon 3" descr="Camera icon 3"/>
          <p:cNvPicPr>
            <a:picLocks noChangeAspect="1"/>
          </p:cNvPicPr>
          <p:nvPr/>
        </p:nvPicPr>
        <p:blipFill>
          <a:blip r:embed="rId5"/>
          <a:stretch>
            <a:fillRect/>
          </a:stretch>
        </p:blipFill>
        <p:spPr>
          <a:xfrm>
            <a:off x="8511235" y="3543300"/>
            <a:ext cx="320040" cy="320040"/>
          </a:xfrm>
          <a:prstGeom prst="rect">
            <a:avLst/>
          </a:prstGeom>
        </p:spPr>
      </p:pic>
      <p:sp>
        <p:nvSpPr>
          <p:cNvPr id="31" name="Text 25"/>
          <p:cNvSpPr txBox="1"/>
          <p:nvPr/>
        </p:nvSpPr>
        <p:spPr>
          <a:xfrm>
            <a:off x="9174175" y="3383280"/>
            <a:ext cx="2286000" cy="640080"/>
          </a:xfrm>
          <a:prstGeom prst="rect">
            <a:avLst/>
          </a:prstGeom>
          <a:noFill/>
          <a:ln/>
        </p:spPr>
        <p:txBody>
          <a:bodyPr wrap="square" lIns="0" tIns="0" rIns="0" bIns="0" rtlCol="0" anchor="ctr"/>
          <a:lstStyle/>
          <a:p>
            <a:pPr marL="0" indent="0">
              <a:buNone/>
            </a:pPr>
            <a:r>
              <a:rPr lang="en-US" sz="2000" b="1" dirty="0">
                <a:solidFill>
                  <a:schemeClr val="tx2"/>
                </a:solidFill>
              </a:rPr>
              <a:t>Small, safe uploads</a:t>
            </a:r>
            <a:endParaRPr lang="en-US" sz="2000" dirty="0"/>
          </a:p>
        </p:txBody>
      </p:sp>
      <p:sp>
        <p:nvSpPr>
          <p:cNvPr id="32" name="Text 26"/>
          <p:cNvSpPr txBox="1"/>
          <p:nvPr/>
        </p:nvSpPr>
        <p:spPr>
          <a:xfrm>
            <a:off x="8351215" y="4251960"/>
            <a:ext cx="3017520" cy="15087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Result capped at 1024 x 1024 px</a:t>
            </a:r>
            <a:endParaRPr lang="en-US" sz="1500" dirty="0"/>
          </a:p>
          <a:p>
            <a:pPr marL="177800" indent="-177800">
              <a:spcAft>
                <a:spcPts val="600"/>
              </a:spcAft>
              <a:buSzPct val="100000"/>
              <a:buChar char="•"/>
            </a:pPr>
            <a:r>
              <a:rPr lang="en-US" sz="1500" dirty="0">
                <a:solidFill>
                  <a:schemeClr val="tx1"/>
                </a:solidFill>
              </a:rPr>
              <a:t>JPEG quality 85, a few hundred KB</a:t>
            </a:r>
            <a:endParaRPr lang="en-US" sz="1500" dirty="0"/>
          </a:p>
          <a:p>
            <a:pPr marL="177800" indent="-177800">
              <a:spcAft>
                <a:spcPts val="600"/>
              </a:spcAft>
              <a:buSzPct val="100000"/>
              <a:buChar char="•"/>
            </a:pPr>
            <a:r>
              <a:rPr lang="en-US" sz="1500" dirty="0">
                <a:solidFill>
                  <a:schemeClr val="tx1"/>
                </a:solidFill>
              </a:rPr>
              <a:t>Capture path survives an activity restart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9605"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Offline Banner And Double-tap Gesture</a:t>
            </a:r>
            <a:endParaRPr lang="en-US" sz="3400" dirty="0"/>
          </a:p>
        </p:txBody>
      </p:sp>
      <p:sp>
        <p:nvSpPr>
          <p:cNvPr id="4" name="Offline card"/>
          <p:cNvSpPr/>
          <p:nvPr/>
        </p:nvSpPr>
        <p:spPr>
          <a:xfrm>
            <a:off x="548640" y="1417320"/>
            <a:ext cx="5440680" cy="4663440"/>
          </a:xfrm>
          <a:prstGeom prst="roundRect">
            <a:avLst>
              <a:gd name="adj" fmla="val 2353"/>
            </a:avLst>
          </a:prstGeom>
          <a:solidFill>
            <a:schemeClr val="bg2"/>
          </a:solidFill>
          <a:ln/>
        </p:spPr>
        <p:txBody>
          <a:bodyPr/>
          <a:lstStyle/>
          <a:p>
            <a:endParaRPr lang="en-CA"/>
          </a:p>
        </p:txBody>
      </p:sp>
      <p:sp>
        <p:nvSpPr>
          <p:cNvPr id="5" name="Offline icon circle"/>
          <p:cNvSpPr/>
          <p:nvPr/>
        </p:nvSpPr>
        <p:spPr>
          <a:xfrm>
            <a:off x="868680" y="1645920"/>
            <a:ext cx="685800" cy="685800"/>
          </a:xfrm>
          <a:prstGeom prst="ellipse">
            <a:avLst/>
          </a:prstGeom>
          <a:solidFill>
            <a:srgbClr val="416834"/>
          </a:solidFill>
          <a:ln/>
        </p:spPr>
        <p:txBody>
          <a:bodyPr/>
          <a:lstStyle/>
          <a:p>
            <a:endParaRPr lang="en-CA"/>
          </a:p>
        </p:txBody>
      </p:sp>
      <p:pic>
        <p:nvPicPr>
          <p:cNvPr id="6" name="Offline icon" descr="Offline icon"/>
          <p:cNvPicPr>
            <a:picLocks noChangeAspect="1"/>
          </p:cNvPicPr>
          <p:nvPr/>
        </p:nvPicPr>
        <p:blipFill>
          <a:blip r:embed="rId3"/>
          <a:stretch>
            <a:fillRect/>
          </a:stretch>
        </p:blipFill>
        <p:spPr>
          <a:xfrm>
            <a:off x="1040130" y="1817370"/>
            <a:ext cx="342900" cy="342900"/>
          </a:xfrm>
          <a:prstGeom prst="rect">
            <a:avLst/>
          </a:prstGeom>
        </p:spPr>
      </p:pic>
      <p:sp>
        <p:nvSpPr>
          <p:cNvPr id="7" name="Text 3"/>
          <p:cNvSpPr txBox="1"/>
          <p:nvPr/>
        </p:nvSpPr>
        <p:spPr>
          <a:xfrm>
            <a:off x="1783080" y="1645920"/>
            <a:ext cx="3886200" cy="685800"/>
          </a:xfrm>
          <a:prstGeom prst="rect">
            <a:avLst/>
          </a:prstGeom>
          <a:noFill/>
          <a:ln/>
        </p:spPr>
        <p:txBody>
          <a:bodyPr wrap="square" lIns="0" tIns="0" rIns="0" bIns="0" rtlCol="0" anchor="ctr"/>
          <a:lstStyle/>
          <a:p>
            <a:pPr marL="0" indent="0">
              <a:buNone/>
            </a:pPr>
            <a:r>
              <a:rPr lang="en-US" sz="2200" b="1" dirty="0">
                <a:solidFill>
                  <a:schemeClr val="tx2"/>
                </a:solidFill>
              </a:rPr>
              <a:t>Offline banner</a:t>
            </a:r>
            <a:endParaRPr lang="en-US" sz="2200" dirty="0"/>
          </a:p>
        </p:txBody>
      </p:sp>
      <p:sp>
        <p:nvSpPr>
          <p:cNvPr id="8" name="Offline pill mock"/>
          <p:cNvSpPr/>
          <p:nvPr/>
        </p:nvSpPr>
        <p:spPr>
          <a:xfrm>
            <a:off x="868680" y="2560320"/>
            <a:ext cx="2834640" cy="502920"/>
          </a:xfrm>
          <a:prstGeom prst="roundRect">
            <a:avLst>
              <a:gd name="adj" fmla="val 50000"/>
            </a:avLst>
          </a:prstGeom>
          <a:solidFill>
            <a:srgbClr val="F9DEDC"/>
          </a:solidFill>
          <a:ln/>
        </p:spPr>
        <p:txBody>
          <a:bodyPr/>
          <a:lstStyle/>
          <a:p>
            <a:endParaRPr lang="en-CA"/>
          </a:p>
        </p:txBody>
      </p:sp>
      <p:pic>
        <p:nvPicPr>
          <p:cNvPr id="9" name="Offline pill icon" descr="Offline icon"/>
          <p:cNvPicPr>
            <a:picLocks noChangeAspect="1"/>
          </p:cNvPicPr>
          <p:nvPr/>
        </p:nvPicPr>
        <p:blipFill>
          <a:blip r:embed="rId4"/>
          <a:stretch>
            <a:fillRect/>
          </a:stretch>
        </p:blipFill>
        <p:spPr>
          <a:xfrm>
            <a:off x="1078992" y="2692908"/>
            <a:ext cx="237744" cy="237744"/>
          </a:xfrm>
          <a:prstGeom prst="rect">
            <a:avLst/>
          </a:prstGeom>
        </p:spPr>
      </p:pic>
      <p:sp>
        <p:nvSpPr>
          <p:cNvPr id="10" name="Text 5"/>
          <p:cNvSpPr txBox="1"/>
          <p:nvPr/>
        </p:nvSpPr>
        <p:spPr>
          <a:xfrm>
            <a:off x="1444752" y="2560320"/>
            <a:ext cx="2194560" cy="502920"/>
          </a:xfrm>
          <a:prstGeom prst="rect">
            <a:avLst/>
          </a:prstGeom>
          <a:noFill/>
          <a:ln/>
        </p:spPr>
        <p:txBody>
          <a:bodyPr wrap="square" lIns="0" tIns="0" rIns="0" bIns="0" rtlCol="0" anchor="ctr"/>
          <a:lstStyle/>
          <a:p>
            <a:pPr marL="0" indent="0">
              <a:buNone/>
            </a:pPr>
            <a:r>
              <a:rPr lang="en-US" sz="1400" b="1" dirty="0">
                <a:solidFill>
                  <a:srgbClr val="7A2E2A"/>
                </a:solidFill>
              </a:rPr>
              <a:t>No internet connection</a:t>
            </a:r>
            <a:endParaRPr lang="en-US" sz="1400" dirty="0"/>
          </a:p>
        </p:txBody>
      </p:sp>
      <p:sp>
        <p:nvSpPr>
          <p:cNvPr id="11" name="Online pill mock"/>
          <p:cNvSpPr/>
          <p:nvPr/>
        </p:nvSpPr>
        <p:spPr>
          <a:xfrm>
            <a:off x="868680" y="3200400"/>
            <a:ext cx="1920240" cy="502920"/>
          </a:xfrm>
          <a:prstGeom prst="roundRect">
            <a:avLst>
              <a:gd name="adj" fmla="val 50000"/>
            </a:avLst>
          </a:prstGeom>
          <a:solidFill>
            <a:schemeClr val="accent3"/>
          </a:solidFill>
          <a:ln/>
        </p:spPr>
        <p:txBody>
          <a:bodyPr/>
          <a:lstStyle/>
          <a:p>
            <a:endParaRPr lang="en-CA"/>
          </a:p>
        </p:txBody>
      </p:sp>
      <p:pic>
        <p:nvPicPr>
          <p:cNvPr id="12" name="Online pill icon" descr="Online icon"/>
          <p:cNvPicPr>
            <a:picLocks noChangeAspect="1"/>
          </p:cNvPicPr>
          <p:nvPr/>
        </p:nvPicPr>
        <p:blipFill>
          <a:blip r:embed="rId5"/>
          <a:stretch>
            <a:fillRect/>
          </a:stretch>
        </p:blipFill>
        <p:spPr>
          <a:xfrm>
            <a:off x="1078992" y="3332988"/>
            <a:ext cx="237744" cy="237744"/>
          </a:xfrm>
          <a:prstGeom prst="rect">
            <a:avLst/>
          </a:prstGeom>
        </p:spPr>
      </p:pic>
      <p:sp>
        <p:nvSpPr>
          <p:cNvPr id="13" name="Text 7"/>
          <p:cNvSpPr txBox="1"/>
          <p:nvPr/>
        </p:nvSpPr>
        <p:spPr>
          <a:xfrm>
            <a:off x="1444752" y="3200400"/>
            <a:ext cx="1280160" cy="502920"/>
          </a:xfrm>
          <a:prstGeom prst="rect">
            <a:avLst/>
          </a:prstGeom>
          <a:noFill/>
          <a:ln/>
        </p:spPr>
        <p:txBody>
          <a:bodyPr wrap="square" lIns="0" tIns="0" rIns="0" bIns="0" rtlCol="0" anchor="ctr"/>
          <a:lstStyle/>
          <a:p>
            <a:pPr marL="0" indent="0">
              <a:buNone/>
            </a:pPr>
            <a:r>
              <a:rPr lang="en-US" sz="1400" b="1" dirty="0">
                <a:solidFill>
                  <a:schemeClr val="tx2"/>
                </a:solidFill>
              </a:rPr>
              <a:t>Back online</a:t>
            </a:r>
            <a:endParaRPr lang="en-US" sz="1400" dirty="0"/>
          </a:p>
        </p:txBody>
      </p:sp>
      <p:sp>
        <p:nvSpPr>
          <p:cNvPr id="14" name="Text 8"/>
          <p:cNvSpPr txBox="1"/>
          <p:nvPr/>
        </p:nvSpPr>
        <p:spPr>
          <a:xfrm>
            <a:off x="868680" y="4023360"/>
            <a:ext cx="4800600" cy="19202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BroadcastReceiver for CONNECTIVITY_ACTION</a:t>
            </a:r>
            <a:endParaRPr lang="en-US" sz="1500" dirty="0"/>
          </a:p>
          <a:p>
            <a:pPr marL="177800" indent="-177800">
              <a:spcAft>
                <a:spcPts val="600"/>
              </a:spcAft>
              <a:buSzPct val="100000"/>
              <a:buChar char="•"/>
            </a:pPr>
            <a:r>
              <a:rPr lang="en-US" sz="1500" dirty="0">
                <a:solidFill>
                  <a:schemeClr val="tx1"/>
                </a:solidFill>
              </a:rPr>
              <a:t>Registered once in the Application class</a:t>
            </a:r>
            <a:endParaRPr lang="en-US" sz="1500" dirty="0"/>
          </a:p>
          <a:p>
            <a:pPr marL="177800" indent="-177800">
              <a:spcAft>
                <a:spcPts val="600"/>
              </a:spcAft>
              <a:buSzPct val="100000"/>
              <a:buChar char="•"/>
            </a:pPr>
            <a:r>
              <a:rPr lang="en-US" sz="1500" dirty="0">
                <a:solidFill>
                  <a:schemeClr val="tx1"/>
                </a:solidFill>
              </a:rPr>
              <a:t>Lifecycle callbacks add the pill to every screen</a:t>
            </a:r>
            <a:endParaRPr lang="en-US" sz="1500" dirty="0"/>
          </a:p>
          <a:p>
            <a:pPr marL="177800" indent="-177800">
              <a:spcAft>
                <a:spcPts val="600"/>
              </a:spcAft>
              <a:buSzPct val="100000"/>
              <a:buChar char="•"/>
            </a:pPr>
            <a:r>
              <a:rPr lang="en-US" sz="1500" dirty="0">
                <a:solidFill>
                  <a:schemeClr val="tx1"/>
                </a:solidFill>
              </a:rPr>
              <a:t>Back online triggers a one-time data sync</a:t>
            </a:r>
            <a:endParaRPr lang="en-US" sz="1500" dirty="0"/>
          </a:p>
        </p:txBody>
      </p:sp>
      <p:sp>
        <p:nvSpPr>
          <p:cNvPr id="15" name="Gesture card"/>
          <p:cNvSpPr/>
          <p:nvPr/>
        </p:nvSpPr>
        <p:spPr>
          <a:xfrm>
            <a:off x="6202375" y="1417320"/>
            <a:ext cx="5440680" cy="4663440"/>
          </a:xfrm>
          <a:prstGeom prst="roundRect">
            <a:avLst>
              <a:gd name="adj" fmla="val 2353"/>
            </a:avLst>
          </a:prstGeom>
          <a:solidFill>
            <a:schemeClr val="bg2"/>
          </a:solidFill>
          <a:ln/>
        </p:spPr>
        <p:txBody>
          <a:bodyPr/>
          <a:lstStyle/>
          <a:p>
            <a:endParaRPr lang="en-CA"/>
          </a:p>
        </p:txBody>
      </p:sp>
      <p:sp>
        <p:nvSpPr>
          <p:cNvPr id="16" name="Gesture icon circle"/>
          <p:cNvSpPr/>
          <p:nvPr/>
        </p:nvSpPr>
        <p:spPr>
          <a:xfrm>
            <a:off x="6522415" y="1645920"/>
            <a:ext cx="685800" cy="685800"/>
          </a:xfrm>
          <a:prstGeom prst="ellipse">
            <a:avLst/>
          </a:prstGeom>
          <a:solidFill>
            <a:srgbClr val="416834"/>
          </a:solidFill>
          <a:ln/>
        </p:spPr>
        <p:txBody>
          <a:bodyPr/>
          <a:lstStyle/>
          <a:p>
            <a:endParaRPr lang="en-CA"/>
          </a:p>
        </p:txBody>
      </p:sp>
      <p:pic>
        <p:nvPicPr>
          <p:cNvPr id="17" name="Gesture icon" descr="Gesture icon"/>
          <p:cNvPicPr>
            <a:picLocks noChangeAspect="1"/>
          </p:cNvPicPr>
          <p:nvPr/>
        </p:nvPicPr>
        <p:blipFill>
          <a:blip r:embed="rId6"/>
          <a:stretch>
            <a:fillRect/>
          </a:stretch>
        </p:blipFill>
        <p:spPr>
          <a:xfrm>
            <a:off x="6693865" y="1817370"/>
            <a:ext cx="342900" cy="342900"/>
          </a:xfrm>
          <a:prstGeom prst="rect">
            <a:avLst/>
          </a:prstGeom>
        </p:spPr>
      </p:pic>
      <p:sp>
        <p:nvSpPr>
          <p:cNvPr id="18" name="Text 11"/>
          <p:cNvSpPr txBox="1"/>
          <p:nvPr/>
        </p:nvSpPr>
        <p:spPr>
          <a:xfrm>
            <a:off x="7436815" y="1645920"/>
            <a:ext cx="3886200" cy="685800"/>
          </a:xfrm>
          <a:prstGeom prst="rect">
            <a:avLst/>
          </a:prstGeom>
          <a:noFill/>
          <a:ln/>
        </p:spPr>
        <p:txBody>
          <a:bodyPr wrap="square" lIns="0" tIns="0" rIns="0" bIns="0" rtlCol="0" anchor="ctr"/>
          <a:lstStyle/>
          <a:p>
            <a:pPr marL="0" indent="0">
              <a:buNone/>
            </a:pPr>
            <a:r>
              <a:rPr lang="en-US" sz="2200" b="1" dirty="0">
                <a:solidFill>
                  <a:schemeClr val="tx2"/>
                </a:solidFill>
              </a:rPr>
              <a:t>Double-tap to save</a:t>
            </a:r>
            <a:endParaRPr lang="en-US" sz="2200" dirty="0"/>
          </a:p>
        </p:txBody>
      </p:sp>
      <p:sp>
        <p:nvSpPr>
          <p:cNvPr id="19" name="Gear card mock"/>
          <p:cNvSpPr/>
          <p:nvPr/>
        </p:nvSpPr>
        <p:spPr>
          <a:xfrm>
            <a:off x="6522415" y="2560320"/>
            <a:ext cx="2834640" cy="1143000"/>
          </a:xfrm>
          <a:prstGeom prst="roundRect">
            <a:avLst>
              <a:gd name="adj" fmla="val 9600"/>
            </a:avLst>
          </a:prstGeom>
          <a:solidFill>
            <a:schemeClr val="bg1"/>
          </a:solidFill>
          <a:ln/>
        </p:spPr>
        <p:txBody>
          <a:bodyPr/>
          <a:lstStyle/>
          <a:p>
            <a:endParaRPr lang="en-CA"/>
          </a:p>
        </p:txBody>
      </p:sp>
      <p:sp>
        <p:nvSpPr>
          <p:cNvPr id="20" name="Text 13"/>
          <p:cNvSpPr txBox="1"/>
          <p:nvPr/>
        </p:nvSpPr>
        <p:spPr>
          <a:xfrm>
            <a:off x="6705295" y="2880360"/>
            <a:ext cx="1828800" cy="685800"/>
          </a:xfrm>
          <a:prstGeom prst="rect">
            <a:avLst/>
          </a:prstGeom>
          <a:noFill/>
          <a:ln/>
        </p:spPr>
        <p:txBody>
          <a:bodyPr wrap="square" lIns="0" tIns="0" rIns="0" bIns="0" rtlCol="0" anchor="t"/>
          <a:lstStyle/>
          <a:p>
            <a:pPr marL="0" indent="0">
              <a:buNone/>
            </a:pPr>
            <a:r>
              <a:rPr lang="en-US" sz="1400" b="1" dirty="0">
                <a:solidFill>
                  <a:schemeClr val="tx1"/>
                </a:solidFill>
              </a:rPr>
              <a:t>2 Person Camping Tent</a:t>
            </a:r>
            <a:endParaRPr lang="en-US" sz="1400" dirty="0"/>
          </a:p>
          <a:p>
            <a:pPr marL="0" indent="0">
              <a:buNone/>
            </a:pPr>
            <a:r>
              <a:rPr lang="en-US" sz="1200" dirty="0">
                <a:solidFill>
                  <a:schemeClr val="accent1"/>
                </a:solidFill>
              </a:rPr>
              <a:t>LKR 600.00 / day</a:t>
            </a:r>
            <a:endParaRPr lang="en-US" sz="1400" dirty="0"/>
          </a:p>
        </p:txBody>
      </p:sp>
      <p:sp>
        <p:nvSpPr>
          <p:cNvPr id="21" name="Heart badge circle"/>
          <p:cNvSpPr/>
          <p:nvPr/>
        </p:nvSpPr>
        <p:spPr>
          <a:xfrm>
            <a:off x="8808415" y="2651760"/>
            <a:ext cx="411480" cy="411480"/>
          </a:xfrm>
          <a:prstGeom prst="ellipse">
            <a:avLst/>
          </a:prstGeom>
          <a:solidFill>
            <a:schemeClr val="bg2"/>
          </a:solidFill>
          <a:ln/>
        </p:spPr>
        <p:txBody>
          <a:bodyPr/>
          <a:lstStyle/>
          <a:p>
            <a:endParaRPr lang="en-CA"/>
          </a:p>
        </p:txBody>
      </p:sp>
      <p:pic>
        <p:nvPicPr>
          <p:cNvPr id="22" name="Heart badge" descr="Wishlist heart"/>
          <p:cNvPicPr>
            <a:picLocks noChangeAspect="1"/>
          </p:cNvPicPr>
          <p:nvPr/>
        </p:nvPicPr>
        <p:blipFill>
          <a:blip r:embed="rId7"/>
          <a:stretch>
            <a:fillRect/>
          </a:stretch>
        </p:blipFill>
        <p:spPr>
          <a:xfrm>
            <a:off x="8908999" y="2752344"/>
            <a:ext cx="210312" cy="210312"/>
          </a:xfrm>
          <a:prstGeom prst="rect">
            <a:avLst/>
          </a:prstGeom>
        </p:spPr>
      </p:pic>
      <p:pic>
        <p:nvPicPr>
          <p:cNvPr id="23" name="Tap icon" descr="Double-tap"/>
          <p:cNvPicPr>
            <a:picLocks noChangeAspect="1"/>
          </p:cNvPicPr>
          <p:nvPr/>
        </p:nvPicPr>
        <p:blipFill>
          <a:blip r:embed="rId8"/>
          <a:stretch>
            <a:fillRect/>
          </a:stretch>
        </p:blipFill>
        <p:spPr>
          <a:xfrm>
            <a:off x="9631375" y="2788920"/>
            <a:ext cx="457200" cy="457200"/>
          </a:xfrm>
          <a:prstGeom prst="rect">
            <a:avLst/>
          </a:prstGeom>
        </p:spPr>
      </p:pic>
      <p:sp>
        <p:nvSpPr>
          <p:cNvPr id="24" name="Text 15"/>
          <p:cNvSpPr txBox="1"/>
          <p:nvPr/>
        </p:nvSpPr>
        <p:spPr>
          <a:xfrm>
            <a:off x="10180015" y="2788920"/>
            <a:ext cx="1280160" cy="457200"/>
          </a:xfrm>
          <a:prstGeom prst="rect">
            <a:avLst/>
          </a:prstGeom>
          <a:noFill/>
          <a:ln/>
        </p:spPr>
        <p:txBody>
          <a:bodyPr wrap="square" lIns="0" tIns="0" rIns="0" bIns="0" rtlCol="0" anchor="ctr"/>
          <a:lstStyle/>
          <a:p>
            <a:pPr marL="0" indent="0">
              <a:buNone/>
            </a:pPr>
            <a:r>
              <a:rPr lang="en-US" sz="1400" b="1" dirty="0">
                <a:solidFill>
                  <a:schemeClr val="tx2"/>
                </a:solidFill>
              </a:rPr>
              <a:t>Double-tap</a:t>
            </a:r>
            <a:endParaRPr lang="en-US" sz="1400" dirty="0"/>
          </a:p>
        </p:txBody>
      </p:sp>
      <p:sp>
        <p:nvSpPr>
          <p:cNvPr id="25" name="Text 16"/>
          <p:cNvSpPr txBox="1"/>
          <p:nvPr/>
        </p:nvSpPr>
        <p:spPr>
          <a:xfrm>
            <a:off x="6522415" y="4023360"/>
            <a:ext cx="4800600" cy="19202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GestureDetector on every gear card</a:t>
            </a:r>
            <a:endParaRPr lang="en-US" sz="1500" dirty="0"/>
          </a:p>
          <a:p>
            <a:pPr marL="177800" indent="-177800">
              <a:spcAft>
                <a:spcPts val="600"/>
              </a:spcAft>
              <a:buSzPct val="100000"/>
              <a:buChar char="•"/>
            </a:pPr>
            <a:r>
              <a:rPr lang="en-US" sz="1500" dirty="0">
                <a:solidFill>
                  <a:schemeClr val="tx1"/>
                </a:solidFill>
              </a:rPr>
              <a:t>Single tap opens details, double tap adds</a:t>
            </a:r>
            <a:endParaRPr lang="en-US" sz="1500" dirty="0"/>
          </a:p>
          <a:p>
            <a:pPr marL="177800" indent="-177800">
              <a:spcAft>
                <a:spcPts val="600"/>
              </a:spcAft>
              <a:buSzPct val="100000"/>
              <a:buChar char="•"/>
            </a:pPr>
            <a:r>
              <a:rPr lang="en-US" sz="1500" dirty="0">
                <a:solidFill>
                  <a:schemeClr val="tx1"/>
                </a:solidFill>
              </a:rPr>
              <a:t>Add-only; blocked while offline</a:t>
            </a:r>
            <a:endParaRPr lang="en-US" sz="1500" dirty="0"/>
          </a:p>
          <a:p>
            <a:pPr marL="177800" indent="-177800">
              <a:spcAft>
                <a:spcPts val="600"/>
              </a:spcAft>
              <a:buSzPct val="100000"/>
              <a:buChar char="•"/>
            </a:pPr>
            <a:r>
              <a:rPr lang="en-US" sz="1500" dirty="0">
                <a:solidFill>
                  <a:schemeClr val="tx1"/>
                </a:solidFill>
              </a:rPr>
              <a:t>Heart badge with a pop animation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9605"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Push Notifications And Multitasking</a:t>
            </a:r>
            <a:endParaRPr lang="en-US" sz="3400" dirty="0"/>
          </a:p>
        </p:txBody>
      </p:sp>
      <p:sp>
        <p:nvSpPr>
          <p:cNvPr id="4" name="Text 1"/>
          <p:cNvSpPr txBox="1"/>
          <p:nvPr/>
        </p:nvSpPr>
        <p:spPr>
          <a:xfrm>
            <a:off x="548640" y="1371600"/>
            <a:ext cx="5486400" cy="274320"/>
          </a:xfrm>
          <a:prstGeom prst="rect">
            <a:avLst/>
          </a:prstGeom>
          <a:noFill/>
          <a:ln/>
        </p:spPr>
        <p:txBody>
          <a:bodyPr wrap="square" lIns="0" tIns="0" rIns="0" bIns="0" rtlCol="0" anchor="t"/>
          <a:lstStyle/>
          <a:p>
            <a:pPr marL="0" indent="0">
              <a:buNone/>
            </a:pPr>
            <a:r>
              <a:rPr lang="en-US" sz="1400" b="1" kern="0" spc="300" dirty="0">
                <a:solidFill>
                  <a:schemeClr val="accent6"/>
                </a:solidFill>
              </a:rPr>
              <a:t>NOTIFICATION FLOW</a:t>
            </a:r>
            <a:endParaRPr lang="en-US" sz="1400" dirty="0"/>
          </a:p>
        </p:txBody>
      </p:sp>
      <p:sp>
        <p:nvSpPr>
          <p:cNvPr id="5" name="Notif box 1"/>
          <p:cNvSpPr/>
          <p:nvPr/>
        </p:nvSpPr>
        <p:spPr>
          <a:xfrm>
            <a:off x="548640" y="1783080"/>
            <a:ext cx="1645920" cy="1417320"/>
          </a:xfrm>
          <a:prstGeom prst="roundRect">
            <a:avLst>
              <a:gd name="adj" fmla="val 7742"/>
            </a:avLst>
          </a:prstGeom>
          <a:solidFill>
            <a:schemeClr val="bg2"/>
          </a:solidFill>
          <a:ln/>
        </p:spPr>
        <p:txBody>
          <a:bodyPr/>
          <a:lstStyle/>
          <a:p>
            <a:endParaRPr lang="en-CA"/>
          </a:p>
        </p:txBody>
      </p:sp>
      <p:sp>
        <p:nvSpPr>
          <p:cNvPr id="6" name="Text 3"/>
          <p:cNvSpPr txBox="1"/>
          <p:nvPr/>
        </p:nvSpPr>
        <p:spPr>
          <a:xfrm>
            <a:off x="640080" y="1828800"/>
            <a:ext cx="1463040" cy="1325880"/>
          </a:xfrm>
          <a:prstGeom prst="rect">
            <a:avLst/>
          </a:prstGeom>
          <a:noFill/>
          <a:ln/>
        </p:spPr>
        <p:txBody>
          <a:bodyPr wrap="square" lIns="0" tIns="0" rIns="0" bIns="0" rtlCol="0" anchor="ctr"/>
          <a:lstStyle/>
          <a:p>
            <a:pPr marL="0" indent="0" algn="ctr">
              <a:buNone/>
            </a:pPr>
            <a:r>
              <a:rPr lang="en-US" sz="1400" b="1" dirty="0">
                <a:solidFill>
                  <a:schemeClr val="tx1"/>
                </a:solidFill>
              </a:rPr>
              <a:t>Admin approves the order</a:t>
            </a:r>
            <a:endParaRPr lang="en-US" sz="1400" dirty="0"/>
          </a:p>
        </p:txBody>
      </p:sp>
      <p:sp>
        <p:nvSpPr>
          <p:cNvPr id="7" name="Arrow"/>
          <p:cNvSpPr/>
          <p:nvPr/>
        </p:nvSpPr>
        <p:spPr>
          <a:xfrm>
            <a:off x="2221992" y="2487168"/>
            <a:ext cx="188915" cy="0"/>
          </a:xfrm>
          <a:prstGeom prst="line">
            <a:avLst/>
          </a:prstGeom>
          <a:noFill/>
          <a:ln w="25400">
            <a:solidFill>
              <a:srgbClr val="416834"/>
            </a:solidFill>
            <a:prstDash val="solid"/>
            <a:tailEnd type="triangle"/>
          </a:ln>
        </p:spPr>
        <p:txBody>
          <a:bodyPr/>
          <a:lstStyle/>
          <a:p>
            <a:endParaRPr lang="en-CA"/>
          </a:p>
        </p:txBody>
      </p:sp>
      <p:sp>
        <p:nvSpPr>
          <p:cNvPr id="8" name="Notif box 2"/>
          <p:cNvSpPr/>
          <p:nvPr/>
        </p:nvSpPr>
        <p:spPr>
          <a:xfrm>
            <a:off x="2438339" y="1783080"/>
            <a:ext cx="1645920" cy="1417320"/>
          </a:xfrm>
          <a:prstGeom prst="roundRect">
            <a:avLst>
              <a:gd name="adj" fmla="val 7742"/>
            </a:avLst>
          </a:prstGeom>
          <a:solidFill>
            <a:schemeClr val="bg2"/>
          </a:solidFill>
          <a:ln/>
        </p:spPr>
        <p:txBody>
          <a:bodyPr/>
          <a:lstStyle/>
          <a:p>
            <a:endParaRPr lang="en-CA"/>
          </a:p>
        </p:txBody>
      </p:sp>
      <p:sp>
        <p:nvSpPr>
          <p:cNvPr id="9" name="Text 6"/>
          <p:cNvSpPr txBox="1"/>
          <p:nvPr/>
        </p:nvSpPr>
        <p:spPr>
          <a:xfrm>
            <a:off x="2529779" y="1828800"/>
            <a:ext cx="1463040" cy="1325880"/>
          </a:xfrm>
          <a:prstGeom prst="rect">
            <a:avLst/>
          </a:prstGeom>
          <a:noFill/>
          <a:ln/>
        </p:spPr>
        <p:txBody>
          <a:bodyPr wrap="square" lIns="0" tIns="0" rIns="0" bIns="0" rtlCol="0" anchor="ctr"/>
          <a:lstStyle/>
          <a:p>
            <a:pPr marL="0" indent="0" algn="ctr">
              <a:buNone/>
            </a:pPr>
            <a:r>
              <a:rPr lang="en-US" sz="1400" b="1" dirty="0">
                <a:solidFill>
                  <a:schemeClr val="tx1"/>
                </a:solidFill>
              </a:rPr>
              <a:t>Spring Boot</a:t>
            </a:r>
            <a:endParaRPr lang="en-US" sz="1400" dirty="0"/>
          </a:p>
          <a:p>
            <a:pPr marL="0" indent="0" algn="ctr">
              <a:buNone/>
            </a:pPr>
            <a:r>
              <a:rPr lang="en-US" sz="1200" dirty="0">
                <a:solidFill>
                  <a:schemeClr val="accent6"/>
                </a:solidFill>
              </a:rPr>
              <a:t>Firebase Admin sends the push</a:t>
            </a:r>
            <a:endParaRPr lang="en-US" sz="1400" dirty="0"/>
          </a:p>
        </p:txBody>
      </p:sp>
      <p:sp>
        <p:nvSpPr>
          <p:cNvPr id="10" name="Arrow"/>
          <p:cNvSpPr/>
          <p:nvPr/>
        </p:nvSpPr>
        <p:spPr>
          <a:xfrm>
            <a:off x="4111691" y="2487168"/>
            <a:ext cx="188915" cy="0"/>
          </a:xfrm>
          <a:prstGeom prst="line">
            <a:avLst/>
          </a:prstGeom>
          <a:noFill/>
          <a:ln w="25400">
            <a:solidFill>
              <a:srgbClr val="416834"/>
            </a:solidFill>
            <a:prstDash val="solid"/>
            <a:tailEnd type="triangle"/>
          </a:ln>
        </p:spPr>
        <p:txBody>
          <a:bodyPr/>
          <a:lstStyle/>
          <a:p>
            <a:endParaRPr lang="en-CA"/>
          </a:p>
        </p:txBody>
      </p:sp>
      <p:sp>
        <p:nvSpPr>
          <p:cNvPr id="11" name="Notif box 3"/>
          <p:cNvSpPr/>
          <p:nvPr/>
        </p:nvSpPr>
        <p:spPr>
          <a:xfrm>
            <a:off x="4328038" y="1783080"/>
            <a:ext cx="1645920" cy="1417320"/>
          </a:xfrm>
          <a:prstGeom prst="roundRect">
            <a:avLst>
              <a:gd name="adj" fmla="val 7742"/>
            </a:avLst>
          </a:prstGeom>
          <a:solidFill>
            <a:schemeClr val="bg2"/>
          </a:solidFill>
          <a:ln/>
        </p:spPr>
        <p:txBody>
          <a:bodyPr/>
          <a:lstStyle/>
          <a:p>
            <a:endParaRPr lang="en-CA"/>
          </a:p>
        </p:txBody>
      </p:sp>
      <p:sp>
        <p:nvSpPr>
          <p:cNvPr id="12" name="Text 9"/>
          <p:cNvSpPr txBox="1"/>
          <p:nvPr/>
        </p:nvSpPr>
        <p:spPr>
          <a:xfrm>
            <a:off x="4419478" y="1828800"/>
            <a:ext cx="1463040" cy="1325880"/>
          </a:xfrm>
          <a:prstGeom prst="rect">
            <a:avLst/>
          </a:prstGeom>
          <a:noFill/>
          <a:ln/>
        </p:spPr>
        <p:txBody>
          <a:bodyPr wrap="square" lIns="0" tIns="0" rIns="0" bIns="0" rtlCol="0" anchor="ctr"/>
          <a:lstStyle/>
          <a:p>
            <a:pPr marL="0" indent="0" algn="ctr">
              <a:buNone/>
            </a:pPr>
            <a:r>
              <a:rPr lang="en-US" sz="1400" b="1" dirty="0">
                <a:solidFill>
                  <a:schemeClr val="tx1"/>
                </a:solidFill>
              </a:rPr>
              <a:t>FCM</a:t>
            </a:r>
            <a:endParaRPr lang="en-US" sz="1400" dirty="0"/>
          </a:p>
          <a:p>
            <a:pPr marL="0" indent="0" algn="ctr">
              <a:buNone/>
            </a:pPr>
            <a:r>
              <a:rPr lang="en-US" sz="1200" dirty="0">
                <a:solidFill>
                  <a:schemeClr val="accent6"/>
                </a:solidFill>
              </a:rPr>
              <a:t>delivers to the device</a:t>
            </a:r>
            <a:endParaRPr lang="en-US" sz="1400" dirty="0"/>
          </a:p>
        </p:txBody>
      </p:sp>
      <p:sp>
        <p:nvSpPr>
          <p:cNvPr id="13" name="Arrow"/>
          <p:cNvSpPr/>
          <p:nvPr/>
        </p:nvSpPr>
        <p:spPr>
          <a:xfrm>
            <a:off x="6001390" y="2487168"/>
            <a:ext cx="188915" cy="0"/>
          </a:xfrm>
          <a:prstGeom prst="line">
            <a:avLst/>
          </a:prstGeom>
          <a:noFill/>
          <a:ln w="25400">
            <a:solidFill>
              <a:srgbClr val="416834"/>
            </a:solidFill>
            <a:prstDash val="solid"/>
            <a:tailEnd type="triangle"/>
          </a:ln>
        </p:spPr>
        <p:txBody>
          <a:bodyPr/>
          <a:lstStyle/>
          <a:p>
            <a:endParaRPr lang="en-CA"/>
          </a:p>
        </p:txBody>
      </p:sp>
      <p:sp>
        <p:nvSpPr>
          <p:cNvPr id="14" name="Notif box 4"/>
          <p:cNvSpPr/>
          <p:nvPr/>
        </p:nvSpPr>
        <p:spPr>
          <a:xfrm>
            <a:off x="6217737" y="1783080"/>
            <a:ext cx="1645920" cy="1417320"/>
          </a:xfrm>
          <a:prstGeom prst="roundRect">
            <a:avLst>
              <a:gd name="adj" fmla="val 7742"/>
            </a:avLst>
          </a:prstGeom>
          <a:solidFill>
            <a:schemeClr val="bg2"/>
          </a:solidFill>
          <a:ln/>
        </p:spPr>
        <p:txBody>
          <a:bodyPr/>
          <a:lstStyle/>
          <a:p>
            <a:endParaRPr lang="en-CA"/>
          </a:p>
        </p:txBody>
      </p:sp>
      <p:sp>
        <p:nvSpPr>
          <p:cNvPr id="15" name="Text 12"/>
          <p:cNvSpPr txBox="1"/>
          <p:nvPr/>
        </p:nvSpPr>
        <p:spPr>
          <a:xfrm>
            <a:off x="6309177" y="1828800"/>
            <a:ext cx="1463040" cy="1325880"/>
          </a:xfrm>
          <a:prstGeom prst="rect">
            <a:avLst/>
          </a:prstGeom>
          <a:noFill/>
          <a:ln/>
        </p:spPr>
        <p:txBody>
          <a:bodyPr wrap="square" lIns="0" tIns="0" rIns="0" bIns="0" rtlCol="0" anchor="ctr"/>
          <a:lstStyle/>
          <a:p>
            <a:pPr marL="0" indent="0" algn="ctr">
              <a:buNone/>
            </a:pPr>
            <a:r>
              <a:rPr lang="en-US" sz="1400" b="1" dirty="0">
                <a:solidFill>
                  <a:schemeClr val="tx1"/>
                </a:solidFill>
              </a:rPr>
              <a:t>App service</a:t>
            </a:r>
            <a:endParaRPr lang="en-US" sz="1400" dirty="0"/>
          </a:p>
          <a:p>
            <a:pPr marL="0" indent="0" algn="ctr">
              <a:buNone/>
            </a:pPr>
            <a:r>
              <a:rPr lang="en-US" sz="1200" dirty="0">
                <a:solidFill>
                  <a:schemeClr val="accent6"/>
                </a:solidFill>
              </a:rPr>
              <a:t>onMessageReceived</a:t>
            </a:r>
            <a:endParaRPr lang="en-US" sz="1400" dirty="0"/>
          </a:p>
        </p:txBody>
      </p:sp>
      <p:sp>
        <p:nvSpPr>
          <p:cNvPr id="16" name="Arrow"/>
          <p:cNvSpPr/>
          <p:nvPr/>
        </p:nvSpPr>
        <p:spPr>
          <a:xfrm>
            <a:off x="7891089" y="2487168"/>
            <a:ext cx="188915" cy="0"/>
          </a:xfrm>
          <a:prstGeom prst="line">
            <a:avLst/>
          </a:prstGeom>
          <a:noFill/>
          <a:ln w="25400">
            <a:solidFill>
              <a:srgbClr val="416834"/>
            </a:solidFill>
            <a:prstDash val="solid"/>
            <a:tailEnd type="triangle"/>
          </a:ln>
        </p:spPr>
        <p:txBody>
          <a:bodyPr/>
          <a:lstStyle/>
          <a:p>
            <a:endParaRPr lang="en-CA"/>
          </a:p>
        </p:txBody>
      </p:sp>
      <p:sp>
        <p:nvSpPr>
          <p:cNvPr id="17" name="Notif box 5"/>
          <p:cNvSpPr/>
          <p:nvPr/>
        </p:nvSpPr>
        <p:spPr>
          <a:xfrm>
            <a:off x="8107436" y="1783080"/>
            <a:ext cx="1645920" cy="1417320"/>
          </a:xfrm>
          <a:prstGeom prst="roundRect">
            <a:avLst>
              <a:gd name="adj" fmla="val 7742"/>
            </a:avLst>
          </a:prstGeom>
          <a:solidFill>
            <a:schemeClr val="tx2"/>
          </a:solidFill>
          <a:ln/>
        </p:spPr>
        <p:txBody>
          <a:bodyPr/>
          <a:lstStyle/>
          <a:p>
            <a:endParaRPr lang="en-CA"/>
          </a:p>
        </p:txBody>
      </p:sp>
      <p:sp>
        <p:nvSpPr>
          <p:cNvPr id="18" name="Text 15"/>
          <p:cNvSpPr txBox="1"/>
          <p:nvPr/>
        </p:nvSpPr>
        <p:spPr>
          <a:xfrm>
            <a:off x="8198876" y="1828800"/>
            <a:ext cx="1463040" cy="1325880"/>
          </a:xfrm>
          <a:prstGeom prst="rect">
            <a:avLst/>
          </a:prstGeom>
          <a:noFill/>
          <a:ln/>
        </p:spPr>
        <p:txBody>
          <a:bodyPr wrap="square" lIns="0" tIns="0" rIns="0" bIns="0" rtlCol="0" anchor="ctr"/>
          <a:lstStyle/>
          <a:p>
            <a:pPr marL="0" indent="0" algn="ctr">
              <a:buNone/>
            </a:pPr>
            <a:r>
              <a:rPr lang="en-US" sz="1400" b="1" dirty="0">
                <a:solidFill>
                  <a:schemeClr val="bg1"/>
                </a:solidFill>
              </a:rPr>
              <a:t>Notification</a:t>
            </a:r>
            <a:endParaRPr lang="en-US" sz="1400" dirty="0"/>
          </a:p>
          <a:p>
            <a:pPr marL="0" indent="0" algn="ctr">
              <a:buNone/>
            </a:pPr>
            <a:r>
              <a:rPr lang="en-US" sz="1200" dirty="0">
                <a:solidFill>
                  <a:schemeClr val="accent3"/>
                </a:solidFill>
              </a:rPr>
              <a:t>channel, PendingIntent</a:t>
            </a:r>
            <a:endParaRPr lang="en-US" sz="1400" dirty="0"/>
          </a:p>
        </p:txBody>
      </p:sp>
      <p:sp>
        <p:nvSpPr>
          <p:cNvPr id="19" name="Arrow"/>
          <p:cNvSpPr/>
          <p:nvPr/>
        </p:nvSpPr>
        <p:spPr>
          <a:xfrm>
            <a:off x="9780788" y="2487168"/>
            <a:ext cx="188915" cy="0"/>
          </a:xfrm>
          <a:prstGeom prst="line">
            <a:avLst/>
          </a:prstGeom>
          <a:noFill/>
          <a:ln w="25400">
            <a:solidFill>
              <a:srgbClr val="416834"/>
            </a:solidFill>
            <a:prstDash val="solid"/>
            <a:tailEnd type="triangle"/>
          </a:ln>
        </p:spPr>
        <p:txBody>
          <a:bodyPr/>
          <a:lstStyle/>
          <a:p>
            <a:endParaRPr lang="en-CA"/>
          </a:p>
        </p:txBody>
      </p:sp>
      <p:sp>
        <p:nvSpPr>
          <p:cNvPr id="20" name="Notif box 6"/>
          <p:cNvSpPr/>
          <p:nvPr/>
        </p:nvSpPr>
        <p:spPr>
          <a:xfrm>
            <a:off x="9997135" y="1783080"/>
            <a:ext cx="1645920" cy="1417320"/>
          </a:xfrm>
          <a:prstGeom prst="roundRect">
            <a:avLst>
              <a:gd name="adj" fmla="val 7742"/>
            </a:avLst>
          </a:prstGeom>
          <a:solidFill>
            <a:schemeClr val="bg2"/>
          </a:solidFill>
          <a:ln/>
        </p:spPr>
        <p:txBody>
          <a:bodyPr/>
          <a:lstStyle/>
          <a:p>
            <a:endParaRPr lang="en-CA"/>
          </a:p>
        </p:txBody>
      </p:sp>
      <p:sp>
        <p:nvSpPr>
          <p:cNvPr id="21" name="Text 18"/>
          <p:cNvSpPr txBox="1"/>
          <p:nvPr/>
        </p:nvSpPr>
        <p:spPr>
          <a:xfrm>
            <a:off x="10088575" y="1828800"/>
            <a:ext cx="1463040" cy="1325880"/>
          </a:xfrm>
          <a:prstGeom prst="rect">
            <a:avLst/>
          </a:prstGeom>
          <a:noFill/>
          <a:ln/>
        </p:spPr>
        <p:txBody>
          <a:bodyPr wrap="square" lIns="0" tIns="0" rIns="0" bIns="0" rtlCol="0" anchor="ctr"/>
          <a:lstStyle/>
          <a:p>
            <a:pPr marL="0" indent="0" algn="ctr">
              <a:buNone/>
            </a:pPr>
            <a:r>
              <a:rPr lang="en-US" sz="1400" b="1" dirty="0">
                <a:solidFill>
                  <a:schemeClr val="tx1"/>
                </a:solidFill>
              </a:rPr>
              <a:t>Tap</a:t>
            </a:r>
            <a:endParaRPr lang="en-US" sz="1400" dirty="0"/>
          </a:p>
          <a:p>
            <a:pPr marL="0" indent="0" algn="ctr">
              <a:buNone/>
            </a:pPr>
            <a:r>
              <a:rPr lang="en-US" sz="1200" dirty="0">
                <a:solidFill>
                  <a:schemeClr val="accent6"/>
                </a:solidFill>
              </a:rPr>
              <a:t>Splash, Home, Order History</a:t>
            </a:r>
            <a:endParaRPr lang="en-US" sz="1400" dirty="0"/>
          </a:p>
        </p:txBody>
      </p:sp>
      <p:sp>
        <p:nvSpPr>
          <p:cNvPr id="22" name="Text 19"/>
          <p:cNvSpPr txBox="1"/>
          <p:nvPr/>
        </p:nvSpPr>
        <p:spPr>
          <a:xfrm>
            <a:off x="548640" y="3611880"/>
            <a:ext cx="6400800" cy="274320"/>
          </a:xfrm>
          <a:prstGeom prst="rect">
            <a:avLst/>
          </a:prstGeom>
          <a:noFill/>
          <a:ln/>
        </p:spPr>
        <p:txBody>
          <a:bodyPr wrap="square" lIns="0" tIns="0" rIns="0" bIns="0" rtlCol="0" anchor="t"/>
          <a:lstStyle/>
          <a:p>
            <a:pPr marL="0" indent="0">
              <a:buNone/>
            </a:pPr>
            <a:r>
              <a:rPr lang="en-US" sz="1400" b="1" kern="0" spc="300" dirty="0">
                <a:solidFill>
                  <a:schemeClr val="accent6"/>
                </a:solidFill>
              </a:rPr>
              <a:t>THREADS AND BACKGROUND WORK</a:t>
            </a:r>
            <a:endParaRPr lang="en-US" sz="1400" dirty="0"/>
          </a:p>
        </p:txBody>
      </p:sp>
      <p:sp>
        <p:nvSpPr>
          <p:cNvPr id="23" name="Thread card 1"/>
          <p:cNvSpPr/>
          <p:nvPr/>
        </p:nvSpPr>
        <p:spPr>
          <a:xfrm>
            <a:off x="548640" y="4023360"/>
            <a:ext cx="3566160" cy="2057400"/>
          </a:xfrm>
          <a:prstGeom prst="roundRect">
            <a:avLst>
              <a:gd name="adj" fmla="val 5333"/>
            </a:avLst>
          </a:prstGeom>
          <a:solidFill>
            <a:schemeClr val="bg2"/>
          </a:solidFill>
          <a:ln/>
        </p:spPr>
        <p:txBody>
          <a:bodyPr/>
          <a:lstStyle/>
          <a:p>
            <a:endParaRPr lang="en-CA"/>
          </a:p>
        </p:txBody>
      </p:sp>
      <p:sp>
        <p:nvSpPr>
          <p:cNvPr id="24" name="Thread icon 1 circle"/>
          <p:cNvSpPr/>
          <p:nvPr/>
        </p:nvSpPr>
        <p:spPr>
          <a:xfrm>
            <a:off x="822960" y="4251960"/>
            <a:ext cx="594360" cy="594360"/>
          </a:xfrm>
          <a:prstGeom prst="ellipse">
            <a:avLst/>
          </a:prstGeom>
          <a:solidFill>
            <a:srgbClr val="416834"/>
          </a:solidFill>
          <a:ln/>
        </p:spPr>
        <p:txBody>
          <a:bodyPr/>
          <a:lstStyle/>
          <a:p>
            <a:endParaRPr lang="en-CA"/>
          </a:p>
        </p:txBody>
      </p:sp>
      <p:pic>
        <p:nvPicPr>
          <p:cNvPr id="25" name="Thread icon 1" descr="Thread icon 1"/>
          <p:cNvPicPr>
            <a:picLocks noChangeAspect="1"/>
          </p:cNvPicPr>
          <p:nvPr/>
        </p:nvPicPr>
        <p:blipFill>
          <a:blip r:embed="rId3"/>
          <a:stretch>
            <a:fillRect/>
          </a:stretch>
        </p:blipFill>
        <p:spPr>
          <a:xfrm>
            <a:off x="971550" y="4400550"/>
            <a:ext cx="297180" cy="297180"/>
          </a:xfrm>
          <a:prstGeom prst="rect">
            <a:avLst/>
          </a:prstGeom>
        </p:spPr>
      </p:pic>
      <p:sp>
        <p:nvSpPr>
          <p:cNvPr id="26" name="Text 22"/>
          <p:cNvSpPr txBox="1"/>
          <p:nvPr/>
        </p:nvSpPr>
        <p:spPr>
          <a:xfrm>
            <a:off x="1645920" y="4251960"/>
            <a:ext cx="2286000" cy="594360"/>
          </a:xfrm>
          <a:prstGeom prst="rect">
            <a:avLst/>
          </a:prstGeom>
          <a:noFill/>
          <a:ln/>
        </p:spPr>
        <p:txBody>
          <a:bodyPr wrap="square" lIns="0" tIns="0" rIns="0" bIns="0" rtlCol="0" anchor="ctr"/>
          <a:lstStyle/>
          <a:p>
            <a:pPr marL="0" indent="0">
              <a:buNone/>
            </a:pPr>
            <a:r>
              <a:rPr lang="en-US" sz="1800" b="1" dirty="0">
                <a:solidFill>
                  <a:schemeClr val="tx2"/>
                </a:solidFill>
              </a:rPr>
              <a:t>Retrofit enqueue()</a:t>
            </a:r>
            <a:endParaRPr lang="en-US" sz="1800" dirty="0"/>
          </a:p>
        </p:txBody>
      </p:sp>
      <p:sp>
        <p:nvSpPr>
          <p:cNvPr id="27" name="Text 23"/>
          <p:cNvSpPr txBox="1"/>
          <p:nvPr/>
        </p:nvSpPr>
        <p:spPr>
          <a:xfrm>
            <a:off x="822960" y="5029200"/>
            <a:ext cx="3017520" cy="960120"/>
          </a:xfrm>
          <a:prstGeom prst="rect">
            <a:avLst/>
          </a:prstGeom>
          <a:noFill/>
          <a:ln/>
        </p:spPr>
        <p:txBody>
          <a:bodyPr wrap="square" lIns="0" tIns="0" rIns="0" bIns="0" rtlCol="0" anchor="t"/>
          <a:lstStyle/>
          <a:p>
            <a:pPr marL="0" indent="0">
              <a:buNone/>
            </a:pPr>
            <a:r>
              <a:rPr lang="en-US" sz="1400" dirty="0">
                <a:solidFill>
                  <a:schemeClr val="tx1"/>
                </a:solidFill>
              </a:rPr>
              <a:t>Network calls run off the main thread and callbacks return to the UI thread.</a:t>
            </a:r>
            <a:endParaRPr lang="en-US" sz="1400" dirty="0"/>
          </a:p>
        </p:txBody>
      </p:sp>
      <p:sp>
        <p:nvSpPr>
          <p:cNvPr id="28" name="Thread card 2"/>
          <p:cNvSpPr/>
          <p:nvPr/>
        </p:nvSpPr>
        <p:spPr>
          <a:xfrm>
            <a:off x="4312768" y="4023360"/>
            <a:ext cx="3566160" cy="2057400"/>
          </a:xfrm>
          <a:prstGeom prst="roundRect">
            <a:avLst>
              <a:gd name="adj" fmla="val 5333"/>
            </a:avLst>
          </a:prstGeom>
          <a:solidFill>
            <a:schemeClr val="bg2"/>
          </a:solidFill>
          <a:ln/>
        </p:spPr>
        <p:txBody>
          <a:bodyPr/>
          <a:lstStyle/>
          <a:p>
            <a:endParaRPr lang="en-CA"/>
          </a:p>
        </p:txBody>
      </p:sp>
      <p:sp>
        <p:nvSpPr>
          <p:cNvPr id="29" name="Thread icon 2 circle"/>
          <p:cNvSpPr/>
          <p:nvPr/>
        </p:nvSpPr>
        <p:spPr>
          <a:xfrm>
            <a:off x="4587088" y="4251960"/>
            <a:ext cx="594360" cy="594360"/>
          </a:xfrm>
          <a:prstGeom prst="ellipse">
            <a:avLst/>
          </a:prstGeom>
          <a:solidFill>
            <a:srgbClr val="416834"/>
          </a:solidFill>
          <a:ln/>
        </p:spPr>
        <p:txBody>
          <a:bodyPr/>
          <a:lstStyle/>
          <a:p>
            <a:endParaRPr lang="en-CA"/>
          </a:p>
        </p:txBody>
      </p:sp>
      <p:pic>
        <p:nvPicPr>
          <p:cNvPr id="30" name="Thread icon 2" descr="Thread icon 2"/>
          <p:cNvPicPr>
            <a:picLocks noChangeAspect="1"/>
          </p:cNvPicPr>
          <p:nvPr/>
        </p:nvPicPr>
        <p:blipFill>
          <a:blip r:embed="rId4"/>
          <a:stretch>
            <a:fillRect/>
          </a:stretch>
        </p:blipFill>
        <p:spPr>
          <a:xfrm>
            <a:off x="4735678" y="4400550"/>
            <a:ext cx="297180" cy="297180"/>
          </a:xfrm>
          <a:prstGeom prst="rect">
            <a:avLst/>
          </a:prstGeom>
        </p:spPr>
      </p:pic>
      <p:sp>
        <p:nvSpPr>
          <p:cNvPr id="31" name="Text 26"/>
          <p:cNvSpPr txBox="1"/>
          <p:nvPr/>
        </p:nvSpPr>
        <p:spPr>
          <a:xfrm>
            <a:off x="5410048" y="4251960"/>
            <a:ext cx="2286000" cy="594360"/>
          </a:xfrm>
          <a:prstGeom prst="rect">
            <a:avLst/>
          </a:prstGeom>
          <a:noFill/>
          <a:ln/>
        </p:spPr>
        <p:txBody>
          <a:bodyPr wrap="square" lIns="0" tIns="0" rIns="0" bIns="0" rtlCol="0" anchor="ctr"/>
          <a:lstStyle/>
          <a:p>
            <a:pPr marL="0" indent="0">
              <a:buNone/>
            </a:pPr>
            <a:r>
              <a:rPr lang="en-US" sz="1800" b="1" dirty="0">
                <a:solidFill>
                  <a:schemeClr val="tx2"/>
                </a:solidFill>
              </a:rPr>
              <a:t>ExecutorService</a:t>
            </a:r>
            <a:endParaRPr lang="en-US" sz="1800" dirty="0"/>
          </a:p>
        </p:txBody>
      </p:sp>
      <p:sp>
        <p:nvSpPr>
          <p:cNvPr id="32" name="Text 27"/>
          <p:cNvSpPr txBox="1"/>
          <p:nvPr/>
        </p:nvSpPr>
        <p:spPr>
          <a:xfrm>
            <a:off x="4587088" y="5029200"/>
            <a:ext cx="3017520" cy="960120"/>
          </a:xfrm>
          <a:prstGeom prst="rect">
            <a:avLst/>
          </a:prstGeom>
          <a:noFill/>
          <a:ln/>
        </p:spPr>
        <p:txBody>
          <a:bodyPr wrap="square" lIns="0" tIns="0" rIns="0" bIns="0" rtlCol="0" anchor="t"/>
          <a:lstStyle/>
          <a:p>
            <a:pPr marL="0" indent="0">
              <a:buNone/>
            </a:pPr>
            <a:r>
              <a:rPr lang="en-US" sz="1400" dirty="0">
                <a:solidFill>
                  <a:schemeClr val="tx1"/>
                </a:solidFill>
              </a:rPr>
              <a:t>Room reads and checkout work run on a background executor, then runOnUiThread.</a:t>
            </a:r>
            <a:endParaRPr lang="en-US" sz="1400" dirty="0"/>
          </a:p>
        </p:txBody>
      </p:sp>
      <p:sp>
        <p:nvSpPr>
          <p:cNvPr id="33" name="Thread card 3"/>
          <p:cNvSpPr/>
          <p:nvPr/>
        </p:nvSpPr>
        <p:spPr>
          <a:xfrm>
            <a:off x="8076895" y="4023360"/>
            <a:ext cx="3566160" cy="2057400"/>
          </a:xfrm>
          <a:prstGeom prst="roundRect">
            <a:avLst>
              <a:gd name="adj" fmla="val 5333"/>
            </a:avLst>
          </a:prstGeom>
          <a:solidFill>
            <a:schemeClr val="bg2"/>
          </a:solidFill>
          <a:ln/>
        </p:spPr>
        <p:txBody>
          <a:bodyPr/>
          <a:lstStyle/>
          <a:p>
            <a:endParaRPr lang="en-CA"/>
          </a:p>
        </p:txBody>
      </p:sp>
      <p:sp>
        <p:nvSpPr>
          <p:cNvPr id="34" name="Thread icon 3 circle"/>
          <p:cNvSpPr/>
          <p:nvPr/>
        </p:nvSpPr>
        <p:spPr>
          <a:xfrm>
            <a:off x="8351215" y="4251960"/>
            <a:ext cx="594360" cy="594360"/>
          </a:xfrm>
          <a:prstGeom prst="ellipse">
            <a:avLst/>
          </a:prstGeom>
          <a:solidFill>
            <a:srgbClr val="416834"/>
          </a:solidFill>
          <a:ln/>
        </p:spPr>
        <p:txBody>
          <a:bodyPr/>
          <a:lstStyle/>
          <a:p>
            <a:endParaRPr lang="en-CA"/>
          </a:p>
        </p:txBody>
      </p:sp>
      <p:pic>
        <p:nvPicPr>
          <p:cNvPr id="35" name="Thread icon 3" descr="Thread icon 3"/>
          <p:cNvPicPr>
            <a:picLocks noChangeAspect="1"/>
          </p:cNvPicPr>
          <p:nvPr/>
        </p:nvPicPr>
        <p:blipFill>
          <a:blip r:embed="rId5"/>
          <a:stretch>
            <a:fillRect/>
          </a:stretch>
        </p:blipFill>
        <p:spPr>
          <a:xfrm>
            <a:off x="8499805" y="4400550"/>
            <a:ext cx="297180" cy="297180"/>
          </a:xfrm>
          <a:prstGeom prst="rect">
            <a:avLst/>
          </a:prstGeom>
        </p:spPr>
      </p:pic>
      <p:sp>
        <p:nvSpPr>
          <p:cNvPr id="36" name="Text 30"/>
          <p:cNvSpPr txBox="1"/>
          <p:nvPr/>
        </p:nvSpPr>
        <p:spPr>
          <a:xfrm>
            <a:off x="9174175" y="4251960"/>
            <a:ext cx="2286000" cy="594360"/>
          </a:xfrm>
          <a:prstGeom prst="rect">
            <a:avLst/>
          </a:prstGeom>
          <a:noFill/>
          <a:ln/>
        </p:spPr>
        <p:txBody>
          <a:bodyPr wrap="square" lIns="0" tIns="0" rIns="0" bIns="0" rtlCol="0" anchor="ctr"/>
          <a:lstStyle/>
          <a:p>
            <a:pPr marL="0" indent="0">
              <a:buNone/>
            </a:pPr>
            <a:r>
              <a:rPr lang="en-US" sz="1800" b="1" dirty="0">
                <a:solidFill>
                  <a:schemeClr val="tx2"/>
                </a:solidFill>
              </a:rPr>
              <a:t>WorkManager</a:t>
            </a:r>
            <a:endParaRPr lang="en-US" sz="1800" dirty="0"/>
          </a:p>
        </p:txBody>
      </p:sp>
      <p:sp>
        <p:nvSpPr>
          <p:cNvPr id="37" name="Text 31"/>
          <p:cNvSpPr txBox="1"/>
          <p:nvPr/>
        </p:nvSpPr>
        <p:spPr>
          <a:xfrm>
            <a:off x="8351215" y="5029200"/>
            <a:ext cx="3017520" cy="960120"/>
          </a:xfrm>
          <a:prstGeom prst="rect">
            <a:avLst/>
          </a:prstGeom>
          <a:noFill/>
          <a:ln/>
        </p:spPr>
        <p:txBody>
          <a:bodyPr wrap="square" lIns="0" tIns="0" rIns="0" bIns="0" rtlCol="0" anchor="t"/>
          <a:lstStyle/>
          <a:p>
            <a:pPr marL="0" indent="0">
              <a:buNone/>
            </a:pPr>
            <a:r>
              <a:rPr lang="en-US" sz="1400" dirty="0">
                <a:solidFill>
                  <a:schemeClr val="tx1"/>
                </a:solidFill>
              </a:rPr>
              <a:t>Periodic sync survives app restarts and runs only when the network is connected.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9605" y="394199"/>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Spring Boot Backend And </a:t>
            </a:r>
            <a:r>
              <a:rPr lang="en-US" sz="3400" b="1" dirty="0" err="1">
                <a:solidFill>
                  <a:schemeClr val="tx2"/>
                </a:solidFill>
              </a:rPr>
              <a:t>Mysql</a:t>
            </a:r>
            <a:endParaRPr lang="en-US" sz="3400" dirty="0"/>
          </a:p>
        </p:txBody>
      </p:sp>
      <p:sp>
        <p:nvSpPr>
          <p:cNvPr id="4" name="Stat card 1"/>
          <p:cNvSpPr/>
          <p:nvPr/>
        </p:nvSpPr>
        <p:spPr>
          <a:xfrm>
            <a:off x="548640" y="1417320"/>
            <a:ext cx="2606040" cy="1371600"/>
          </a:xfrm>
          <a:prstGeom prst="roundRect">
            <a:avLst>
              <a:gd name="adj" fmla="val 8000"/>
            </a:avLst>
          </a:prstGeom>
          <a:solidFill>
            <a:schemeClr val="tx2"/>
          </a:solidFill>
          <a:ln/>
        </p:spPr>
        <p:txBody>
          <a:bodyPr/>
          <a:lstStyle/>
          <a:p>
            <a:endParaRPr lang="en-CA"/>
          </a:p>
        </p:txBody>
      </p:sp>
      <p:sp>
        <p:nvSpPr>
          <p:cNvPr id="5" name="Text 2"/>
          <p:cNvSpPr txBox="1"/>
          <p:nvPr/>
        </p:nvSpPr>
        <p:spPr>
          <a:xfrm>
            <a:off x="777240" y="1508760"/>
            <a:ext cx="2148840" cy="685800"/>
          </a:xfrm>
          <a:prstGeom prst="rect">
            <a:avLst/>
          </a:prstGeom>
          <a:noFill/>
          <a:ln/>
        </p:spPr>
        <p:txBody>
          <a:bodyPr wrap="square" lIns="0" tIns="0" rIns="0" bIns="0" rtlCol="0" anchor="ctr"/>
          <a:lstStyle/>
          <a:p>
            <a:pPr marL="0" indent="0">
              <a:buNone/>
            </a:pPr>
            <a:r>
              <a:rPr lang="en-US" sz="3800" b="1" dirty="0">
                <a:solidFill>
                  <a:schemeClr val="accent3"/>
                </a:solidFill>
                <a:latin typeface="Cambria" pitchFamily="34" charset="0"/>
                <a:ea typeface="Cambria" pitchFamily="34" charset="-122"/>
                <a:cs typeface="Cambria" pitchFamily="34" charset="-120"/>
              </a:rPr>
              <a:t>18</a:t>
            </a:r>
            <a:endParaRPr lang="en-US" sz="3800" dirty="0"/>
          </a:p>
        </p:txBody>
      </p:sp>
      <p:sp>
        <p:nvSpPr>
          <p:cNvPr id="6" name="Text 3"/>
          <p:cNvSpPr txBox="1"/>
          <p:nvPr/>
        </p:nvSpPr>
        <p:spPr>
          <a:xfrm>
            <a:off x="777240" y="2194560"/>
            <a:ext cx="2148840" cy="548640"/>
          </a:xfrm>
          <a:prstGeom prst="rect">
            <a:avLst/>
          </a:prstGeom>
          <a:noFill/>
          <a:ln/>
        </p:spPr>
        <p:txBody>
          <a:bodyPr wrap="square" lIns="0" tIns="0" rIns="0" bIns="0" rtlCol="0" anchor="t"/>
          <a:lstStyle/>
          <a:p>
            <a:pPr marL="0" indent="0">
              <a:buNone/>
            </a:pPr>
            <a:r>
              <a:rPr lang="en-US" sz="1400" dirty="0">
                <a:solidFill>
                  <a:schemeClr val="bg1"/>
                </a:solidFill>
              </a:rPr>
              <a:t>JPA entities</a:t>
            </a:r>
            <a:endParaRPr lang="en-US" sz="1400" dirty="0"/>
          </a:p>
        </p:txBody>
      </p:sp>
      <p:sp>
        <p:nvSpPr>
          <p:cNvPr id="7" name="Stat card 2"/>
          <p:cNvSpPr/>
          <p:nvPr/>
        </p:nvSpPr>
        <p:spPr>
          <a:xfrm>
            <a:off x="3378098" y="1417320"/>
            <a:ext cx="2606040" cy="1371600"/>
          </a:xfrm>
          <a:prstGeom prst="roundRect">
            <a:avLst>
              <a:gd name="adj" fmla="val 8000"/>
            </a:avLst>
          </a:prstGeom>
          <a:solidFill>
            <a:schemeClr val="tx2"/>
          </a:solidFill>
          <a:ln/>
        </p:spPr>
        <p:txBody>
          <a:bodyPr/>
          <a:lstStyle/>
          <a:p>
            <a:endParaRPr lang="en-CA"/>
          </a:p>
        </p:txBody>
      </p:sp>
      <p:sp>
        <p:nvSpPr>
          <p:cNvPr id="8" name="Text 5"/>
          <p:cNvSpPr txBox="1"/>
          <p:nvPr/>
        </p:nvSpPr>
        <p:spPr>
          <a:xfrm>
            <a:off x="3606698" y="1508760"/>
            <a:ext cx="2148840" cy="685800"/>
          </a:xfrm>
          <a:prstGeom prst="rect">
            <a:avLst/>
          </a:prstGeom>
          <a:noFill/>
          <a:ln/>
        </p:spPr>
        <p:txBody>
          <a:bodyPr wrap="square" lIns="0" tIns="0" rIns="0" bIns="0" rtlCol="0" anchor="ctr"/>
          <a:lstStyle/>
          <a:p>
            <a:pPr marL="0" indent="0">
              <a:buNone/>
            </a:pPr>
            <a:r>
              <a:rPr lang="en-US" sz="3800" b="1" dirty="0">
                <a:solidFill>
                  <a:schemeClr val="accent3"/>
                </a:solidFill>
                <a:latin typeface="Cambria" pitchFamily="34" charset="0"/>
                <a:ea typeface="Cambria" pitchFamily="34" charset="-122"/>
                <a:cs typeface="Cambria" pitchFamily="34" charset="-120"/>
              </a:rPr>
              <a:t>18</a:t>
            </a:r>
            <a:endParaRPr lang="en-US" sz="3800" dirty="0"/>
          </a:p>
        </p:txBody>
      </p:sp>
      <p:sp>
        <p:nvSpPr>
          <p:cNvPr id="9" name="Text 6"/>
          <p:cNvSpPr txBox="1"/>
          <p:nvPr/>
        </p:nvSpPr>
        <p:spPr>
          <a:xfrm>
            <a:off x="3606698" y="2194560"/>
            <a:ext cx="2148840" cy="548640"/>
          </a:xfrm>
          <a:prstGeom prst="rect">
            <a:avLst/>
          </a:prstGeom>
          <a:noFill/>
          <a:ln/>
        </p:spPr>
        <p:txBody>
          <a:bodyPr wrap="square" lIns="0" tIns="0" rIns="0" bIns="0" rtlCol="0" anchor="t"/>
          <a:lstStyle/>
          <a:p>
            <a:pPr marL="0" indent="0">
              <a:buNone/>
            </a:pPr>
            <a:r>
              <a:rPr lang="en-US" sz="1400" dirty="0">
                <a:solidFill>
                  <a:schemeClr val="bg1"/>
                </a:solidFill>
              </a:rPr>
              <a:t>REST controllers</a:t>
            </a:r>
            <a:endParaRPr lang="en-US" sz="1400" dirty="0"/>
          </a:p>
        </p:txBody>
      </p:sp>
      <p:sp>
        <p:nvSpPr>
          <p:cNvPr id="10" name="Stat card 3"/>
          <p:cNvSpPr/>
          <p:nvPr/>
        </p:nvSpPr>
        <p:spPr>
          <a:xfrm>
            <a:off x="6207557" y="1417320"/>
            <a:ext cx="2606040" cy="1371600"/>
          </a:xfrm>
          <a:prstGeom prst="roundRect">
            <a:avLst>
              <a:gd name="adj" fmla="val 8000"/>
            </a:avLst>
          </a:prstGeom>
          <a:solidFill>
            <a:schemeClr val="tx2"/>
          </a:solidFill>
          <a:ln/>
        </p:spPr>
        <p:txBody>
          <a:bodyPr/>
          <a:lstStyle/>
          <a:p>
            <a:endParaRPr lang="en-CA"/>
          </a:p>
        </p:txBody>
      </p:sp>
      <p:sp>
        <p:nvSpPr>
          <p:cNvPr id="11" name="Text 8"/>
          <p:cNvSpPr txBox="1"/>
          <p:nvPr/>
        </p:nvSpPr>
        <p:spPr>
          <a:xfrm>
            <a:off x="6436157" y="1508760"/>
            <a:ext cx="2148840" cy="685800"/>
          </a:xfrm>
          <a:prstGeom prst="rect">
            <a:avLst/>
          </a:prstGeom>
          <a:noFill/>
          <a:ln/>
        </p:spPr>
        <p:txBody>
          <a:bodyPr wrap="square" lIns="0" tIns="0" rIns="0" bIns="0" rtlCol="0" anchor="ctr"/>
          <a:lstStyle/>
          <a:p>
            <a:pPr marL="0" indent="0">
              <a:buNone/>
            </a:pPr>
            <a:r>
              <a:rPr lang="en-US" sz="3800" b="1" dirty="0">
                <a:solidFill>
                  <a:schemeClr val="accent3"/>
                </a:solidFill>
                <a:latin typeface="Cambria" pitchFamily="34" charset="0"/>
                <a:ea typeface="Cambria" pitchFamily="34" charset="-122"/>
                <a:cs typeface="Cambria" pitchFamily="34" charset="-120"/>
              </a:rPr>
              <a:t>3</a:t>
            </a:r>
            <a:endParaRPr lang="en-US" sz="3800" dirty="0"/>
          </a:p>
        </p:txBody>
      </p:sp>
      <p:sp>
        <p:nvSpPr>
          <p:cNvPr id="12" name="Text 9"/>
          <p:cNvSpPr txBox="1"/>
          <p:nvPr/>
        </p:nvSpPr>
        <p:spPr>
          <a:xfrm>
            <a:off x="6436157" y="2194560"/>
            <a:ext cx="2148840" cy="548640"/>
          </a:xfrm>
          <a:prstGeom prst="rect">
            <a:avLst/>
          </a:prstGeom>
          <a:noFill/>
          <a:ln/>
        </p:spPr>
        <p:txBody>
          <a:bodyPr wrap="square" lIns="0" tIns="0" rIns="0" bIns="0" rtlCol="0" anchor="t"/>
          <a:lstStyle/>
          <a:p>
            <a:pPr marL="0" indent="0">
              <a:buNone/>
            </a:pPr>
            <a:r>
              <a:rPr lang="en-US" sz="1400" dirty="0">
                <a:solidFill>
                  <a:schemeClr val="bg1"/>
                </a:solidFill>
              </a:rPr>
              <a:t>Roles: customer, hub manager, admin</a:t>
            </a:r>
            <a:endParaRPr lang="en-US" sz="1400" dirty="0"/>
          </a:p>
        </p:txBody>
      </p:sp>
      <p:sp>
        <p:nvSpPr>
          <p:cNvPr id="13" name="Stat card 4"/>
          <p:cNvSpPr/>
          <p:nvPr/>
        </p:nvSpPr>
        <p:spPr>
          <a:xfrm>
            <a:off x="9037015" y="1417320"/>
            <a:ext cx="2606040" cy="1371600"/>
          </a:xfrm>
          <a:prstGeom prst="roundRect">
            <a:avLst>
              <a:gd name="adj" fmla="val 8000"/>
            </a:avLst>
          </a:prstGeom>
          <a:solidFill>
            <a:schemeClr val="tx2"/>
          </a:solidFill>
          <a:ln/>
        </p:spPr>
        <p:txBody>
          <a:bodyPr/>
          <a:lstStyle/>
          <a:p>
            <a:endParaRPr lang="en-CA"/>
          </a:p>
        </p:txBody>
      </p:sp>
      <p:sp>
        <p:nvSpPr>
          <p:cNvPr id="14" name="Text 11"/>
          <p:cNvSpPr txBox="1"/>
          <p:nvPr/>
        </p:nvSpPr>
        <p:spPr>
          <a:xfrm>
            <a:off x="9265615" y="1508760"/>
            <a:ext cx="2148840" cy="685800"/>
          </a:xfrm>
          <a:prstGeom prst="rect">
            <a:avLst/>
          </a:prstGeom>
          <a:noFill/>
          <a:ln/>
        </p:spPr>
        <p:txBody>
          <a:bodyPr wrap="square" lIns="0" tIns="0" rIns="0" bIns="0" rtlCol="0" anchor="ctr"/>
          <a:lstStyle/>
          <a:p>
            <a:pPr marL="0" indent="0">
              <a:buNone/>
            </a:pPr>
            <a:r>
              <a:rPr lang="en-US" sz="3800" b="1" dirty="0">
                <a:solidFill>
                  <a:schemeClr val="accent3"/>
                </a:solidFill>
                <a:latin typeface="Cambria" pitchFamily="34" charset="0"/>
                <a:ea typeface="Cambria" pitchFamily="34" charset="-122"/>
                <a:cs typeface="Cambria" pitchFamily="34" charset="-120"/>
              </a:rPr>
              <a:t>MySQL</a:t>
            </a:r>
            <a:endParaRPr lang="en-US" sz="3800" dirty="0"/>
          </a:p>
        </p:txBody>
      </p:sp>
      <p:sp>
        <p:nvSpPr>
          <p:cNvPr id="15" name="Text 12"/>
          <p:cNvSpPr txBox="1"/>
          <p:nvPr/>
        </p:nvSpPr>
        <p:spPr>
          <a:xfrm>
            <a:off x="9265615" y="2194560"/>
            <a:ext cx="2148840" cy="548640"/>
          </a:xfrm>
          <a:prstGeom prst="rect">
            <a:avLst/>
          </a:prstGeom>
          <a:noFill/>
          <a:ln/>
        </p:spPr>
        <p:txBody>
          <a:bodyPr wrap="square" lIns="0" tIns="0" rIns="0" bIns="0" rtlCol="0" anchor="t"/>
          <a:lstStyle/>
          <a:p>
            <a:pPr marL="0" indent="0">
              <a:buNone/>
            </a:pPr>
            <a:r>
              <a:rPr lang="en-US" sz="1400" dirty="0">
                <a:solidFill>
                  <a:schemeClr val="bg1"/>
                </a:solidFill>
              </a:rPr>
              <a:t>Relational database</a:t>
            </a:r>
            <a:endParaRPr lang="en-US" sz="1400" dirty="0"/>
          </a:p>
        </p:txBody>
      </p:sp>
      <p:sp>
        <p:nvSpPr>
          <p:cNvPr id="16" name="Backend card 1"/>
          <p:cNvSpPr/>
          <p:nvPr/>
        </p:nvSpPr>
        <p:spPr>
          <a:xfrm>
            <a:off x="548640" y="3017520"/>
            <a:ext cx="3566160" cy="3063240"/>
          </a:xfrm>
          <a:prstGeom prst="roundRect">
            <a:avLst>
              <a:gd name="adj" fmla="val 3582"/>
            </a:avLst>
          </a:prstGeom>
          <a:solidFill>
            <a:schemeClr val="bg2"/>
          </a:solidFill>
          <a:ln/>
        </p:spPr>
        <p:txBody>
          <a:bodyPr/>
          <a:lstStyle/>
          <a:p>
            <a:endParaRPr lang="en-CA"/>
          </a:p>
        </p:txBody>
      </p:sp>
      <p:sp>
        <p:nvSpPr>
          <p:cNvPr id="17" name="Backend icon 1 circle"/>
          <p:cNvSpPr/>
          <p:nvPr/>
        </p:nvSpPr>
        <p:spPr>
          <a:xfrm>
            <a:off x="822960" y="3246120"/>
            <a:ext cx="594360" cy="594360"/>
          </a:xfrm>
          <a:prstGeom prst="ellipse">
            <a:avLst/>
          </a:prstGeom>
          <a:solidFill>
            <a:srgbClr val="416834"/>
          </a:solidFill>
          <a:ln/>
        </p:spPr>
        <p:txBody>
          <a:bodyPr/>
          <a:lstStyle/>
          <a:p>
            <a:endParaRPr lang="en-CA"/>
          </a:p>
        </p:txBody>
      </p:sp>
      <p:pic>
        <p:nvPicPr>
          <p:cNvPr id="18" name="Backend icon 1" descr="Backend icon 1"/>
          <p:cNvPicPr>
            <a:picLocks noChangeAspect="1"/>
          </p:cNvPicPr>
          <p:nvPr/>
        </p:nvPicPr>
        <p:blipFill>
          <a:blip r:embed="rId3"/>
          <a:stretch>
            <a:fillRect/>
          </a:stretch>
        </p:blipFill>
        <p:spPr>
          <a:xfrm>
            <a:off x="971550" y="3394710"/>
            <a:ext cx="297180" cy="297180"/>
          </a:xfrm>
          <a:prstGeom prst="rect">
            <a:avLst/>
          </a:prstGeom>
        </p:spPr>
      </p:pic>
      <p:sp>
        <p:nvSpPr>
          <p:cNvPr id="19" name="Text 15"/>
          <p:cNvSpPr txBox="1"/>
          <p:nvPr/>
        </p:nvSpPr>
        <p:spPr>
          <a:xfrm>
            <a:off x="1600200" y="3246120"/>
            <a:ext cx="2331720" cy="594360"/>
          </a:xfrm>
          <a:prstGeom prst="rect">
            <a:avLst/>
          </a:prstGeom>
          <a:noFill/>
          <a:ln/>
        </p:spPr>
        <p:txBody>
          <a:bodyPr wrap="square" lIns="0" tIns="0" rIns="0" bIns="0" rtlCol="0" anchor="ctr"/>
          <a:lstStyle/>
          <a:p>
            <a:pPr marL="0" indent="0">
              <a:buNone/>
            </a:pPr>
            <a:r>
              <a:rPr lang="en-US" sz="1800" b="1" dirty="0">
                <a:solidFill>
                  <a:schemeClr val="tx2"/>
                </a:solidFill>
              </a:rPr>
              <a:t>Identity and security</a:t>
            </a:r>
            <a:endParaRPr lang="en-US" sz="1800" dirty="0"/>
          </a:p>
        </p:txBody>
      </p:sp>
      <p:sp>
        <p:nvSpPr>
          <p:cNvPr id="20" name="Text 16"/>
          <p:cNvSpPr txBox="1"/>
          <p:nvPr/>
        </p:nvSpPr>
        <p:spPr>
          <a:xfrm>
            <a:off x="822960" y="4023360"/>
            <a:ext cx="3017520" cy="19659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Firebase Admin verifies ID tokens at login</a:t>
            </a:r>
            <a:endParaRPr lang="en-US" sz="1400" dirty="0"/>
          </a:p>
          <a:p>
            <a:pPr marL="177800" indent="-177800">
              <a:spcAft>
                <a:spcPts val="600"/>
              </a:spcAft>
              <a:buSzPct val="100000"/>
              <a:buChar char="•"/>
            </a:pPr>
            <a:r>
              <a:rPr lang="en-US" sz="1400" dirty="0">
                <a:solidFill>
                  <a:schemeClr val="tx1"/>
                </a:solidFill>
              </a:rPr>
              <a:t>Customer, hub manager and admin accounts</a:t>
            </a:r>
            <a:endParaRPr lang="en-US" sz="1400" dirty="0"/>
          </a:p>
          <a:p>
            <a:pPr marL="177800" indent="-177800">
              <a:spcAft>
                <a:spcPts val="600"/>
              </a:spcAft>
              <a:buSzPct val="100000"/>
              <a:buChar char="•"/>
            </a:pPr>
            <a:r>
              <a:rPr lang="en-US" sz="1400" dirty="0">
                <a:solidFill>
                  <a:schemeClr val="tx1"/>
                </a:solidFill>
              </a:rPr>
              <a:t>Stripe secret key stays on the server</a:t>
            </a:r>
            <a:endParaRPr lang="en-US" sz="1400" dirty="0"/>
          </a:p>
        </p:txBody>
      </p:sp>
      <p:sp>
        <p:nvSpPr>
          <p:cNvPr id="21" name="Backend card 2"/>
          <p:cNvSpPr/>
          <p:nvPr/>
        </p:nvSpPr>
        <p:spPr>
          <a:xfrm>
            <a:off x="4312768" y="3017520"/>
            <a:ext cx="3566160" cy="3063240"/>
          </a:xfrm>
          <a:prstGeom prst="roundRect">
            <a:avLst>
              <a:gd name="adj" fmla="val 3582"/>
            </a:avLst>
          </a:prstGeom>
          <a:solidFill>
            <a:schemeClr val="bg2"/>
          </a:solidFill>
          <a:ln/>
        </p:spPr>
        <p:txBody>
          <a:bodyPr/>
          <a:lstStyle/>
          <a:p>
            <a:endParaRPr lang="en-CA"/>
          </a:p>
        </p:txBody>
      </p:sp>
      <p:sp>
        <p:nvSpPr>
          <p:cNvPr id="22" name="Backend icon 2 circle"/>
          <p:cNvSpPr/>
          <p:nvPr/>
        </p:nvSpPr>
        <p:spPr>
          <a:xfrm>
            <a:off x="4587088" y="3246120"/>
            <a:ext cx="594360" cy="594360"/>
          </a:xfrm>
          <a:prstGeom prst="ellipse">
            <a:avLst/>
          </a:prstGeom>
          <a:solidFill>
            <a:srgbClr val="416834"/>
          </a:solidFill>
          <a:ln/>
        </p:spPr>
        <p:txBody>
          <a:bodyPr/>
          <a:lstStyle/>
          <a:p>
            <a:endParaRPr lang="en-CA"/>
          </a:p>
        </p:txBody>
      </p:sp>
      <p:pic>
        <p:nvPicPr>
          <p:cNvPr id="23" name="Backend icon 2" descr="Backend icon 2"/>
          <p:cNvPicPr>
            <a:picLocks noChangeAspect="1"/>
          </p:cNvPicPr>
          <p:nvPr/>
        </p:nvPicPr>
        <p:blipFill>
          <a:blip r:embed="rId4"/>
          <a:stretch>
            <a:fillRect/>
          </a:stretch>
        </p:blipFill>
        <p:spPr>
          <a:xfrm>
            <a:off x="4735678" y="3394710"/>
            <a:ext cx="297180" cy="297180"/>
          </a:xfrm>
          <a:prstGeom prst="rect">
            <a:avLst/>
          </a:prstGeom>
        </p:spPr>
      </p:pic>
      <p:sp>
        <p:nvSpPr>
          <p:cNvPr id="24" name="Text 19"/>
          <p:cNvSpPr txBox="1"/>
          <p:nvPr/>
        </p:nvSpPr>
        <p:spPr>
          <a:xfrm>
            <a:off x="5364328" y="3246120"/>
            <a:ext cx="2331720" cy="594360"/>
          </a:xfrm>
          <a:prstGeom prst="rect">
            <a:avLst/>
          </a:prstGeom>
          <a:noFill/>
          <a:ln/>
        </p:spPr>
        <p:txBody>
          <a:bodyPr wrap="square" lIns="0" tIns="0" rIns="0" bIns="0" rtlCol="0" anchor="ctr"/>
          <a:lstStyle/>
          <a:p>
            <a:pPr marL="0" indent="0">
              <a:buNone/>
            </a:pPr>
            <a:r>
              <a:rPr lang="en-US" sz="1800" b="1" dirty="0">
                <a:solidFill>
                  <a:schemeClr val="tx2"/>
                </a:solidFill>
              </a:rPr>
              <a:t>Rental domain</a:t>
            </a:r>
            <a:endParaRPr lang="en-US" sz="1800" dirty="0"/>
          </a:p>
        </p:txBody>
      </p:sp>
      <p:sp>
        <p:nvSpPr>
          <p:cNvPr id="25" name="Text 20"/>
          <p:cNvSpPr txBox="1"/>
          <p:nvPr/>
        </p:nvSpPr>
        <p:spPr>
          <a:xfrm>
            <a:off x="4587088" y="4023360"/>
            <a:ext cx="3017520" cy="19659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Gear, categories, hub inventory</a:t>
            </a:r>
            <a:endParaRPr lang="en-US" sz="1400" dirty="0"/>
          </a:p>
          <a:p>
            <a:pPr marL="177800" indent="-177800">
              <a:spcAft>
                <a:spcPts val="600"/>
              </a:spcAft>
              <a:buSzPct val="100000"/>
              <a:buChar char="•"/>
            </a:pPr>
            <a:r>
              <a:rPr lang="en-US" sz="1400" dirty="0">
                <a:solidFill>
                  <a:schemeClr val="tx1"/>
                </a:solidFill>
              </a:rPr>
              <a:t>Cart, wishlist, invoices and items</a:t>
            </a:r>
            <a:endParaRPr lang="en-US" sz="1400" dirty="0"/>
          </a:p>
          <a:p>
            <a:pPr marL="177800" indent="-177800">
              <a:spcAft>
                <a:spcPts val="600"/>
              </a:spcAft>
              <a:buSzPct val="100000"/>
              <a:buChar char="•"/>
            </a:pPr>
            <a:r>
              <a:rPr lang="en-US" sz="1400" dirty="0">
                <a:solidFill>
                  <a:schemeClr val="tx1"/>
                </a:solidFill>
              </a:rPr>
              <a:t>Transactional order and stock services</a:t>
            </a:r>
            <a:endParaRPr lang="en-US" sz="1400" dirty="0"/>
          </a:p>
          <a:p>
            <a:pPr marL="177800" indent="-177800">
              <a:spcAft>
                <a:spcPts val="600"/>
              </a:spcAft>
              <a:buSzPct val="100000"/>
              <a:buChar char="•"/>
            </a:pPr>
            <a:r>
              <a:rPr lang="en-US" sz="1400" dirty="0">
                <a:solidFill>
                  <a:schemeClr val="tx1"/>
                </a:solidFill>
              </a:rPr>
              <a:t>Order and payment status enums</a:t>
            </a:r>
            <a:endParaRPr lang="en-US" sz="1400" dirty="0"/>
          </a:p>
        </p:txBody>
      </p:sp>
      <p:sp>
        <p:nvSpPr>
          <p:cNvPr id="26" name="Backend card 3"/>
          <p:cNvSpPr/>
          <p:nvPr/>
        </p:nvSpPr>
        <p:spPr>
          <a:xfrm>
            <a:off x="8076895" y="3017520"/>
            <a:ext cx="3566160" cy="3063240"/>
          </a:xfrm>
          <a:prstGeom prst="roundRect">
            <a:avLst>
              <a:gd name="adj" fmla="val 3582"/>
            </a:avLst>
          </a:prstGeom>
          <a:solidFill>
            <a:schemeClr val="bg2"/>
          </a:solidFill>
          <a:ln/>
        </p:spPr>
        <p:txBody>
          <a:bodyPr/>
          <a:lstStyle/>
          <a:p>
            <a:endParaRPr lang="en-CA"/>
          </a:p>
        </p:txBody>
      </p:sp>
      <p:sp>
        <p:nvSpPr>
          <p:cNvPr id="27" name="Backend icon 3 circle"/>
          <p:cNvSpPr/>
          <p:nvPr/>
        </p:nvSpPr>
        <p:spPr>
          <a:xfrm>
            <a:off x="8351215" y="3246120"/>
            <a:ext cx="594360" cy="594360"/>
          </a:xfrm>
          <a:prstGeom prst="ellipse">
            <a:avLst/>
          </a:prstGeom>
          <a:solidFill>
            <a:srgbClr val="416834"/>
          </a:solidFill>
          <a:ln/>
        </p:spPr>
        <p:txBody>
          <a:bodyPr/>
          <a:lstStyle/>
          <a:p>
            <a:endParaRPr lang="en-CA"/>
          </a:p>
        </p:txBody>
      </p:sp>
      <p:pic>
        <p:nvPicPr>
          <p:cNvPr id="28" name="Backend icon 3" descr="Backend icon 3"/>
          <p:cNvPicPr>
            <a:picLocks noChangeAspect="1"/>
          </p:cNvPicPr>
          <p:nvPr/>
        </p:nvPicPr>
        <p:blipFill>
          <a:blip r:embed="rId5"/>
          <a:stretch>
            <a:fillRect/>
          </a:stretch>
        </p:blipFill>
        <p:spPr>
          <a:xfrm>
            <a:off x="8499805" y="3394710"/>
            <a:ext cx="297180" cy="297180"/>
          </a:xfrm>
          <a:prstGeom prst="rect">
            <a:avLst/>
          </a:prstGeom>
        </p:spPr>
      </p:pic>
      <p:sp>
        <p:nvSpPr>
          <p:cNvPr id="29" name="Text 23"/>
          <p:cNvSpPr txBox="1"/>
          <p:nvPr/>
        </p:nvSpPr>
        <p:spPr>
          <a:xfrm>
            <a:off x="9128455" y="3246120"/>
            <a:ext cx="2331720" cy="594360"/>
          </a:xfrm>
          <a:prstGeom prst="rect">
            <a:avLst/>
          </a:prstGeom>
          <a:noFill/>
          <a:ln/>
        </p:spPr>
        <p:txBody>
          <a:bodyPr wrap="square" lIns="0" tIns="0" rIns="0" bIns="0" rtlCol="0" anchor="ctr"/>
          <a:lstStyle/>
          <a:p>
            <a:pPr marL="0" indent="0">
              <a:buNone/>
            </a:pPr>
            <a:r>
              <a:rPr lang="en-US" sz="1800" b="1" dirty="0">
                <a:solidFill>
                  <a:schemeClr val="tx2"/>
                </a:solidFill>
              </a:rPr>
              <a:t>Real-time and media</a:t>
            </a:r>
            <a:endParaRPr lang="en-US" sz="1800" dirty="0"/>
          </a:p>
        </p:txBody>
      </p:sp>
      <p:sp>
        <p:nvSpPr>
          <p:cNvPr id="30" name="Text 24"/>
          <p:cNvSpPr txBox="1"/>
          <p:nvPr/>
        </p:nvSpPr>
        <p:spPr>
          <a:xfrm>
            <a:off x="8351215" y="4023360"/>
            <a:ext cx="3017520" cy="19659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STOMP WebSocket broadcasts</a:t>
            </a:r>
            <a:endParaRPr lang="en-US" sz="1400" dirty="0"/>
          </a:p>
          <a:p>
            <a:pPr marL="177800" indent="-177800">
              <a:spcAft>
                <a:spcPts val="600"/>
              </a:spcAft>
              <a:buSzPct val="100000"/>
              <a:buChar char="•"/>
            </a:pPr>
            <a:r>
              <a:rPr lang="en-US" sz="1400" dirty="0">
                <a:solidFill>
                  <a:schemeClr val="tx1"/>
                </a:solidFill>
              </a:rPr>
              <a:t>Dashboard updates without a refresh</a:t>
            </a:r>
            <a:endParaRPr lang="en-US" sz="1400" dirty="0"/>
          </a:p>
          <a:p>
            <a:pPr marL="177800" indent="-177800">
              <a:spcAft>
                <a:spcPts val="600"/>
              </a:spcAft>
              <a:buSzPct val="100000"/>
              <a:buChar char="•"/>
            </a:pPr>
            <a:r>
              <a:rPr lang="en-US" sz="1400" dirty="0">
                <a:solidFill>
                  <a:schemeClr val="tx1"/>
                </a:solidFill>
              </a:rPr>
              <a:t>Cloudinary signed image uploads</a:t>
            </a:r>
            <a:endParaRPr lang="en-US" sz="1400" dirty="0"/>
          </a:p>
          <a:p>
            <a:pPr marL="177800" indent="-177800">
              <a:spcAft>
                <a:spcPts val="600"/>
              </a:spcAft>
              <a:buSzPct val="100000"/>
              <a:buChar char="•"/>
            </a:pPr>
            <a:r>
              <a:rPr lang="en-US" sz="1400" dirty="0">
                <a:solidFill>
                  <a:schemeClr val="tx1"/>
                </a:solidFill>
              </a:rPr>
              <a:t>Push notification service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8F5AEB-F400-583C-AB29-82A42582C3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4265" y="274486"/>
            <a:ext cx="8263469" cy="6309027"/>
          </a:xfrm>
          <a:prstGeom prst="rect">
            <a:avLst/>
          </a:prstGeom>
          <a:noFill/>
          <a:ln>
            <a:solidFill>
              <a:schemeClr val="accent1"/>
            </a:solidFill>
          </a:ln>
        </p:spPr>
      </p:pic>
    </p:spTree>
    <p:extLst>
      <p:ext uri="{BB962C8B-B14F-4D97-AF65-F5344CB8AC3E}">
        <p14:creationId xmlns:p14="http://schemas.microsoft.com/office/powerpoint/2010/main" val="254009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9605"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React Admin Dashboard</a:t>
            </a:r>
            <a:endParaRPr lang="en-US" sz="3400" dirty="0"/>
          </a:p>
        </p:txBody>
      </p:sp>
      <p:pic>
        <p:nvPicPr>
          <p:cNvPr id="4" name="Admin dashboard" descr="Admin dashboard"/>
          <p:cNvPicPr>
            <a:picLocks noChangeAspect="1"/>
          </p:cNvPicPr>
          <p:nvPr/>
        </p:nvPicPr>
        <p:blipFill>
          <a:blip r:embed="rId3"/>
          <a:stretch>
            <a:fillRect/>
          </a:stretch>
        </p:blipFill>
        <p:spPr>
          <a:xfrm>
            <a:off x="548640" y="1371600"/>
            <a:ext cx="5440680" cy="2580072"/>
          </a:xfrm>
          <a:prstGeom prst="rect">
            <a:avLst/>
          </a:prstGeom>
          <a:ln>
            <a:solidFill>
              <a:schemeClr val="accent1"/>
            </a:solidFill>
          </a:ln>
        </p:spPr>
      </p:pic>
      <p:pic>
        <p:nvPicPr>
          <p:cNvPr id="5" name="Admin reports" descr="Admin reports page with charts"/>
          <p:cNvPicPr>
            <a:picLocks noChangeAspect="1"/>
          </p:cNvPicPr>
          <p:nvPr/>
        </p:nvPicPr>
        <p:blipFill>
          <a:blip r:embed="rId4"/>
          <a:stretch>
            <a:fillRect/>
          </a:stretch>
        </p:blipFill>
        <p:spPr>
          <a:xfrm>
            <a:off x="6202375" y="1371600"/>
            <a:ext cx="5440680" cy="2580072"/>
          </a:xfrm>
          <a:prstGeom prst="rect">
            <a:avLst/>
          </a:prstGeom>
          <a:ln>
            <a:solidFill>
              <a:schemeClr val="accent1"/>
            </a:solidFill>
          </a:ln>
        </p:spPr>
      </p:pic>
      <p:sp>
        <p:nvSpPr>
          <p:cNvPr id="6" name="Text 1"/>
          <p:cNvSpPr txBox="1"/>
          <p:nvPr/>
        </p:nvSpPr>
        <p:spPr>
          <a:xfrm>
            <a:off x="548640" y="4088832"/>
            <a:ext cx="5440680" cy="640080"/>
          </a:xfrm>
          <a:prstGeom prst="rect">
            <a:avLst/>
          </a:prstGeom>
          <a:noFill/>
          <a:ln/>
        </p:spPr>
        <p:txBody>
          <a:bodyPr wrap="square" lIns="0" tIns="0" rIns="0" bIns="0" rtlCol="0" anchor="t"/>
          <a:lstStyle/>
          <a:p>
            <a:pPr marL="0" indent="0" algn="ctr">
              <a:buNone/>
            </a:pPr>
            <a:r>
              <a:rPr lang="en-US" sz="1600" b="1" dirty="0">
                <a:solidFill>
                  <a:schemeClr val="tx1"/>
                </a:solidFill>
              </a:rPr>
              <a:t>Dashboard</a:t>
            </a:r>
            <a:endParaRPr lang="en-US" sz="1600" dirty="0"/>
          </a:p>
          <a:p>
            <a:pPr marL="0" indent="0" algn="ctr">
              <a:buNone/>
            </a:pPr>
            <a:r>
              <a:rPr lang="en-US" sz="1400" dirty="0">
                <a:solidFill>
                  <a:schemeClr val="accent6"/>
                </a:solidFill>
              </a:rPr>
              <a:t>Orders today, pending approvals, low stock, revenue</a:t>
            </a:r>
            <a:endParaRPr lang="en-US" sz="1600" dirty="0"/>
          </a:p>
        </p:txBody>
      </p:sp>
      <p:sp>
        <p:nvSpPr>
          <p:cNvPr id="7" name="Text 2"/>
          <p:cNvSpPr txBox="1"/>
          <p:nvPr/>
        </p:nvSpPr>
        <p:spPr>
          <a:xfrm>
            <a:off x="6202375" y="4088832"/>
            <a:ext cx="5440680" cy="640080"/>
          </a:xfrm>
          <a:prstGeom prst="rect">
            <a:avLst/>
          </a:prstGeom>
          <a:noFill/>
          <a:ln/>
        </p:spPr>
        <p:txBody>
          <a:bodyPr wrap="square" lIns="0" tIns="0" rIns="0" bIns="0" rtlCol="0" anchor="t"/>
          <a:lstStyle/>
          <a:p>
            <a:pPr marL="0" indent="0" algn="ctr">
              <a:buNone/>
            </a:pPr>
            <a:r>
              <a:rPr lang="en-US" sz="1600" b="1" dirty="0">
                <a:solidFill>
                  <a:schemeClr val="tx1"/>
                </a:solidFill>
              </a:rPr>
              <a:t>Reports and analytics</a:t>
            </a:r>
            <a:endParaRPr lang="en-US" sz="1600" dirty="0"/>
          </a:p>
          <a:p>
            <a:pPr marL="0" indent="0" algn="ctr">
              <a:buNone/>
            </a:pPr>
            <a:r>
              <a:rPr lang="en-US" sz="1400" dirty="0">
                <a:solidFill>
                  <a:schemeClr val="accent6"/>
                </a:solidFill>
              </a:rPr>
              <a:t>Orders and revenue trends, orders by hub, top rented gear</a:t>
            </a:r>
            <a:endParaRPr lang="en-US" sz="1600" dirty="0"/>
          </a:p>
        </p:txBody>
      </p:sp>
      <p:sp>
        <p:nvSpPr>
          <p:cNvPr id="8" name="Chip React 19"/>
          <p:cNvSpPr/>
          <p:nvPr/>
        </p:nvSpPr>
        <p:spPr>
          <a:xfrm>
            <a:off x="548640" y="4983480"/>
            <a:ext cx="1371600" cy="457200"/>
          </a:xfrm>
          <a:prstGeom prst="roundRect">
            <a:avLst>
              <a:gd name="adj" fmla="val 50000"/>
            </a:avLst>
          </a:prstGeom>
          <a:solidFill>
            <a:schemeClr val="bg2"/>
          </a:solidFill>
          <a:ln/>
        </p:spPr>
        <p:txBody>
          <a:bodyPr/>
          <a:lstStyle/>
          <a:p>
            <a:endParaRPr lang="en-CA"/>
          </a:p>
        </p:txBody>
      </p:sp>
      <p:sp>
        <p:nvSpPr>
          <p:cNvPr id="9" name="Text 4"/>
          <p:cNvSpPr txBox="1"/>
          <p:nvPr/>
        </p:nvSpPr>
        <p:spPr>
          <a:xfrm>
            <a:off x="548640" y="4983480"/>
            <a:ext cx="1371600" cy="457200"/>
          </a:xfrm>
          <a:prstGeom prst="rect">
            <a:avLst/>
          </a:prstGeom>
          <a:noFill/>
          <a:ln/>
        </p:spPr>
        <p:txBody>
          <a:bodyPr wrap="square" lIns="0" tIns="0" rIns="0" bIns="0" rtlCol="0" anchor="ctr"/>
          <a:lstStyle/>
          <a:p>
            <a:pPr marL="0" indent="0" algn="ctr">
              <a:buNone/>
            </a:pPr>
            <a:r>
              <a:rPr lang="en-US" sz="1400" b="1" dirty="0">
                <a:solidFill>
                  <a:schemeClr val="tx2"/>
                </a:solidFill>
              </a:rPr>
              <a:t>React 19</a:t>
            </a:r>
            <a:endParaRPr lang="en-US" sz="1400" dirty="0"/>
          </a:p>
        </p:txBody>
      </p:sp>
      <p:sp>
        <p:nvSpPr>
          <p:cNvPr id="10" name="Chip TypeScript"/>
          <p:cNvSpPr/>
          <p:nvPr/>
        </p:nvSpPr>
        <p:spPr>
          <a:xfrm>
            <a:off x="2169109" y="4983480"/>
            <a:ext cx="1371600" cy="457200"/>
          </a:xfrm>
          <a:prstGeom prst="roundRect">
            <a:avLst>
              <a:gd name="adj" fmla="val 50000"/>
            </a:avLst>
          </a:prstGeom>
          <a:solidFill>
            <a:schemeClr val="bg2"/>
          </a:solidFill>
          <a:ln/>
        </p:spPr>
        <p:txBody>
          <a:bodyPr/>
          <a:lstStyle/>
          <a:p>
            <a:endParaRPr lang="en-CA"/>
          </a:p>
        </p:txBody>
      </p:sp>
      <p:sp>
        <p:nvSpPr>
          <p:cNvPr id="11" name="Text 6"/>
          <p:cNvSpPr txBox="1"/>
          <p:nvPr/>
        </p:nvSpPr>
        <p:spPr>
          <a:xfrm>
            <a:off x="2169109" y="4983480"/>
            <a:ext cx="1371600" cy="457200"/>
          </a:xfrm>
          <a:prstGeom prst="rect">
            <a:avLst/>
          </a:prstGeom>
          <a:noFill/>
          <a:ln/>
        </p:spPr>
        <p:txBody>
          <a:bodyPr wrap="square" lIns="0" tIns="0" rIns="0" bIns="0" rtlCol="0" anchor="ctr"/>
          <a:lstStyle/>
          <a:p>
            <a:pPr marL="0" indent="0" algn="ctr">
              <a:buNone/>
            </a:pPr>
            <a:r>
              <a:rPr lang="en-US" sz="1400" b="1" dirty="0">
                <a:solidFill>
                  <a:schemeClr val="tx2"/>
                </a:solidFill>
              </a:rPr>
              <a:t>TypeScript</a:t>
            </a:r>
            <a:endParaRPr lang="en-US" sz="1400" dirty="0"/>
          </a:p>
        </p:txBody>
      </p:sp>
      <p:sp>
        <p:nvSpPr>
          <p:cNvPr id="12" name="Chip MUI 7"/>
          <p:cNvSpPr/>
          <p:nvPr/>
        </p:nvSpPr>
        <p:spPr>
          <a:xfrm>
            <a:off x="3789578" y="4983480"/>
            <a:ext cx="1371600" cy="457200"/>
          </a:xfrm>
          <a:prstGeom prst="roundRect">
            <a:avLst>
              <a:gd name="adj" fmla="val 50000"/>
            </a:avLst>
          </a:prstGeom>
          <a:solidFill>
            <a:schemeClr val="bg2"/>
          </a:solidFill>
          <a:ln/>
        </p:spPr>
        <p:txBody>
          <a:bodyPr/>
          <a:lstStyle/>
          <a:p>
            <a:endParaRPr lang="en-CA"/>
          </a:p>
        </p:txBody>
      </p:sp>
      <p:sp>
        <p:nvSpPr>
          <p:cNvPr id="13" name="Text 8"/>
          <p:cNvSpPr txBox="1"/>
          <p:nvPr/>
        </p:nvSpPr>
        <p:spPr>
          <a:xfrm>
            <a:off x="3789578" y="4983480"/>
            <a:ext cx="1371600" cy="457200"/>
          </a:xfrm>
          <a:prstGeom prst="rect">
            <a:avLst/>
          </a:prstGeom>
          <a:noFill/>
          <a:ln/>
        </p:spPr>
        <p:txBody>
          <a:bodyPr wrap="square" lIns="0" tIns="0" rIns="0" bIns="0" rtlCol="0" anchor="ctr"/>
          <a:lstStyle/>
          <a:p>
            <a:pPr marL="0" indent="0" algn="ctr">
              <a:buNone/>
            </a:pPr>
            <a:r>
              <a:rPr lang="en-US" sz="1400" b="1" dirty="0">
                <a:solidFill>
                  <a:schemeClr val="tx2"/>
                </a:solidFill>
              </a:rPr>
              <a:t>MUI 7</a:t>
            </a:r>
            <a:endParaRPr lang="en-US" sz="1400" dirty="0"/>
          </a:p>
        </p:txBody>
      </p:sp>
      <p:sp>
        <p:nvSpPr>
          <p:cNvPr id="14" name="Chip Vite"/>
          <p:cNvSpPr/>
          <p:nvPr/>
        </p:nvSpPr>
        <p:spPr>
          <a:xfrm>
            <a:off x="5410048" y="4983480"/>
            <a:ext cx="1371600" cy="457200"/>
          </a:xfrm>
          <a:prstGeom prst="roundRect">
            <a:avLst>
              <a:gd name="adj" fmla="val 50000"/>
            </a:avLst>
          </a:prstGeom>
          <a:solidFill>
            <a:schemeClr val="bg2"/>
          </a:solidFill>
          <a:ln/>
        </p:spPr>
        <p:txBody>
          <a:bodyPr/>
          <a:lstStyle/>
          <a:p>
            <a:endParaRPr lang="en-CA"/>
          </a:p>
        </p:txBody>
      </p:sp>
      <p:sp>
        <p:nvSpPr>
          <p:cNvPr id="15" name="Text 10"/>
          <p:cNvSpPr txBox="1"/>
          <p:nvPr/>
        </p:nvSpPr>
        <p:spPr>
          <a:xfrm>
            <a:off x="5410048" y="4983480"/>
            <a:ext cx="1371600" cy="457200"/>
          </a:xfrm>
          <a:prstGeom prst="rect">
            <a:avLst/>
          </a:prstGeom>
          <a:noFill/>
          <a:ln/>
        </p:spPr>
        <p:txBody>
          <a:bodyPr wrap="square" lIns="0" tIns="0" rIns="0" bIns="0" rtlCol="0" anchor="ctr"/>
          <a:lstStyle/>
          <a:p>
            <a:pPr marL="0" indent="0" algn="ctr">
              <a:buNone/>
            </a:pPr>
            <a:r>
              <a:rPr lang="en-US" sz="1400" b="1" dirty="0">
                <a:solidFill>
                  <a:schemeClr val="tx2"/>
                </a:solidFill>
              </a:rPr>
              <a:t>Vite</a:t>
            </a:r>
            <a:endParaRPr lang="en-US" sz="1400" dirty="0"/>
          </a:p>
        </p:txBody>
      </p:sp>
      <p:sp>
        <p:nvSpPr>
          <p:cNvPr id="16" name="Chip Axios"/>
          <p:cNvSpPr/>
          <p:nvPr/>
        </p:nvSpPr>
        <p:spPr>
          <a:xfrm>
            <a:off x="7030517" y="4983480"/>
            <a:ext cx="1371600" cy="457200"/>
          </a:xfrm>
          <a:prstGeom prst="roundRect">
            <a:avLst>
              <a:gd name="adj" fmla="val 50000"/>
            </a:avLst>
          </a:prstGeom>
          <a:solidFill>
            <a:schemeClr val="bg2"/>
          </a:solidFill>
          <a:ln/>
        </p:spPr>
        <p:txBody>
          <a:bodyPr/>
          <a:lstStyle/>
          <a:p>
            <a:endParaRPr lang="en-CA"/>
          </a:p>
        </p:txBody>
      </p:sp>
      <p:sp>
        <p:nvSpPr>
          <p:cNvPr id="17" name="Text 12"/>
          <p:cNvSpPr txBox="1"/>
          <p:nvPr/>
        </p:nvSpPr>
        <p:spPr>
          <a:xfrm>
            <a:off x="7030517" y="4983480"/>
            <a:ext cx="1371600" cy="457200"/>
          </a:xfrm>
          <a:prstGeom prst="rect">
            <a:avLst/>
          </a:prstGeom>
          <a:noFill/>
          <a:ln/>
        </p:spPr>
        <p:txBody>
          <a:bodyPr wrap="square" lIns="0" tIns="0" rIns="0" bIns="0" rtlCol="0" anchor="ctr"/>
          <a:lstStyle/>
          <a:p>
            <a:pPr marL="0" indent="0" algn="ctr">
              <a:buNone/>
            </a:pPr>
            <a:r>
              <a:rPr lang="en-US" sz="1400" b="1" dirty="0">
                <a:solidFill>
                  <a:schemeClr val="tx2"/>
                </a:solidFill>
              </a:rPr>
              <a:t>Axios</a:t>
            </a:r>
            <a:endParaRPr lang="en-US" sz="1400" dirty="0"/>
          </a:p>
        </p:txBody>
      </p:sp>
      <p:sp>
        <p:nvSpPr>
          <p:cNvPr id="18" name="Chip Recharts"/>
          <p:cNvSpPr/>
          <p:nvPr/>
        </p:nvSpPr>
        <p:spPr>
          <a:xfrm>
            <a:off x="8650986" y="4983480"/>
            <a:ext cx="1371600" cy="457200"/>
          </a:xfrm>
          <a:prstGeom prst="roundRect">
            <a:avLst>
              <a:gd name="adj" fmla="val 50000"/>
            </a:avLst>
          </a:prstGeom>
          <a:solidFill>
            <a:schemeClr val="bg2"/>
          </a:solidFill>
          <a:ln/>
        </p:spPr>
        <p:txBody>
          <a:bodyPr/>
          <a:lstStyle/>
          <a:p>
            <a:endParaRPr lang="en-CA"/>
          </a:p>
        </p:txBody>
      </p:sp>
      <p:sp>
        <p:nvSpPr>
          <p:cNvPr id="19" name="Text 14"/>
          <p:cNvSpPr txBox="1"/>
          <p:nvPr/>
        </p:nvSpPr>
        <p:spPr>
          <a:xfrm>
            <a:off x="8650986" y="4983480"/>
            <a:ext cx="1371600" cy="457200"/>
          </a:xfrm>
          <a:prstGeom prst="rect">
            <a:avLst/>
          </a:prstGeom>
          <a:noFill/>
          <a:ln/>
        </p:spPr>
        <p:txBody>
          <a:bodyPr wrap="square" lIns="0" tIns="0" rIns="0" bIns="0" rtlCol="0" anchor="ctr"/>
          <a:lstStyle/>
          <a:p>
            <a:pPr marL="0" indent="0" algn="ctr">
              <a:buNone/>
            </a:pPr>
            <a:r>
              <a:rPr lang="en-US" sz="1400" b="1" dirty="0">
                <a:solidFill>
                  <a:schemeClr val="tx2"/>
                </a:solidFill>
              </a:rPr>
              <a:t>Recharts</a:t>
            </a:r>
            <a:endParaRPr lang="en-US" sz="1400" dirty="0"/>
          </a:p>
        </p:txBody>
      </p:sp>
      <p:sp>
        <p:nvSpPr>
          <p:cNvPr id="20" name="Chip WebSocket"/>
          <p:cNvSpPr/>
          <p:nvPr/>
        </p:nvSpPr>
        <p:spPr>
          <a:xfrm>
            <a:off x="10271455" y="4983480"/>
            <a:ext cx="1371600" cy="457200"/>
          </a:xfrm>
          <a:prstGeom prst="roundRect">
            <a:avLst>
              <a:gd name="adj" fmla="val 50000"/>
            </a:avLst>
          </a:prstGeom>
          <a:solidFill>
            <a:schemeClr val="bg2"/>
          </a:solidFill>
          <a:ln/>
        </p:spPr>
        <p:txBody>
          <a:bodyPr/>
          <a:lstStyle/>
          <a:p>
            <a:endParaRPr lang="en-CA"/>
          </a:p>
        </p:txBody>
      </p:sp>
      <p:sp>
        <p:nvSpPr>
          <p:cNvPr id="21" name="Text 16"/>
          <p:cNvSpPr txBox="1"/>
          <p:nvPr/>
        </p:nvSpPr>
        <p:spPr>
          <a:xfrm>
            <a:off x="10271455" y="4983480"/>
            <a:ext cx="1371600" cy="457200"/>
          </a:xfrm>
          <a:prstGeom prst="rect">
            <a:avLst/>
          </a:prstGeom>
          <a:noFill/>
          <a:ln/>
        </p:spPr>
        <p:txBody>
          <a:bodyPr wrap="square" lIns="0" tIns="0" rIns="0" bIns="0" rtlCol="0" anchor="ctr"/>
          <a:lstStyle/>
          <a:p>
            <a:pPr marL="0" indent="0" algn="ctr">
              <a:buNone/>
            </a:pPr>
            <a:r>
              <a:rPr lang="en-US" sz="1400" b="1" dirty="0">
                <a:solidFill>
                  <a:schemeClr val="tx2"/>
                </a:solidFill>
              </a:rPr>
              <a:t>WebSocket</a:t>
            </a:r>
            <a:endParaRPr lang="en-US" sz="1400" dirty="0"/>
          </a:p>
        </p:txBody>
      </p:sp>
      <p:sp>
        <p:nvSpPr>
          <p:cNvPr id="22" name="Text 17"/>
          <p:cNvSpPr txBox="1"/>
          <p:nvPr/>
        </p:nvSpPr>
        <p:spPr>
          <a:xfrm>
            <a:off x="548640" y="5669280"/>
            <a:ext cx="11094415" cy="365760"/>
          </a:xfrm>
          <a:prstGeom prst="rect">
            <a:avLst/>
          </a:prstGeom>
          <a:noFill/>
          <a:ln/>
        </p:spPr>
        <p:txBody>
          <a:bodyPr wrap="square" lIns="0" tIns="0" rIns="0" bIns="0" rtlCol="0" anchor="t"/>
          <a:lstStyle/>
          <a:p>
            <a:pPr marL="0" indent="0">
              <a:buNone/>
            </a:pPr>
            <a:r>
              <a:rPr lang="en-US" sz="1500" dirty="0">
                <a:solidFill>
                  <a:schemeClr val="tx1"/>
                </a:solidFill>
              </a:rPr>
              <a:t>Pages: dashboard, users, admins, rental hubs, inventory, orders, reports, profile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9275"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Testing And Results</a:t>
            </a:r>
            <a:endParaRPr lang="en-US" sz="3400" dirty="0"/>
          </a:p>
        </p:txBody>
      </p:sp>
      <p:sp>
        <p:nvSpPr>
          <p:cNvPr id="4" name="Text 1"/>
          <p:cNvSpPr txBox="1"/>
          <p:nvPr/>
        </p:nvSpPr>
        <p:spPr>
          <a:xfrm>
            <a:off x="548640" y="1371600"/>
            <a:ext cx="5486400" cy="274320"/>
          </a:xfrm>
          <a:prstGeom prst="rect">
            <a:avLst/>
          </a:prstGeom>
          <a:noFill/>
          <a:ln/>
        </p:spPr>
        <p:txBody>
          <a:bodyPr wrap="square" lIns="0" tIns="0" rIns="0" bIns="0" rtlCol="0" anchor="t"/>
          <a:lstStyle/>
          <a:p>
            <a:pPr marL="0" indent="0">
              <a:buNone/>
            </a:pPr>
            <a:r>
              <a:rPr lang="en-US" sz="1400" b="1" kern="0" spc="300" dirty="0">
                <a:solidFill>
                  <a:schemeClr val="accent6"/>
                </a:solidFill>
              </a:rPr>
              <a:t>INVENTORY LIFECYCLE TESTS</a:t>
            </a:r>
            <a:endParaRPr lang="en-US" sz="1400" dirty="0"/>
          </a:p>
        </p:txBody>
      </p:sp>
      <p:graphicFrame>
        <p:nvGraphicFramePr>
          <p:cNvPr id="17" name="Test table"/>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2743200"/>
        </p:xfrm>
        <a:graphic>
          <a:graphicData uri="http://schemas.openxmlformats.org/drawingml/2006/table">
            <a:tbl>
              <a:tblPr/>
              <a:tblGrid>
                <a:gridCol w="2926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48640">
                <a:tc>
                  <a:txBody>
                    <a:bodyPr/>
                    <a:lstStyle/>
                    <a:p>
                      <a:pPr marL="0" indent="0">
                        <a:buNone/>
                      </a:pPr>
                      <a:r>
                        <a:rPr lang="en-US" sz="1400" b="1" dirty="0">
                          <a:solidFill>
                            <a:srgbClr val="FFFFFF"/>
                          </a:solidFill>
                        </a:rPr>
                        <a:t>Test case</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1F3A1A"/>
                    </a:solidFill>
                  </a:tcPr>
                </a:tc>
                <a:tc>
                  <a:txBody>
                    <a:bodyPr/>
                    <a:lstStyle/>
                    <a:p>
                      <a:pPr marL="0" indent="0">
                        <a:buNone/>
                      </a:pPr>
                      <a:r>
                        <a:rPr lang="en-US" sz="1400" b="1" dirty="0">
                          <a:solidFill>
                            <a:srgbClr val="FFFFFF"/>
                          </a:solidFill>
                        </a:rPr>
                        <a:t>Outcome</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1F3A1A"/>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rgbClr val="11140F"/>
                          </a:solidFill>
                        </a:rPr>
                        <a:t>Single order, sufficient stock</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FFFFFF"/>
                    </a:solidFill>
                  </a:tcPr>
                </a:tc>
                <a:tc>
                  <a:txBody>
                    <a:bodyPr/>
                    <a:lstStyle/>
                    <a:p>
                      <a:pPr marL="0" indent="0">
                        <a:buNone/>
                      </a:pPr>
                      <a:r>
                        <a:rPr lang="en-US" sz="1400" b="1" dirty="0">
                          <a:solidFill>
                            <a:srgbClr val="416834"/>
                          </a:solidFill>
                        </a:rPr>
                        <a:t>PASS: stock reduced</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rgbClr val="11140F"/>
                          </a:solidFill>
                        </a:rPr>
                        <a:t>Single order, insufficient stock</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FFFFFF"/>
                    </a:solidFill>
                  </a:tcPr>
                </a:tc>
                <a:tc>
                  <a:txBody>
                    <a:bodyPr/>
                    <a:lstStyle/>
                    <a:p>
                      <a:pPr marL="0" indent="0">
                        <a:buNone/>
                      </a:pPr>
                      <a:r>
                        <a:rPr lang="en-US" sz="1400" b="1" dirty="0">
                          <a:solidFill>
                            <a:srgbClr val="416834"/>
                          </a:solidFill>
                        </a:rPr>
                        <a:t>PASS: error, stock unchanged</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400" dirty="0">
                          <a:solidFill>
                            <a:srgbClr val="11140F"/>
                          </a:solidFill>
                        </a:rPr>
                        <a:t>Order rejected</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FFFFFF"/>
                    </a:solidFill>
                  </a:tcPr>
                </a:tc>
                <a:tc>
                  <a:txBody>
                    <a:bodyPr/>
                    <a:lstStyle/>
                    <a:p>
                      <a:pPr marL="0" indent="0">
                        <a:buNone/>
                      </a:pPr>
                      <a:r>
                        <a:rPr lang="en-US" sz="1400" b="1" dirty="0">
                          <a:solidFill>
                            <a:srgbClr val="416834"/>
                          </a:solidFill>
                        </a:rPr>
                        <a:t>PASS: stock restored</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rgbClr val="11140F"/>
                          </a:solidFill>
                        </a:rPr>
                        <a:t>Order returned</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FFFFFF"/>
                    </a:solidFill>
                  </a:tcPr>
                </a:tc>
                <a:tc>
                  <a:txBody>
                    <a:bodyPr/>
                    <a:lstStyle/>
                    <a:p>
                      <a:pPr marL="0" indent="0">
                        <a:buNone/>
                      </a:pPr>
                      <a:r>
                        <a:rPr lang="en-US" sz="1400" b="1" dirty="0">
                          <a:solidFill>
                            <a:srgbClr val="416834"/>
                          </a:solidFill>
                        </a:rPr>
                        <a:t>PASS: stock restored</a:t>
                      </a:r>
                      <a:endParaRPr lang="en-US" sz="1400" dirty="0"/>
                    </a:p>
                  </a:txBody>
                  <a:tcPr anchor="ctr">
                    <a:lnL w="12700" cap="flat" cmpd="sng" algn="ctr">
                      <a:solidFill>
                        <a:srgbClr val="D5E6CC"/>
                      </a:solidFill>
                      <a:prstDash val="solid"/>
                      <a:round/>
                      <a:headEnd type="none" w="med" len="med"/>
                      <a:tailEnd type="none" w="med" len="med"/>
                    </a:lnL>
                    <a:lnR w="12700" cap="flat" cmpd="sng" algn="ctr">
                      <a:solidFill>
                        <a:srgbClr val="D5E6CC"/>
                      </a:solidFill>
                      <a:prstDash val="solid"/>
                      <a:round/>
                      <a:headEnd type="none" w="med" len="med"/>
                      <a:tailEnd type="none" w="med" len="med"/>
                    </a:lnR>
                    <a:lnT w="12700" cap="flat" cmpd="sng" algn="ctr">
                      <a:solidFill>
                        <a:srgbClr val="D5E6CC"/>
                      </a:solidFill>
                      <a:prstDash val="solid"/>
                      <a:round/>
                      <a:headEnd type="none" w="med" len="med"/>
                      <a:tailEnd type="none" w="med" len="med"/>
                    </a:lnT>
                    <a:lnB w="12700" cap="flat" cmpd="sng" algn="ctr">
                      <a:solidFill>
                        <a:srgbClr val="D5E6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esult card"/>
          <p:cNvSpPr/>
          <p:nvPr/>
        </p:nvSpPr>
        <p:spPr>
          <a:xfrm>
            <a:off x="548640" y="4709160"/>
            <a:ext cx="5852160" cy="1325880"/>
          </a:xfrm>
          <a:prstGeom prst="roundRect">
            <a:avLst>
              <a:gd name="adj" fmla="val 8276"/>
            </a:avLst>
          </a:prstGeom>
          <a:solidFill>
            <a:schemeClr val="tx2"/>
          </a:solidFill>
          <a:ln/>
        </p:spPr>
        <p:txBody>
          <a:bodyPr/>
          <a:lstStyle/>
          <a:p>
            <a:endParaRPr lang="en-CA"/>
          </a:p>
        </p:txBody>
      </p:sp>
      <p:sp>
        <p:nvSpPr>
          <p:cNvPr id="7" name="Text 3"/>
          <p:cNvSpPr txBox="1"/>
          <p:nvPr/>
        </p:nvSpPr>
        <p:spPr>
          <a:xfrm>
            <a:off x="822960" y="4709160"/>
            <a:ext cx="2194560" cy="1325880"/>
          </a:xfrm>
          <a:prstGeom prst="rect">
            <a:avLst/>
          </a:prstGeom>
          <a:noFill/>
          <a:ln/>
        </p:spPr>
        <p:txBody>
          <a:bodyPr wrap="square" lIns="0" tIns="0" rIns="0" bIns="0" rtlCol="0" anchor="ctr"/>
          <a:lstStyle/>
          <a:p>
            <a:pPr marL="0" indent="0">
              <a:buNone/>
            </a:pPr>
            <a:r>
              <a:rPr lang="en-US" sz="4400" b="1" dirty="0">
                <a:solidFill>
                  <a:schemeClr val="accent3"/>
                </a:solidFill>
                <a:latin typeface="Cambria" pitchFamily="34" charset="0"/>
                <a:ea typeface="Cambria" pitchFamily="34" charset="-122"/>
                <a:cs typeface="Cambria" pitchFamily="34" charset="-120"/>
              </a:rPr>
              <a:t>4 of 4</a:t>
            </a:r>
            <a:endParaRPr lang="en-US" sz="4400" dirty="0"/>
          </a:p>
        </p:txBody>
      </p:sp>
      <p:sp>
        <p:nvSpPr>
          <p:cNvPr id="8" name="Text 4"/>
          <p:cNvSpPr txBox="1"/>
          <p:nvPr/>
        </p:nvSpPr>
        <p:spPr>
          <a:xfrm>
            <a:off x="3108960" y="4709160"/>
            <a:ext cx="3017520" cy="1325880"/>
          </a:xfrm>
          <a:prstGeom prst="rect">
            <a:avLst/>
          </a:prstGeom>
          <a:noFill/>
          <a:ln/>
        </p:spPr>
        <p:txBody>
          <a:bodyPr wrap="square" lIns="0" tIns="0" rIns="0" bIns="0" rtlCol="0" anchor="ctr"/>
          <a:lstStyle/>
          <a:p>
            <a:pPr marL="0" indent="0">
              <a:buNone/>
            </a:pPr>
            <a:r>
              <a:rPr lang="en-US" sz="1600" dirty="0">
                <a:solidFill>
                  <a:schemeClr val="bg1"/>
                </a:solidFill>
              </a:rPr>
              <a:t>lifecycle cases passed in manual end-to-end testing</a:t>
            </a:r>
            <a:endParaRPr lang="en-US" sz="1600" dirty="0"/>
          </a:p>
        </p:txBody>
      </p:sp>
      <p:sp>
        <p:nvSpPr>
          <p:cNvPr id="9" name="Test card 1"/>
          <p:cNvSpPr/>
          <p:nvPr/>
        </p:nvSpPr>
        <p:spPr>
          <a:xfrm>
            <a:off x="6675120" y="1371600"/>
            <a:ext cx="4965192" cy="1463040"/>
          </a:xfrm>
          <a:prstGeom prst="roundRect">
            <a:avLst>
              <a:gd name="adj" fmla="val 7500"/>
            </a:avLst>
          </a:prstGeom>
          <a:solidFill>
            <a:schemeClr val="bg2"/>
          </a:solidFill>
          <a:ln/>
        </p:spPr>
        <p:txBody>
          <a:bodyPr/>
          <a:lstStyle/>
          <a:p>
            <a:endParaRPr lang="en-CA"/>
          </a:p>
        </p:txBody>
      </p:sp>
      <p:sp>
        <p:nvSpPr>
          <p:cNvPr id="10" name="Test icon 1 circle"/>
          <p:cNvSpPr/>
          <p:nvPr/>
        </p:nvSpPr>
        <p:spPr>
          <a:xfrm>
            <a:off x="6903720" y="1755648"/>
            <a:ext cx="685800" cy="685800"/>
          </a:xfrm>
          <a:prstGeom prst="ellipse">
            <a:avLst/>
          </a:prstGeom>
          <a:solidFill>
            <a:srgbClr val="416834"/>
          </a:solidFill>
          <a:ln/>
        </p:spPr>
        <p:txBody>
          <a:bodyPr/>
          <a:lstStyle/>
          <a:p>
            <a:endParaRPr lang="en-CA"/>
          </a:p>
        </p:txBody>
      </p:sp>
      <p:pic>
        <p:nvPicPr>
          <p:cNvPr id="11" name="Test icon 1" descr="Test icon 1"/>
          <p:cNvPicPr>
            <a:picLocks noChangeAspect="1"/>
          </p:cNvPicPr>
          <p:nvPr/>
        </p:nvPicPr>
        <p:blipFill>
          <a:blip r:embed="rId3"/>
          <a:stretch>
            <a:fillRect/>
          </a:stretch>
        </p:blipFill>
        <p:spPr>
          <a:xfrm>
            <a:off x="7075170" y="1927098"/>
            <a:ext cx="342900" cy="342900"/>
          </a:xfrm>
          <a:prstGeom prst="rect">
            <a:avLst/>
          </a:prstGeom>
        </p:spPr>
      </p:pic>
      <p:sp>
        <p:nvSpPr>
          <p:cNvPr id="12" name="Text 7"/>
          <p:cNvSpPr txBox="1"/>
          <p:nvPr/>
        </p:nvSpPr>
        <p:spPr>
          <a:xfrm>
            <a:off x="7772400" y="1481328"/>
            <a:ext cx="3657600" cy="1243584"/>
          </a:xfrm>
          <a:prstGeom prst="rect">
            <a:avLst/>
          </a:prstGeom>
          <a:noFill/>
          <a:ln/>
        </p:spPr>
        <p:txBody>
          <a:bodyPr wrap="square" lIns="0" tIns="0" rIns="0" bIns="0" rtlCol="0" anchor="ctr"/>
          <a:lstStyle/>
          <a:p>
            <a:pPr marL="0" indent="0">
              <a:buNone/>
            </a:pPr>
            <a:r>
              <a:rPr lang="en-US" sz="1700" b="1" dirty="0">
                <a:solidFill>
                  <a:schemeClr val="tx2"/>
                </a:solidFill>
              </a:rPr>
              <a:t>Shake to refresh</a:t>
            </a:r>
            <a:endParaRPr lang="en-US" sz="1700" dirty="0"/>
          </a:p>
          <a:p>
            <a:pPr marL="0" indent="0">
              <a:buNone/>
            </a:pPr>
            <a:r>
              <a:rPr lang="en-US" sz="1400" dirty="0">
                <a:solidFill>
                  <a:schemeClr val="tx1"/>
                </a:solidFill>
              </a:rPr>
              <a:t>Tested on a physical device: a shake over the threshold reloads the catalog.</a:t>
            </a:r>
            <a:endParaRPr lang="en-US" sz="1700" dirty="0"/>
          </a:p>
        </p:txBody>
      </p:sp>
      <p:sp>
        <p:nvSpPr>
          <p:cNvPr id="13" name="Test card 2"/>
          <p:cNvSpPr/>
          <p:nvPr/>
        </p:nvSpPr>
        <p:spPr>
          <a:xfrm>
            <a:off x="6675120" y="2971800"/>
            <a:ext cx="4965192" cy="1463040"/>
          </a:xfrm>
          <a:prstGeom prst="roundRect">
            <a:avLst>
              <a:gd name="adj" fmla="val 7500"/>
            </a:avLst>
          </a:prstGeom>
          <a:solidFill>
            <a:schemeClr val="bg2"/>
          </a:solidFill>
          <a:ln/>
        </p:spPr>
        <p:txBody>
          <a:bodyPr/>
          <a:lstStyle/>
          <a:p>
            <a:endParaRPr lang="en-CA"/>
          </a:p>
        </p:txBody>
      </p:sp>
      <p:sp>
        <p:nvSpPr>
          <p:cNvPr id="14" name="Test icon 2 circle"/>
          <p:cNvSpPr/>
          <p:nvPr/>
        </p:nvSpPr>
        <p:spPr>
          <a:xfrm>
            <a:off x="6903720" y="3355848"/>
            <a:ext cx="685800" cy="685800"/>
          </a:xfrm>
          <a:prstGeom prst="ellipse">
            <a:avLst/>
          </a:prstGeom>
          <a:solidFill>
            <a:srgbClr val="416834"/>
          </a:solidFill>
          <a:ln/>
        </p:spPr>
        <p:txBody>
          <a:bodyPr/>
          <a:lstStyle/>
          <a:p>
            <a:endParaRPr lang="en-CA"/>
          </a:p>
        </p:txBody>
      </p:sp>
      <p:pic>
        <p:nvPicPr>
          <p:cNvPr id="15" name="Test icon 2" descr="Test icon 2"/>
          <p:cNvPicPr>
            <a:picLocks noChangeAspect="1"/>
          </p:cNvPicPr>
          <p:nvPr/>
        </p:nvPicPr>
        <p:blipFill>
          <a:blip r:embed="rId4"/>
          <a:stretch>
            <a:fillRect/>
          </a:stretch>
        </p:blipFill>
        <p:spPr>
          <a:xfrm>
            <a:off x="7075170" y="3527298"/>
            <a:ext cx="342900" cy="342900"/>
          </a:xfrm>
          <a:prstGeom prst="rect">
            <a:avLst/>
          </a:prstGeom>
        </p:spPr>
      </p:pic>
      <p:sp>
        <p:nvSpPr>
          <p:cNvPr id="16" name="Text 10"/>
          <p:cNvSpPr txBox="1"/>
          <p:nvPr/>
        </p:nvSpPr>
        <p:spPr>
          <a:xfrm>
            <a:off x="7772400" y="3081528"/>
            <a:ext cx="3657600" cy="1243584"/>
          </a:xfrm>
          <a:prstGeom prst="rect">
            <a:avLst/>
          </a:prstGeom>
          <a:noFill/>
          <a:ln/>
        </p:spPr>
        <p:txBody>
          <a:bodyPr wrap="square" lIns="0" tIns="0" rIns="0" bIns="0" rtlCol="0" anchor="ctr"/>
          <a:lstStyle/>
          <a:p>
            <a:pPr marL="0" indent="0">
              <a:buNone/>
            </a:pPr>
            <a:r>
              <a:rPr lang="en-US" sz="1700" b="1" dirty="0">
                <a:solidFill>
                  <a:schemeClr val="tx2"/>
                </a:solidFill>
              </a:rPr>
              <a:t>Biometric checkout</a:t>
            </a:r>
            <a:endParaRPr lang="en-US" sz="1700" dirty="0"/>
          </a:p>
          <a:p>
            <a:pPr marL="0" indent="0">
              <a:buNone/>
            </a:pPr>
            <a:r>
              <a:rPr lang="en-US" sz="1400" dirty="0">
                <a:solidFill>
                  <a:schemeClr val="tx1"/>
                </a:solidFill>
              </a:rPr>
              <a:t>Valid fingerprint continues; wrong fingerprint and cancel are both handled.</a:t>
            </a:r>
            <a:endParaRPr lang="en-US" sz="1700" dirty="0"/>
          </a:p>
        </p:txBody>
      </p:sp>
      <p:sp>
        <p:nvSpPr>
          <p:cNvPr id="3" name="Test card 3"/>
          <p:cNvSpPr/>
          <p:nvPr/>
        </p:nvSpPr>
        <p:spPr>
          <a:xfrm>
            <a:off x="6675120" y="4572000"/>
            <a:ext cx="4965192" cy="1463040"/>
          </a:xfrm>
          <a:prstGeom prst="roundRect">
            <a:avLst>
              <a:gd name="adj" fmla="val 7500"/>
            </a:avLst>
          </a:prstGeom>
          <a:solidFill>
            <a:schemeClr val="bg2"/>
          </a:solidFill>
          <a:ln/>
        </p:spPr>
        <p:txBody>
          <a:bodyPr/>
          <a:lstStyle/>
          <a:p>
            <a:endParaRPr lang="en-CA"/>
          </a:p>
        </p:txBody>
      </p:sp>
      <p:sp>
        <p:nvSpPr>
          <p:cNvPr id="18" name="Test icon 3 circle"/>
          <p:cNvSpPr/>
          <p:nvPr/>
        </p:nvSpPr>
        <p:spPr>
          <a:xfrm>
            <a:off x="6903720" y="4956048"/>
            <a:ext cx="685800" cy="685800"/>
          </a:xfrm>
          <a:prstGeom prst="ellipse">
            <a:avLst/>
          </a:prstGeom>
          <a:solidFill>
            <a:srgbClr val="416834"/>
          </a:solidFill>
          <a:ln/>
        </p:spPr>
        <p:txBody>
          <a:bodyPr/>
          <a:lstStyle/>
          <a:p>
            <a:endParaRPr lang="en-CA"/>
          </a:p>
        </p:txBody>
      </p:sp>
      <p:pic>
        <p:nvPicPr>
          <p:cNvPr id="19" name="Test icon 3" descr="Test icon 3"/>
          <p:cNvPicPr>
            <a:picLocks noChangeAspect="1"/>
          </p:cNvPicPr>
          <p:nvPr/>
        </p:nvPicPr>
        <p:blipFill>
          <a:blip r:embed="rId5"/>
          <a:stretch>
            <a:fillRect/>
          </a:stretch>
        </p:blipFill>
        <p:spPr>
          <a:xfrm>
            <a:off x="7075170" y="5127498"/>
            <a:ext cx="342900" cy="342900"/>
          </a:xfrm>
          <a:prstGeom prst="rect">
            <a:avLst/>
          </a:prstGeom>
        </p:spPr>
      </p:pic>
      <p:sp>
        <p:nvSpPr>
          <p:cNvPr id="20" name="Text 13"/>
          <p:cNvSpPr txBox="1"/>
          <p:nvPr/>
        </p:nvSpPr>
        <p:spPr>
          <a:xfrm>
            <a:off x="7772400" y="4681728"/>
            <a:ext cx="3657600" cy="1243584"/>
          </a:xfrm>
          <a:prstGeom prst="rect">
            <a:avLst/>
          </a:prstGeom>
          <a:noFill/>
          <a:ln/>
        </p:spPr>
        <p:txBody>
          <a:bodyPr wrap="square" lIns="0" tIns="0" rIns="0" bIns="0" rtlCol="0" anchor="ctr"/>
          <a:lstStyle/>
          <a:p>
            <a:pPr marL="0" indent="0">
              <a:buNone/>
            </a:pPr>
            <a:r>
              <a:rPr lang="en-US" sz="1700" b="1" dirty="0">
                <a:solidFill>
                  <a:schemeClr val="tx2"/>
                </a:solidFill>
              </a:rPr>
              <a:t>Real-time update</a:t>
            </a:r>
            <a:endParaRPr lang="en-US" sz="1700" dirty="0"/>
          </a:p>
          <a:p>
            <a:pPr marL="0" indent="0">
              <a:buNone/>
            </a:pPr>
            <a:r>
              <a:rPr lang="en-US" sz="1400" dirty="0">
                <a:solidFill>
                  <a:schemeClr val="tx1"/>
                </a:solidFill>
              </a:rPr>
              <a:t>Dashboard stock row changed about 1 to 2 seconds after a phone checkout.</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4294967295" hasCustomPrompt="1"/>
          </p:nvPr>
        </p:nvSpPr>
        <p:spPr>
          <a:xfrm>
            <a:off x="546862" y="384175"/>
            <a:ext cx="11093450" cy="731838"/>
          </a:xfrm>
          <a:prstGeom prst="rect">
            <a:avLst/>
          </a:prstGeom>
          <a:noFill/>
          <a:ln/>
        </p:spPr>
        <p:txBody>
          <a:bodyPr wrap="square" lIns="0" tIns="0" rIns="0" bIns="0" rtlCol="0" anchor="ctr"/>
          <a:lstStyle/>
          <a:p>
            <a:pPr marL="0" indent="0" algn="l">
              <a:buNone/>
            </a:pPr>
            <a:r>
              <a:rPr lang="en-US" sz="3400" b="1" dirty="0">
                <a:solidFill>
                  <a:schemeClr val="tx2"/>
                </a:solidFill>
              </a:rPr>
              <a:t>Limitations And Next Steps</a:t>
            </a:r>
            <a:endParaRPr lang="en-US" sz="3400" dirty="0"/>
          </a:p>
        </p:txBody>
      </p:sp>
      <p:sp>
        <p:nvSpPr>
          <p:cNvPr id="4" name="Improvements card"/>
          <p:cNvSpPr/>
          <p:nvPr/>
        </p:nvSpPr>
        <p:spPr>
          <a:xfrm>
            <a:off x="548640" y="1417320"/>
            <a:ext cx="6766560" cy="4663440"/>
          </a:xfrm>
          <a:prstGeom prst="roundRect">
            <a:avLst>
              <a:gd name="adj" fmla="val 2353"/>
            </a:avLst>
          </a:prstGeom>
          <a:solidFill>
            <a:schemeClr val="bg2"/>
          </a:solidFill>
          <a:ln/>
        </p:spPr>
        <p:txBody>
          <a:bodyPr/>
          <a:lstStyle/>
          <a:p>
            <a:endParaRPr lang="en-CA"/>
          </a:p>
        </p:txBody>
      </p:sp>
      <p:sp>
        <p:nvSpPr>
          <p:cNvPr id="5" name="Improvements icon circle"/>
          <p:cNvSpPr/>
          <p:nvPr/>
        </p:nvSpPr>
        <p:spPr>
          <a:xfrm>
            <a:off x="868680" y="1645920"/>
            <a:ext cx="640080" cy="640080"/>
          </a:xfrm>
          <a:prstGeom prst="ellipse">
            <a:avLst/>
          </a:prstGeom>
          <a:solidFill>
            <a:srgbClr val="416834"/>
          </a:solidFill>
          <a:ln/>
        </p:spPr>
        <p:txBody>
          <a:bodyPr/>
          <a:lstStyle/>
          <a:p>
            <a:endParaRPr lang="en-CA"/>
          </a:p>
        </p:txBody>
      </p:sp>
      <p:pic>
        <p:nvPicPr>
          <p:cNvPr id="6" name="Improvements icon" descr="Improvements icon"/>
          <p:cNvPicPr>
            <a:picLocks noChangeAspect="1"/>
          </p:cNvPicPr>
          <p:nvPr/>
        </p:nvPicPr>
        <p:blipFill>
          <a:blip r:embed="rId3"/>
          <a:stretch>
            <a:fillRect/>
          </a:stretch>
        </p:blipFill>
        <p:spPr>
          <a:xfrm>
            <a:off x="1028700" y="1805940"/>
            <a:ext cx="320040" cy="320040"/>
          </a:xfrm>
          <a:prstGeom prst="rect">
            <a:avLst/>
          </a:prstGeom>
        </p:spPr>
      </p:pic>
      <p:sp>
        <p:nvSpPr>
          <p:cNvPr id="7" name="Text 3"/>
          <p:cNvSpPr txBox="1"/>
          <p:nvPr/>
        </p:nvSpPr>
        <p:spPr>
          <a:xfrm>
            <a:off x="1737360" y="1645920"/>
            <a:ext cx="5120640" cy="640080"/>
          </a:xfrm>
          <a:prstGeom prst="rect">
            <a:avLst/>
          </a:prstGeom>
          <a:noFill/>
          <a:ln/>
        </p:spPr>
        <p:txBody>
          <a:bodyPr wrap="square" lIns="0" tIns="0" rIns="0" bIns="0" rtlCol="0" anchor="ctr"/>
          <a:lstStyle/>
          <a:p>
            <a:pPr marL="0" indent="0">
              <a:buNone/>
            </a:pPr>
            <a:r>
              <a:rPr lang="en-US" sz="2200" b="1" dirty="0">
                <a:solidFill>
                  <a:schemeClr val="tx2"/>
                </a:solidFill>
              </a:rPr>
              <a:t>Planned app improvements</a:t>
            </a:r>
            <a:endParaRPr lang="en-US" sz="2200" dirty="0"/>
          </a:p>
        </p:txBody>
      </p:sp>
      <p:sp>
        <p:nvSpPr>
          <p:cNvPr id="8" name="Text 4"/>
          <p:cNvSpPr txBox="1"/>
          <p:nvPr/>
        </p:nvSpPr>
        <p:spPr>
          <a:xfrm>
            <a:off x="914400" y="2606040"/>
            <a:ext cx="6035040" cy="3383280"/>
          </a:xfrm>
          <a:prstGeom prst="rect">
            <a:avLst/>
          </a:prstGeom>
          <a:noFill/>
          <a:ln/>
        </p:spPr>
        <p:txBody>
          <a:bodyPr wrap="square" lIns="0" tIns="0" rIns="0" bIns="0" rtlCol="0" anchor="t"/>
          <a:lstStyle/>
          <a:p>
            <a:pPr marL="177800" indent="-177800">
              <a:spcAft>
                <a:spcPts val="1000"/>
              </a:spcAft>
              <a:buSzPct val="100000"/>
              <a:buChar char="•"/>
            </a:pPr>
            <a:r>
              <a:rPr lang="en-US" sz="1700" dirty="0">
                <a:solidFill>
                  <a:schemeClr val="tx1"/>
                </a:solidFill>
              </a:rPr>
              <a:t>Email sending and chat option</a:t>
            </a:r>
          </a:p>
          <a:p>
            <a:pPr marL="177800" indent="-177800">
              <a:spcAft>
                <a:spcPts val="1000"/>
              </a:spcAft>
              <a:buSzPct val="100000"/>
              <a:buChar char="•"/>
            </a:pPr>
            <a:r>
              <a:rPr lang="en-US" sz="1700" dirty="0">
                <a:solidFill>
                  <a:schemeClr val="tx1"/>
                </a:solidFill>
              </a:rPr>
              <a:t>In-app route polylines with the Directions API</a:t>
            </a:r>
            <a:endParaRPr lang="en-US" sz="1700" dirty="0"/>
          </a:p>
          <a:p>
            <a:pPr marL="177800" indent="-177800">
              <a:spcAft>
                <a:spcPts val="1000"/>
              </a:spcAft>
              <a:buSzPct val="100000"/>
              <a:buChar char="•"/>
            </a:pPr>
            <a:r>
              <a:rPr lang="en-US" sz="1700" dirty="0">
                <a:solidFill>
                  <a:schemeClr val="tx1"/>
                </a:solidFill>
              </a:rPr>
              <a:t>Spending charts in the mobile app</a:t>
            </a:r>
            <a:endParaRPr lang="en-US" sz="1700" dirty="0"/>
          </a:p>
          <a:p>
            <a:pPr marL="177800" indent="-177800">
              <a:spcAft>
                <a:spcPts val="1000"/>
              </a:spcAft>
              <a:buSzPct val="100000"/>
              <a:buChar char="•"/>
            </a:pPr>
            <a:r>
              <a:rPr lang="en-US" sz="1700" dirty="0">
                <a:solidFill>
                  <a:schemeClr val="tx1"/>
                </a:solidFill>
              </a:rPr>
              <a:t>In-app CameraX preview and video capture</a:t>
            </a:r>
            <a:endParaRPr lang="en-US" sz="1700" dirty="0"/>
          </a:p>
          <a:p>
            <a:pPr marL="177800" indent="-177800">
              <a:spcAft>
                <a:spcPts val="1000"/>
              </a:spcAft>
              <a:buSzPct val="100000"/>
              <a:buChar char="•"/>
            </a:pPr>
            <a:r>
              <a:rPr lang="en-US" sz="1700" dirty="0">
                <a:solidFill>
                  <a:schemeClr val="tx1"/>
                </a:solidFill>
              </a:rPr>
              <a:t>Long-press and swipe gestures in the cart</a:t>
            </a:r>
          </a:p>
          <a:p>
            <a:pPr marL="177800" indent="-177800">
              <a:spcAft>
                <a:spcPts val="1000"/>
              </a:spcAft>
              <a:buSzPct val="100000"/>
              <a:buChar char="•"/>
            </a:pPr>
            <a:r>
              <a:rPr lang="en-US" sz="1700" dirty="0">
                <a:solidFill>
                  <a:schemeClr val="tx1"/>
                </a:solidFill>
              </a:rPr>
              <a:t>ViewModel, landscape layouts and automated tests</a:t>
            </a:r>
            <a:endParaRPr lang="en-US" sz="1700" dirty="0"/>
          </a:p>
        </p:txBody>
      </p:sp>
      <p:sp>
        <p:nvSpPr>
          <p:cNvPr id="9" name="Text 5"/>
          <p:cNvSpPr txBox="1"/>
          <p:nvPr/>
        </p:nvSpPr>
        <p:spPr>
          <a:xfrm>
            <a:off x="7635240" y="1417320"/>
            <a:ext cx="4023360" cy="274320"/>
          </a:xfrm>
          <a:prstGeom prst="rect">
            <a:avLst/>
          </a:prstGeom>
          <a:noFill/>
          <a:ln/>
        </p:spPr>
        <p:txBody>
          <a:bodyPr wrap="square" lIns="0" tIns="0" rIns="0" bIns="0" rtlCol="0" anchor="t"/>
          <a:lstStyle/>
          <a:p>
            <a:pPr marL="0" indent="0">
              <a:buNone/>
            </a:pPr>
            <a:r>
              <a:rPr lang="en-US" sz="1400" b="1" kern="0" spc="200" dirty="0">
                <a:solidFill>
                  <a:schemeClr val="accent6"/>
                </a:solidFill>
              </a:rPr>
              <a:t>Future Implementation Goals</a:t>
            </a:r>
            <a:endParaRPr lang="en-US" sz="1400" dirty="0"/>
          </a:p>
        </p:txBody>
      </p:sp>
      <p:sp>
        <p:nvSpPr>
          <p:cNvPr id="10" name="Roadmap card 1"/>
          <p:cNvSpPr/>
          <p:nvPr/>
        </p:nvSpPr>
        <p:spPr>
          <a:xfrm>
            <a:off x="7635240" y="1874520"/>
            <a:ext cx="4005072" cy="1280160"/>
          </a:xfrm>
          <a:prstGeom prst="roundRect">
            <a:avLst>
              <a:gd name="adj" fmla="val 8571"/>
            </a:avLst>
          </a:prstGeom>
          <a:solidFill>
            <a:schemeClr val="tx2"/>
          </a:solidFill>
          <a:ln/>
        </p:spPr>
        <p:txBody>
          <a:bodyPr/>
          <a:lstStyle/>
          <a:p>
            <a:endParaRPr lang="en-CA"/>
          </a:p>
        </p:txBody>
      </p:sp>
      <p:sp>
        <p:nvSpPr>
          <p:cNvPr id="11" name="Roadmap icon 1 circle"/>
          <p:cNvSpPr/>
          <p:nvPr/>
        </p:nvSpPr>
        <p:spPr>
          <a:xfrm>
            <a:off x="7863840" y="2148840"/>
            <a:ext cx="731520" cy="731520"/>
          </a:xfrm>
          <a:prstGeom prst="ellipse">
            <a:avLst/>
          </a:prstGeom>
          <a:solidFill>
            <a:srgbClr val="C4EFB0"/>
          </a:solidFill>
          <a:ln/>
        </p:spPr>
        <p:txBody>
          <a:bodyPr/>
          <a:lstStyle/>
          <a:p>
            <a:endParaRPr lang="en-CA"/>
          </a:p>
        </p:txBody>
      </p:sp>
      <p:pic>
        <p:nvPicPr>
          <p:cNvPr id="12" name="Roadmap icon 1" descr="Roadmap icon 1"/>
          <p:cNvPicPr>
            <a:picLocks noChangeAspect="1"/>
          </p:cNvPicPr>
          <p:nvPr/>
        </p:nvPicPr>
        <p:blipFill>
          <a:blip r:embed="rId4"/>
          <a:stretch>
            <a:fillRect/>
          </a:stretch>
        </p:blipFill>
        <p:spPr>
          <a:xfrm>
            <a:off x="8046720" y="2331720"/>
            <a:ext cx="365760" cy="365760"/>
          </a:xfrm>
          <a:prstGeom prst="rect">
            <a:avLst/>
          </a:prstGeom>
        </p:spPr>
      </p:pic>
      <p:sp>
        <p:nvSpPr>
          <p:cNvPr id="13" name="Text 8"/>
          <p:cNvSpPr txBox="1"/>
          <p:nvPr/>
        </p:nvSpPr>
        <p:spPr>
          <a:xfrm>
            <a:off x="8778240" y="1965960"/>
            <a:ext cx="2743200" cy="1097280"/>
          </a:xfrm>
          <a:prstGeom prst="rect">
            <a:avLst/>
          </a:prstGeom>
          <a:noFill/>
          <a:ln/>
        </p:spPr>
        <p:txBody>
          <a:bodyPr wrap="square" lIns="0" tIns="0" rIns="0" bIns="0" rtlCol="0" anchor="ctr"/>
          <a:lstStyle/>
          <a:p>
            <a:pPr marL="0" indent="0">
              <a:buNone/>
            </a:pPr>
            <a:r>
              <a:rPr lang="en-US" sz="1700" b="1" dirty="0">
                <a:solidFill>
                  <a:schemeClr val="bg1"/>
                </a:solidFill>
              </a:rPr>
              <a:t>AI-assisted inventory</a:t>
            </a:r>
            <a:endParaRPr lang="en-US" sz="1700" dirty="0"/>
          </a:p>
          <a:p>
            <a:pPr marL="0" indent="0">
              <a:buNone/>
            </a:pPr>
            <a:r>
              <a:rPr lang="en-US" sz="1400" dirty="0">
                <a:solidFill>
                  <a:schemeClr val="accent3"/>
                </a:solidFill>
              </a:rPr>
              <a:t>Predict demand and plan stock per hub</a:t>
            </a:r>
            <a:endParaRPr lang="en-US" sz="1700" dirty="0"/>
          </a:p>
        </p:txBody>
      </p:sp>
      <p:sp>
        <p:nvSpPr>
          <p:cNvPr id="14" name="Roadmap card 2"/>
          <p:cNvSpPr/>
          <p:nvPr/>
        </p:nvSpPr>
        <p:spPr>
          <a:xfrm>
            <a:off x="7635240" y="3291840"/>
            <a:ext cx="4005072" cy="1280160"/>
          </a:xfrm>
          <a:prstGeom prst="roundRect">
            <a:avLst>
              <a:gd name="adj" fmla="val 8571"/>
            </a:avLst>
          </a:prstGeom>
          <a:solidFill>
            <a:schemeClr val="tx2"/>
          </a:solidFill>
          <a:ln/>
        </p:spPr>
        <p:txBody>
          <a:bodyPr/>
          <a:lstStyle/>
          <a:p>
            <a:endParaRPr lang="en-CA"/>
          </a:p>
        </p:txBody>
      </p:sp>
      <p:sp>
        <p:nvSpPr>
          <p:cNvPr id="15" name="Roadmap icon 2 circle"/>
          <p:cNvSpPr/>
          <p:nvPr/>
        </p:nvSpPr>
        <p:spPr>
          <a:xfrm>
            <a:off x="7863840" y="3566160"/>
            <a:ext cx="731520" cy="731520"/>
          </a:xfrm>
          <a:prstGeom prst="ellipse">
            <a:avLst/>
          </a:prstGeom>
          <a:solidFill>
            <a:srgbClr val="C4EFB0"/>
          </a:solidFill>
          <a:ln/>
        </p:spPr>
        <p:txBody>
          <a:bodyPr/>
          <a:lstStyle/>
          <a:p>
            <a:endParaRPr lang="en-CA"/>
          </a:p>
        </p:txBody>
      </p:sp>
      <p:pic>
        <p:nvPicPr>
          <p:cNvPr id="16" name="Roadmap icon 2" descr="Roadmap icon 2"/>
          <p:cNvPicPr>
            <a:picLocks noChangeAspect="1"/>
          </p:cNvPicPr>
          <p:nvPr/>
        </p:nvPicPr>
        <p:blipFill>
          <a:blip r:embed="rId5"/>
          <a:stretch>
            <a:fillRect/>
          </a:stretch>
        </p:blipFill>
        <p:spPr>
          <a:xfrm>
            <a:off x="8046720" y="3749040"/>
            <a:ext cx="365760" cy="365760"/>
          </a:xfrm>
          <a:prstGeom prst="rect">
            <a:avLst/>
          </a:prstGeom>
        </p:spPr>
      </p:pic>
      <p:sp>
        <p:nvSpPr>
          <p:cNvPr id="17" name="Text 11"/>
          <p:cNvSpPr txBox="1"/>
          <p:nvPr/>
        </p:nvSpPr>
        <p:spPr>
          <a:xfrm>
            <a:off x="8778240" y="3383280"/>
            <a:ext cx="2743200" cy="1097280"/>
          </a:xfrm>
          <a:prstGeom prst="rect">
            <a:avLst/>
          </a:prstGeom>
          <a:noFill/>
          <a:ln/>
        </p:spPr>
        <p:txBody>
          <a:bodyPr wrap="square" lIns="0" tIns="0" rIns="0" bIns="0" rtlCol="0" anchor="ctr"/>
          <a:lstStyle/>
          <a:p>
            <a:pPr marL="0" indent="0">
              <a:buNone/>
            </a:pPr>
            <a:r>
              <a:rPr lang="en-US" sz="1700" b="1" dirty="0">
                <a:solidFill>
                  <a:schemeClr val="bg1"/>
                </a:solidFill>
              </a:rPr>
              <a:t>Multi-tenant hubs</a:t>
            </a:r>
            <a:endParaRPr lang="en-US" sz="1700" dirty="0"/>
          </a:p>
          <a:p>
            <a:pPr marL="0" indent="0">
              <a:buNone/>
            </a:pPr>
            <a:r>
              <a:rPr lang="en-US" sz="1400" dirty="0">
                <a:solidFill>
                  <a:schemeClr val="accent3"/>
                </a:solidFill>
              </a:rPr>
              <a:t>Separate operators on one platform</a:t>
            </a:r>
            <a:endParaRPr lang="en-US" sz="1700" dirty="0"/>
          </a:p>
        </p:txBody>
      </p:sp>
      <p:sp>
        <p:nvSpPr>
          <p:cNvPr id="18" name="Roadmap card 3"/>
          <p:cNvSpPr/>
          <p:nvPr/>
        </p:nvSpPr>
        <p:spPr>
          <a:xfrm>
            <a:off x="7635240" y="4709160"/>
            <a:ext cx="4005072" cy="1280160"/>
          </a:xfrm>
          <a:prstGeom prst="roundRect">
            <a:avLst>
              <a:gd name="adj" fmla="val 8571"/>
            </a:avLst>
          </a:prstGeom>
          <a:solidFill>
            <a:schemeClr val="tx2"/>
          </a:solidFill>
          <a:ln/>
        </p:spPr>
        <p:txBody>
          <a:bodyPr/>
          <a:lstStyle/>
          <a:p>
            <a:endParaRPr lang="en-CA"/>
          </a:p>
        </p:txBody>
      </p:sp>
      <p:sp>
        <p:nvSpPr>
          <p:cNvPr id="19" name="Roadmap icon 3 circle"/>
          <p:cNvSpPr/>
          <p:nvPr/>
        </p:nvSpPr>
        <p:spPr>
          <a:xfrm>
            <a:off x="7863840" y="4983480"/>
            <a:ext cx="731520" cy="731520"/>
          </a:xfrm>
          <a:prstGeom prst="ellipse">
            <a:avLst/>
          </a:prstGeom>
          <a:solidFill>
            <a:srgbClr val="C4EFB0"/>
          </a:solidFill>
          <a:ln/>
        </p:spPr>
        <p:txBody>
          <a:bodyPr/>
          <a:lstStyle/>
          <a:p>
            <a:endParaRPr lang="en-CA"/>
          </a:p>
        </p:txBody>
      </p:sp>
      <p:pic>
        <p:nvPicPr>
          <p:cNvPr id="20" name="Roadmap icon 3" descr="Roadmap icon 3"/>
          <p:cNvPicPr>
            <a:picLocks noChangeAspect="1"/>
          </p:cNvPicPr>
          <p:nvPr/>
        </p:nvPicPr>
        <p:blipFill>
          <a:blip r:embed="rId6"/>
          <a:stretch>
            <a:fillRect/>
          </a:stretch>
        </p:blipFill>
        <p:spPr>
          <a:xfrm>
            <a:off x="8046720" y="5166360"/>
            <a:ext cx="365760" cy="365760"/>
          </a:xfrm>
          <a:prstGeom prst="rect">
            <a:avLst/>
          </a:prstGeom>
        </p:spPr>
      </p:pic>
      <p:sp>
        <p:nvSpPr>
          <p:cNvPr id="21" name="Text 14"/>
          <p:cNvSpPr txBox="1"/>
          <p:nvPr/>
        </p:nvSpPr>
        <p:spPr>
          <a:xfrm>
            <a:off x="8778240" y="4800600"/>
            <a:ext cx="2743200" cy="1097280"/>
          </a:xfrm>
          <a:prstGeom prst="rect">
            <a:avLst/>
          </a:prstGeom>
          <a:noFill/>
          <a:ln/>
        </p:spPr>
        <p:txBody>
          <a:bodyPr wrap="square" lIns="0" tIns="0" rIns="0" bIns="0" rtlCol="0" anchor="ctr"/>
          <a:lstStyle/>
          <a:p>
            <a:pPr marL="0" indent="0">
              <a:buNone/>
            </a:pPr>
            <a:r>
              <a:rPr lang="en-US" sz="1700" b="1" dirty="0">
                <a:solidFill>
                  <a:schemeClr val="bg1"/>
                </a:solidFill>
              </a:rPr>
              <a:t>Cross-platform client</a:t>
            </a:r>
            <a:endParaRPr lang="en-US" sz="1700" dirty="0"/>
          </a:p>
          <a:p>
            <a:pPr marL="0" indent="0">
              <a:buNone/>
            </a:pPr>
            <a:r>
              <a:rPr lang="en-US" sz="1400" dirty="0">
                <a:solidFill>
                  <a:schemeClr val="accent3"/>
                </a:solidFill>
              </a:rPr>
              <a:t>Reach iOS users from one codebase</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Logo" descr="EcoTrekk logo"/>
          <p:cNvPicPr>
            <a:picLocks noChangeAspect="1"/>
          </p:cNvPicPr>
          <p:nvPr/>
        </p:nvPicPr>
        <p:blipFill>
          <a:blip r:embed="rId3"/>
          <a:stretch>
            <a:fillRect/>
          </a:stretch>
        </p:blipFill>
        <p:spPr>
          <a:xfrm>
            <a:off x="731520" y="1463040"/>
            <a:ext cx="4572000" cy="979170"/>
          </a:xfrm>
          <a:prstGeom prst="rect">
            <a:avLst/>
          </a:prstGeom>
        </p:spPr>
      </p:pic>
      <p:sp>
        <p:nvSpPr>
          <p:cNvPr id="3" name="Text 0"/>
          <p:cNvSpPr txBox="1"/>
          <p:nvPr/>
        </p:nvSpPr>
        <p:spPr>
          <a:xfrm>
            <a:off x="731520" y="3074126"/>
            <a:ext cx="5943600" cy="1097280"/>
          </a:xfrm>
          <a:prstGeom prst="rect">
            <a:avLst/>
          </a:prstGeom>
          <a:noFill/>
          <a:ln/>
        </p:spPr>
        <p:txBody>
          <a:bodyPr wrap="square" lIns="0" tIns="0" rIns="0" bIns="0" rtlCol="0" anchor="ctr"/>
          <a:lstStyle/>
          <a:p>
            <a:pPr marL="0" indent="0">
              <a:buNone/>
            </a:pPr>
            <a:r>
              <a:rPr lang="en-US" sz="5400" b="1" dirty="0">
                <a:solidFill>
                  <a:schemeClr val="accent3">
                    <a:lumMod val="90000"/>
                  </a:schemeClr>
                </a:solidFill>
                <a:latin typeface="Cambria" pitchFamily="34" charset="0"/>
                <a:ea typeface="Cambria" pitchFamily="34" charset="-122"/>
                <a:cs typeface="Cambria" pitchFamily="34" charset="-120"/>
              </a:rPr>
              <a:t>Thank you</a:t>
            </a:r>
            <a:endParaRPr lang="en-US" sz="5400" dirty="0">
              <a:solidFill>
                <a:schemeClr val="accent3">
                  <a:lumMod val="90000"/>
                </a:schemeClr>
              </a:solidFill>
            </a:endParaRPr>
          </a:p>
        </p:txBody>
      </p:sp>
      <p:sp>
        <p:nvSpPr>
          <p:cNvPr id="5" name="Text 2"/>
          <p:cNvSpPr txBox="1"/>
          <p:nvPr/>
        </p:nvSpPr>
        <p:spPr>
          <a:xfrm>
            <a:off x="731520" y="5120640"/>
            <a:ext cx="5943600" cy="731520"/>
          </a:xfrm>
          <a:prstGeom prst="rect">
            <a:avLst/>
          </a:prstGeom>
          <a:noFill/>
          <a:ln/>
        </p:spPr>
        <p:txBody>
          <a:bodyPr wrap="square" lIns="0" tIns="0" rIns="0" bIns="0" rtlCol="0" anchor="t"/>
          <a:lstStyle/>
          <a:p>
            <a:pPr marL="0" indent="0">
              <a:spcAft>
                <a:spcPts val="400"/>
              </a:spcAft>
              <a:buNone/>
            </a:pPr>
            <a:r>
              <a:rPr lang="en-US" sz="1600" b="1" dirty="0">
                <a:solidFill>
                  <a:schemeClr val="bg1"/>
                </a:solidFill>
              </a:rPr>
              <a:t>Methmika Perera  |  200421803135</a:t>
            </a:r>
            <a:endParaRPr lang="en-US" sz="1600" dirty="0"/>
          </a:p>
          <a:p>
            <a:pPr marL="0" indent="0">
              <a:spcAft>
                <a:spcPts val="400"/>
              </a:spcAft>
              <a:buNone/>
            </a:pPr>
            <a:r>
              <a:rPr lang="en-US" sz="1600" dirty="0">
                <a:solidFill>
                  <a:schemeClr val="bg1"/>
                </a:solidFill>
              </a:rPr>
              <a:t>Handheld Device Programming II</a:t>
            </a:r>
            <a:endParaRPr lang="en-US" sz="1600" dirty="0"/>
          </a:p>
        </p:txBody>
      </p:sp>
      <p:pic>
        <p:nvPicPr>
          <p:cNvPr id="6" name="Phone gears" descr="Gears screen"/>
          <p:cNvPicPr>
            <a:picLocks noChangeAspect="1"/>
          </p:cNvPicPr>
          <p:nvPr/>
        </p:nvPicPr>
        <p:blipFill>
          <a:blip r:embed="rId4"/>
          <a:stretch>
            <a:fillRect/>
          </a:stretch>
        </p:blipFill>
        <p:spPr>
          <a:xfrm>
            <a:off x="7589520" y="777240"/>
            <a:ext cx="2237420" cy="4846320"/>
          </a:xfrm>
          <a:prstGeom prst="rect">
            <a:avLst/>
          </a:prstGeom>
        </p:spPr>
      </p:pic>
      <p:pic>
        <p:nvPicPr>
          <p:cNvPr id="7" name="Phone cart" descr="Cart screen"/>
          <p:cNvPicPr>
            <a:picLocks noChangeAspect="1"/>
          </p:cNvPicPr>
          <p:nvPr/>
        </p:nvPicPr>
        <p:blipFill>
          <a:blip r:embed="rId5"/>
          <a:stretch>
            <a:fillRect/>
          </a:stretch>
        </p:blipFill>
        <p:spPr>
          <a:xfrm>
            <a:off x="9646920" y="1463040"/>
            <a:ext cx="2237420" cy="4846320"/>
          </a:xfrm>
          <a:prstGeom prst="rect">
            <a:avLst/>
          </a:prstGeom>
        </p:spPr>
      </p:pic>
    </p:spTree>
  </p:cSld>
  <p:clrMapOvr>
    <a:masterClrMapping/>
  </p:clrMapOvr>
</p:sld>
</file>

<file path=ppt/theme/theme1.xml><?xml version="1.0" encoding="utf-8"?>
<a:theme xmlns:a="http://schemas.openxmlformats.org/drawingml/2006/main" name="EcoTrekk">
  <a:themeElements>
    <a:clrScheme name="EcoTrekk">
      <a:dk1>
        <a:srgbClr val="11140F"/>
      </a:dk1>
      <a:lt1>
        <a:srgbClr val="FFFFFF"/>
      </a:lt1>
      <a:dk2>
        <a:srgbClr val="1F3A1A"/>
      </a:dk2>
      <a:lt2>
        <a:srgbClr val="EAF4E4"/>
      </a:lt2>
      <a:accent1>
        <a:srgbClr val="416834"/>
      </a:accent1>
      <a:accent2>
        <a:srgbClr val="7DBE68"/>
      </a:accent2>
      <a:accent3>
        <a:srgbClr val="C4EFB0"/>
      </a:accent3>
      <a:accent4>
        <a:srgbClr val="E3A33B"/>
      </a:accent4>
      <a:accent5>
        <a:srgbClr val="5B7F95"/>
      </a:accent5>
      <a:accent6>
        <a:srgbClr val="7C8A78"/>
      </a:accent6>
      <a:hlink>
        <a:srgbClr val="416834"/>
      </a:hlink>
      <a:folHlink>
        <a:srgbClr val="5B7F95"/>
      </a:folHlink>
    </a:clrScheme>
    <a:fontScheme name="EcoTrek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2830</Words>
  <Application>Microsoft Office PowerPoint</Application>
  <PresentationFormat>Widescreen</PresentationFormat>
  <Paragraphs>325</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EcoTrekk</vt:lpstr>
      <vt:lpstr>PowerPoint Presentation</vt:lpstr>
      <vt:lpstr>Problem &amp; Solution</vt:lpstr>
      <vt:lpstr>PowerPoint Presentation</vt:lpstr>
      <vt:lpstr>Customer App</vt:lpstr>
      <vt:lpstr>Process Flow</vt:lpstr>
      <vt:lpstr>UI Designs And Navigation</vt:lpstr>
      <vt:lpstr>Local Storage And Background Sync</vt:lpstr>
      <vt:lpstr>Network, Cloud And Payments</vt:lpstr>
      <vt:lpstr>Maps, Location And Phone Features</vt:lpstr>
      <vt:lpstr>Sensors, Biometrics And Permissions</vt:lpstr>
      <vt:lpstr>Camera For The Profile Photo</vt:lpstr>
      <vt:lpstr>Offline Banner And Double-tap Gesture</vt:lpstr>
      <vt:lpstr>Push Notifications And Multitasking</vt:lpstr>
      <vt:lpstr>Spring Boot Backend And Mysql</vt:lpstr>
      <vt:lpstr>PowerPoint Presentation</vt:lpstr>
      <vt:lpstr>React Admin Dashboard</vt:lpstr>
      <vt:lpstr>Testing And Results</vt:lpstr>
      <vt:lpstr>Limitations And Next Steps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EcoTrekk - Camping Gear Rental Mobile Application</dc:title>
  <dc:subject>HHDP II Project Viva</dc:subject>
  <dc:creator>Methmika Perera</dc:creator>
  <cp:lastModifiedBy>Methmika Perera</cp:lastModifiedBy>
  <cp:revision>2</cp:revision>
  <dcterms:created xsi:type="dcterms:W3CDTF">2026-10-08T15:11:06Z</dcterms:created>
  <dcterms:modified xsi:type="dcterms:W3CDTF">2026-10-14T07:36:26Z</dcterms:modified>
</cp:coreProperties>
</file>